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0"/>
            <a:ext cx="73152" cy="685800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4" name="Shape 2"/>
          <p:cNvSpPr/>
          <p:nvPr/>
        </p:nvSpPr>
        <p:spPr>
          <a:xfrm>
            <a:off x="5376672" y="0"/>
            <a:ext cx="6784848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47472"/>
            <a:ext cx="16459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11556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COREPROMA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536192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Farm</a:t>
            </a:r>
            <a:endParaRPr lang="en-US" sz="4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4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57200" y="400507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Architecture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Governance Framework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5138928"/>
            <a:ext cx="4389120" cy="18288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52852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557784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Power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57200" y="63093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411480"/>
            <a:ext cx="3959352" cy="5943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89420" y="642823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 — Reference Diagram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46304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COREPROMA Solar Farm Platform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493776"/>
            <a:ext cx="1353312" cy="4663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684264"/>
            <a:ext cx="1143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Ethical Power  ·  COREPROMA Solar Farm Platform  ·  Confidential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572768"/>
            <a:ext cx="11247120" cy="27432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78308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COREPROMA's solar farm platform guides project teams from initial client brief through to on-site execution — capturing every technical, regulatory, environmental, and financial input along the way.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309067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integrated modules: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529584"/>
            <a:ext cx="457200" cy="329184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352958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05840" y="354787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Farm Creation Wizard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7200" y="3950208"/>
            <a:ext cx="457200" cy="329184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395020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05840" y="396849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Validation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4370832"/>
            <a:ext cx="457200" cy="329184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3708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05840" y="43891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Stock Calculator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57200" y="4791456"/>
            <a:ext cx="457200" cy="329184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79145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05840" y="48097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Portal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57200" y="5212080"/>
            <a:ext cx="457200" cy="329184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521208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05840" y="52303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&amp; Phases Setup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57200" y="5632704"/>
            <a:ext cx="457200" cy="329184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563270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05840" y="565099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Tasks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6053328"/>
            <a:ext cx="457200" cy="329184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605332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005840" y="60716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492240" y="1783080"/>
            <a:ext cx="5212080" cy="466344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66560" y="19659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COREPROMA's Role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6766560" y="2514600"/>
            <a:ext cx="73152" cy="310896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36" name="Text 33"/>
          <p:cNvSpPr/>
          <p:nvPr/>
        </p:nvSpPr>
        <p:spPr>
          <a:xfrm>
            <a:off x="6967728" y="249631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digital workflow for solar farm delivery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6766560" y="3172968"/>
            <a:ext cx="73152" cy="310896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38" name="Text 35"/>
          <p:cNvSpPr/>
          <p:nvPr/>
        </p:nvSpPr>
        <p:spPr>
          <a:xfrm>
            <a:off x="6967728" y="31546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bill-of-materials and contractor scoping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6766560" y="3831336"/>
            <a:ext cx="73152" cy="310896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40" name="Text 37"/>
          <p:cNvSpPr/>
          <p:nvPr/>
        </p:nvSpPr>
        <p:spPr>
          <a:xfrm>
            <a:off x="6967728" y="381304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procurement marketplace with ESG alignment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6766560" y="4489704"/>
            <a:ext cx="73152" cy="310896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42" name="Text 39"/>
          <p:cNvSpPr/>
          <p:nvPr/>
        </p:nvSpPr>
        <p:spPr>
          <a:xfrm>
            <a:off x="6967728" y="447141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Phase-based project governance with recurring oversight tasks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6766560" y="5148072"/>
            <a:ext cx="73152" cy="310896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44" name="Text 41"/>
          <p:cNvSpPr/>
          <p:nvPr/>
        </p:nvSpPr>
        <p:spPr>
          <a:xfrm>
            <a:off x="6967728" y="51297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reporting for management and investors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41732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01168"/>
            <a:ext cx="804672" cy="100584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"/>
            <a:ext cx="804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828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Farm Creation Wizard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17320" y="91440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Project initiation &amp; data capture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11247120" cy="27432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37360"/>
            <a:ext cx="5303520" cy="20574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4708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step-by-step workflow that collects all inputs required to define a solar farm project — including site dimensions, terrain data (via GEOALT / Google Maps), access road requirements, fencing needs, panel layout, regulatory permits, and financial parameters.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5303520" cy="25146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931920"/>
            <a:ext cx="5303520" cy="38404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502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Value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416552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repeatable onboarding removes costly manual scoping errors. Every project starts from a validated, standardised data baseline — accelerating time-to-quote and reducing rework.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1737360"/>
            <a:ext cx="5303520" cy="146304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81051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492240" y="26517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 captured per project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337560"/>
            <a:ext cx="5303520" cy="315468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4564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3913632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2" name="Text 20"/>
          <p:cNvSpPr/>
          <p:nvPr/>
        </p:nvSpPr>
        <p:spPr>
          <a:xfrm>
            <a:off x="6748272" y="38862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guided data entry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4480560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4" name="Text 22"/>
          <p:cNvSpPr/>
          <p:nvPr/>
        </p:nvSpPr>
        <p:spPr>
          <a:xfrm>
            <a:off x="6748272" y="44531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/ terrain model integration (GEOALT, Google Maps)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5047488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6" name="Text 24"/>
          <p:cNvSpPr/>
          <p:nvPr/>
        </p:nvSpPr>
        <p:spPr>
          <a:xfrm>
            <a:off x="6748272" y="502005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&amp; fencing requirement flags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5614416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8" name="Text 26"/>
          <p:cNvSpPr/>
          <p:nvPr/>
        </p:nvSpPr>
        <p:spPr>
          <a:xfrm>
            <a:off x="6748272" y="55869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layout &amp; pile count estimation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6181344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30" name="Text 28"/>
          <p:cNvSpPr/>
          <p:nvPr/>
        </p:nvSpPr>
        <p:spPr>
          <a:xfrm>
            <a:off x="6748272" y="61539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environmental checklist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41732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01168"/>
            <a:ext cx="804672" cy="100584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"/>
            <a:ext cx="804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828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Validation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17320" y="91440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Feasibility &amp; compliance check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11247120" cy="27432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37360"/>
            <a:ext cx="5303520" cy="20574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4708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wizard output into a formal, validated project record. Runs automated feasibility checks — verifying site suitability, regulatory compliance, budget envelope, and technical specifications — before committing resources.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5303520" cy="25146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931920"/>
            <a:ext cx="5303520" cy="38404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502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Value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416552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 at the source. Feasibility issues caught here cost a fraction of those identified on-site. Investors gain confidence that every project in the pipeline has cleared a documented compliance gate.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1737360"/>
            <a:ext cx="5303520" cy="146304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81051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492240" y="26517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checks automated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337560"/>
            <a:ext cx="5303520" cy="315468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4564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3913632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2" name="Text 20"/>
          <p:cNvSpPr/>
          <p:nvPr/>
        </p:nvSpPr>
        <p:spPr>
          <a:xfrm>
            <a:off x="6748272" y="38862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feasibility scoring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4480560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4" name="Text 22"/>
          <p:cNvSpPr/>
          <p:nvPr/>
        </p:nvSpPr>
        <p:spPr>
          <a:xfrm>
            <a:off x="6748272" y="44531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verification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5047488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6" name="Text 24"/>
          <p:cNvSpPr/>
          <p:nvPr/>
        </p:nvSpPr>
        <p:spPr>
          <a:xfrm>
            <a:off x="6748272" y="502005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envelope validation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5614416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8" name="Text 26"/>
          <p:cNvSpPr/>
          <p:nvPr/>
        </p:nvSpPr>
        <p:spPr>
          <a:xfrm>
            <a:off x="6748272" y="55869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specification sign-off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6181344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30" name="Text 28"/>
          <p:cNvSpPr/>
          <p:nvPr/>
        </p:nvSpPr>
        <p:spPr>
          <a:xfrm>
            <a:off x="6748272" y="61539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project record creation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46304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— Risk Register &amp; Provisions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Risk identification &amp; cost quantification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493776"/>
            <a:ext cx="1353312" cy="4663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684264"/>
            <a:ext cx="1143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Ethical Power  ·  COREPROMA Solar Farm Platform  ·  Confidential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572768"/>
            <a:ext cx="11247120" cy="27432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719072"/>
            <a:ext cx="1097280" cy="1097280"/>
          </a:xfrm>
          <a:prstGeom prst="rect">
            <a:avLst/>
          </a:prstGeom>
          <a:solidFill>
            <a:srgbClr val="A01C1C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9019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57200" y="2377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2944368"/>
            <a:ext cx="1097280" cy="822960"/>
          </a:xfrm>
          <a:prstGeom prst="rect">
            <a:avLst/>
          </a:prstGeom>
          <a:solidFill>
            <a:srgbClr val="FDF0F0"/>
          </a:solidFill>
          <a:ln w="12700">
            <a:solidFill>
              <a:srgbClr val="A01C1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99923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0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57200" y="34381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7200" y="3895344"/>
            <a:ext cx="1097280" cy="822960"/>
          </a:xfrm>
          <a:prstGeom prst="rect">
            <a:avLst/>
          </a:prstGeom>
          <a:solidFill>
            <a:srgbClr val="FDF0F0"/>
          </a:solidFill>
          <a:ln w="12700">
            <a:solidFill>
              <a:srgbClr val="A01C1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9319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0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57200" y="4370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719072" y="171907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risk register populated immediately after Project Validation (B2), before the BoM is calculated (B3). Each identified risk is captured with full context and a named £ cost provision — so nothing is hidden in a catch-all contingency percentage.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719072" y="2633472"/>
            <a:ext cx="4754880" cy="347472"/>
          </a:xfrm>
          <a:prstGeom prst="rect">
            <a:avLst/>
          </a:prstGeom>
          <a:solidFill>
            <a:srgbClr val="A01C1C"/>
          </a:solidFill>
          <a:ln/>
        </p:spPr>
      </p:sp>
      <p:sp>
        <p:nvSpPr>
          <p:cNvPr id="21" name="Text 18"/>
          <p:cNvSpPr/>
          <p:nvPr/>
        </p:nvSpPr>
        <p:spPr>
          <a:xfrm>
            <a:off x="1719072" y="26517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CAPTURED PER RISK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719072" y="2999232"/>
            <a:ext cx="4754880" cy="384048"/>
          </a:xfrm>
          <a:prstGeom prst="rect">
            <a:avLst/>
          </a:prstGeom>
          <a:solidFill>
            <a:srgbClr val="F4F6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792224" y="30175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Risk type &amp; category (8 categories)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719072" y="3419856"/>
            <a:ext cx="4754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792224" y="343814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Status: Known Risk / Potential Risk / Information Gap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1719072" y="3840480"/>
            <a:ext cx="4754880" cy="384048"/>
          </a:xfrm>
          <a:prstGeom prst="rect">
            <a:avLst/>
          </a:prstGeom>
          <a:solidFill>
            <a:srgbClr val="F4F6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792224" y="38587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Likelihood: High / Medium / Low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1719072" y="4261104"/>
            <a:ext cx="4754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92224" y="42793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Named £ cost provision (not a % contingency)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719072" y="4681728"/>
            <a:ext cx="4754880" cy="384048"/>
          </a:xfrm>
          <a:prstGeom prst="rect">
            <a:avLst/>
          </a:prstGeom>
          <a:solidFill>
            <a:srgbClr val="F4F6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792224" y="470001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Basis of estimate (survey, benchmark, assumption)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1719072" y="5102352"/>
            <a:ext cx="4754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792224" y="51206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Mitigation action &amp; responsible owner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1719072" y="5522976"/>
            <a:ext cx="4754880" cy="384048"/>
          </a:xfrm>
          <a:prstGeom prst="rect">
            <a:avLst/>
          </a:prstGeom>
          <a:solidFill>
            <a:srgbClr val="F4F6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792224" y="55412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Resolution stage (at what point risk closes)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675120" y="2633472"/>
            <a:ext cx="5029200" cy="347472"/>
          </a:xfrm>
          <a:prstGeom prst="rect">
            <a:avLst/>
          </a:prstGeom>
          <a:solidFill>
            <a:srgbClr val="A01C1C"/>
          </a:solidFill>
          <a:ln/>
        </p:spPr>
      </p:sp>
      <p:sp>
        <p:nvSpPr>
          <p:cNvPr id="37" name="Text 34"/>
          <p:cNvSpPr/>
          <p:nvPr/>
        </p:nvSpPr>
        <p:spPr>
          <a:xfrm>
            <a:off x="6675120" y="26517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CATEGORIES (8)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675120" y="2999232"/>
            <a:ext cx="5029200" cy="384048"/>
          </a:xfrm>
          <a:prstGeom prst="rect">
            <a:avLst/>
          </a:prstGeom>
          <a:solidFill>
            <a:srgbClr val="F4F6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748272" y="301752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Ground conditions &amp; geotechnical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675120" y="3419856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748272" y="343814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Information gaps (pending surveys)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675120" y="3840480"/>
            <a:ext cx="5029200" cy="384048"/>
          </a:xfrm>
          <a:prstGeom prst="rect">
            <a:avLst/>
          </a:prstGeom>
          <a:solidFill>
            <a:srgbClr val="F4F6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748272" y="385876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Grid connection &amp; DNO requirements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6675120" y="4261104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748272" y="427939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Planning &amp; permitting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6675120" y="4681728"/>
            <a:ext cx="5029200" cy="384048"/>
          </a:xfrm>
          <a:prstGeom prst="rect">
            <a:avLst/>
          </a:prstGeom>
          <a:solidFill>
            <a:srgbClr val="F4F6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748272" y="470001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Environmental &amp; ecology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6675120" y="5102352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748272" y="51206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Access, logistics &amp; site constraints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6675120" y="5522976"/>
            <a:ext cx="5029200" cy="384048"/>
          </a:xfrm>
          <a:prstGeom prst="rect">
            <a:avLst/>
          </a:prstGeom>
          <a:solidFill>
            <a:srgbClr val="F4F6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748272" y="554126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Commercial &amp; contractual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6675120" y="5943600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748272" y="596188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Force majeure &amp; unforeseen events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1719072" y="6400800"/>
            <a:ext cx="9985248" cy="347472"/>
          </a:xfrm>
          <a:prstGeom prst="rect">
            <a:avLst/>
          </a:prstGeom>
          <a:solidFill>
            <a:srgbClr val="FDF0F0"/>
          </a:solidFill>
          <a:ln w="12700">
            <a:solidFill>
              <a:srgbClr val="A01C1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792224" y="6419088"/>
            <a:ext cx="9838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value:  Itemised risk pricing eliminates hidden contingencies. Each risk appears as a named budget line in the tender — clients see exactly what is priced and why. Provisions feed directly into B3. Reduces mid-project disputes.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41732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01168"/>
            <a:ext cx="804672" cy="100584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"/>
            <a:ext cx="804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828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Stock Calculator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17320" y="91440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Materials &amp; third-party requirements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11247120" cy="27432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37360"/>
            <a:ext cx="5303520" cy="20574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4708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generates a full bill-of-materials from the validated project record — solar panels, piles, cabling, inverters, mounting structures, and all ancillary materials. Also identifies third-party contractor requirements and logistics needs.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5303520" cy="25146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931920"/>
            <a:ext cx="5303520" cy="38404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502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Value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416552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transparency from day one. Accurate BoM generation eliminates under-ordering and emergency procurement. Investors see a credible, data-driven cost model before any capital is committed.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1737360"/>
            <a:ext cx="5303520" cy="146304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81051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492240" y="26517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line items generated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337560"/>
            <a:ext cx="5303520" cy="315468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4564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3913632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2" name="Text 20"/>
          <p:cNvSpPr/>
          <p:nvPr/>
        </p:nvSpPr>
        <p:spPr>
          <a:xfrm>
            <a:off x="6748272" y="38862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bill-of-materials generation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4480560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4" name="Text 22"/>
          <p:cNvSpPr/>
          <p:nvPr/>
        </p:nvSpPr>
        <p:spPr>
          <a:xfrm>
            <a:off x="6748272" y="44531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Pile &amp; panel count calculation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5047488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6" name="Text 24"/>
          <p:cNvSpPr/>
          <p:nvPr/>
        </p:nvSpPr>
        <p:spPr>
          <a:xfrm>
            <a:off x="6748272" y="502005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Cabling &amp; inverter sizing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5614416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8" name="Text 26"/>
          <p:cNvSpPr/>
          <p:nvPr/>
        </p:nvSpPr>
        <p:spPr>
          <a:xfrm>
            <a:off x="6748272" y="55869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scope identification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6181344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30" name="Text 28"/>
          <p:cNvSpPr/>
          <p:nvPr/>
        </p:nvSpPr>
        <p:spPr>
          <a:xfrm>
            <a:off x="6748272" y="61539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delivery planning inputs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41732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01168"/>
            <a:ext cx="804672" cy="100584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"/>
            <a:ext cx="804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828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Portal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17320" y="91440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Procurement marketplace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11247120" cy="27432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37360"/>
            <a:ext cx="5303520" cy="20574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4708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digital marketplace where pre-qualified suppliers and contractors submit competitive offers against the project BoM. Procurement teams validate bids, compare on price, lead time, and ESG credentials, and award contracts — all within the platform.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5303520" cy="25146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931920"/>
            <a:ext cx="5303520" cy="38404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502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Value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416552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 through competitive tendering, with built-in ESG alignment scoring. Full audit trail of procurement decisions supports governance reporting and investor due diligence.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1737360"/>
            <a:ext cx="5303520" cy="146304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81051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492240" y="26517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categories onboarded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337560"/>
            <a:ext cx="5303520" cy="315468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4564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3913632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2" name="Text 20"/>
          <p:cNvSpPr/>
          <p:nvPr/>
        </p:nvSpPr>
        <p:spPr>
          <a:xfrm>
            <a:off x="6748272" y="38862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Pre-qualified supplier network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4480560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4" name="Text 22"/>
          <p:cNvSpPr/>
          <p:nvPr/>
        </p:nvSpPr>
        <p:spPr>
          <a:xfrm>
            <a:off x="6748272" y="44531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bid submission &amp; comparison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5047488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6" name="Text 24"/>
          <p:cNvSpPr/>
          <p:nvPr/>
        </p:nvSpPr>
        <p:spPr>
          <a:xfrm>
            <a:off x="6748272" y="502005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credential scoring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5614416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8" name="Text 26"/>
          <p:cNvSpPr/>
          <p:nvPr/>
        </p:nvSpPr>
        <p:spPr>
          <a:xfrm>
            <a:off x="6748272" y="55869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award workflow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6181344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30" name="Text 28"/>
          <p:cNvSpPr/>
          <p:nvPr/>
        </p:nvSpPr>
        <p:spPr>
          <a:xfrm>
            <a:off x="6748272" y="61539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procurement audit trail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41732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01168"/>
            <a:ext cx="804672" cy="100584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"/>
            <a:ext cx="804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828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&amp; Phases Setup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17320" y="91440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Execution planning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11247120" cy="27432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37360"/>
            <a:ext cx="5303520" cy="20574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4708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the validated project and awarded contracts into a phased execution plan. Defines milestones, tasks, resource assignments, and dependencies — providing the project management backbone for on-site delivery.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5303520" cy="25146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931920"/>
            <a:ext cx="5303520" cy="38404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502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Value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416552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and reliability. A structured phase plan with clear ownership reduces delivery risk and gives investors a milestone-based view of progress and capital deployment.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1737360"/>
            <a:ext cx="5303520" cy="146304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81051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492240" y="26517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phases defined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337560"/>
            <a:ext cx="5303520" cy="315468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4564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3913632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2" name="Text 20"/>
          <p:cNvSpPr/>
          <p:nvPr/>
        </p:nvSpPr>
        <p:spPr>
          <a:xfrm>
            <a:off x="6748272" y="38862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milestone definition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4480560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4" name="Text 22"/>
          <p:cNvSpPr/>
          <p:nvPr/>
        </p:nvSpPr>
        <p:spPr>
          <a:xfrm>
            <a:off x="6748272" y="44531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&amp; dependency mapping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5047488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6" name="Text 24"/>
          <p:cNvSpPr/>
          <p:nvPr/>
        </p:nvSpPr>
        <p:spPr>
          <a:xfrm>
            <a:off x="6748272" y="502005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&amp; contractor assignment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5614416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8" name="Text 26"/>
          <p:cNvSpPr/>
          <p:nvPr/>
        </p:nvSpPr>
        <p:spPr>
          <a:xfrm>
            <a:off x="6748272" y="55869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Supplier Portal (B4)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6181344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30" name="Text 28"/>
          <p:cNvSpPr/>
          <p:nvPr/>
        </p:nvSpPr>
        <p:spPr>
          <a:xfrm>
            <a:off x="6748272" y="61539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Governance Tasks (B6) &amp; Reports (B7)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41732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01168"/>
            <a:ext cx="804672" cy="100584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"/>
            <a:ext cx="804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828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Tasks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17320" y="91440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Operational discipline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11247120" cy="27432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37360"/>
            <a:ext cx="5303520" cy="20574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4708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recurring operational responsibilities throughout project execution — including daily stock level updates, contractor on-site presence verification, equipment delivery confirmations, and safety &amp; compliance checks.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5303520" cy="25146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931920"/>
            <a:ext cx="5303520" cy="38404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502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Value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416552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and accountability. Recurring governance tasks ensure no operational obligation is missed. Investors benefit from a documented, auditable record of on-site management throughout the project lifecycle.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1737360"/>
            <a:ext cx="5303520" cy="146304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81051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492240" y="26517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task categories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337560"/>
            <a:ext cx="5303520" cy="315468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4564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3913632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2" name="Text 20"/>
          <p:cNvSpPr/>
          <p:nvPr/>
        </p:nvSpPr>
        <p:spPr>
          <a:xfrm>
            <a:off x="6748272" y="38862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stock level monitoring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4480560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4" name="Text 22"/>
          <p:cNvSpPr/>
          <p:nvPr/>
        </p:nvSpPr>
        <p:spPr>
          <a:xfrm>
            <a:off x="6748272" y="44531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presence verification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5047488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6" name="Text 24"/>
          <p:cNvSpPr/>
          <p:nvPr/>
        </p:nvSpPr>
        <p:spPr>
          <a:xfrm>
            <a:off x="6748272" y="502005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delivery confirmation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5614416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8" name="Text 26"/>
          <p:cNvSpPr/>
          <p:nvPr/>
        </p:nvSpPr>
        <p:spPr>
          <a:xfrm>
            <a:off x="6748272" y="55869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compliance check-ins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6181344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30" name="Text 28"/>
          <p:cNvSpPr/>
          <p:nvPr/>
        </p:nvSpPr>
        <p:spPr>
          <a:xfrm>
            <a:off x="6748272" y="61539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task assignment &amp; escalation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41732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01168"/>
            <a:ext cx="804672" cy="100584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"/>
            <a:ext cx="804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828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17320" y="91440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Management insights &amp; transparency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11247120" cy="27432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37360"/>
            <a:ext cx="5303520" cy="20574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4708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weekly and monthly management reports covering project progress, procurement status, budget vs. actual, risk register updates, and governance task completion. Distributable to internal teams, clients, and investors.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5303520" cy="25146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931920"/>
            <a:ext cx="5303520" cy="38404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502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Value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416552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as a differentiator. Timely, accurate reporting builds stakeholder trust and supports investment committee reviews. Real-time dashboards reduce information asymmetry between the field and the boardroom.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1737360"/>
            <a:ext cx="5303520" cy="146304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81051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492240" y="26517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types available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337560"/>
            <a:ext cx="5303520" cy="315468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4564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3913632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2" name="Text 20"/>
          <p:cNvSpPr/>
          <p:nvPr/>
        </p:nvSpPr>
        <p:spPr>
          <a:xfrm>
            <a:off x="6748272" y="38862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reports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4480560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4" name="Text 22"/>
          <p:cNvSpPr/>
          <p:nvPr/>
        </p:nvSpPr>
        <p:spPr>
          <a:xfrm>
            <a:off x="6748272" y="44531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budget tracking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5047488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6" name="Text 24"/>
          <p:cNvSpPr/>
          <p:nvPr/>
        </p:nvSpPr>
        <p:spPr>
          <a:xfrm>
            <a:off x="6748272" y="502005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updates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5614416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8" name="Text 26"/>
          <p:cNvSpPr/>
          <p:nvPr/>
        </p:nvSpPr>
        <p:spPr>
          <a:xfrm>
            <a:off x="6748272" y="55869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task completion rates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6181344"/>
            <a:ext cx="64008" cy="274320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30" name="Text 28"/>
          <p:cNvSpPr/>
          <p:nvPr/>
        </p:nvSpPr>
        <p:spPr>
          <a:xfrm>
            <a:off x="6748272" y="61539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Investor-ready monthly summaries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46304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Summary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module connections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493776"/>
            <a:ext cx="1353312" cy="4663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684264"/>
            <a:ext cx="1143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Ethical Power  ·  COREPROMA Solar Farm Platform  ·  Confidential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572768"/>
            <a:ext cx="11247120" cy="27432"/>
          </a:xfrm>
          <a:prstGeom prst="rect">
            <a:avLst/>
          </a:prstGeom>
          <a:solidFill>
            <a:srgbClr val="C9A44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3291840" cy="49352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160520" y="1719072"/>
            <a:ext cx="758952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160520" y="1719072"/>
            <a:ext cx="7589520" cy="347472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3" name="Text 9"/>
          <p:cNvSpPr/>
          <p:nvPr/>
        </p:nvSpPr>
        <p:spPr>
          <a:xfrm>
            <a:off x="4315968" y="17556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Main Flow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315968" y="212140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→ B2 → B2b → B3 → B5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315968" y="2468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→ Validation → Risk Register → BoM → Execution Planning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160520" y="2953512"/>
            <a:ext cx="758952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160520" y="2953512"/>
            <a:ext cx="7589520" cy="347472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18" name="Text 14"/>
          <p:cNvSpPr/>
          <p:nvPr/>
        </p:nvSpPr>
        <p:spPr>
          <a:xfrm>
            <a:off x="4315968" y="299008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Procurement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315968" y="335584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→ B4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315968" y="37033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setup drives Supplier Portal procurement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160520" y="4187952"/>
            <a:ext cx="758952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160520" y="4187952"/>
            <a:ext cx="7589520" cy="347472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3" name="Text 19"/>
          <p:cNvSpPr/>
          <p:nvPr/>
        </p:nvSpPr>
        <p:spPr>
          <a:xfrm>
            <a:off x="4315968" y="42245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Governance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315968" y="459028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↔ B6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4315968" y="49377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Bidirectional: ongoing governance tasks feed back into phases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160520" y="5422392"/>
            <a:ext cx="758952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160520" y="5422392"/>
            <a:ext cx="7589520" cy="347472"/>
          </a:xfrm>
          <a:prstGeom prst="rect">
            <a:avLst/>
          </a:prstGeom>
          <a:solidFill>
            <a:srgbClr val="28763B"/>
          </a:solidFill>
          <a:ln/>
        </p:spPr>
      </p:sp>
      <p:sp>
        <p:nvSpPr>
          <p:cNvPr id="28" name="Text 24"/>
          <p:cNvSpPr/>
          <p:nvPr/>
        </p:nvSpPr>
        <p:spPr>
          <a:xfrm>
            <a:off x="4315968" y="54589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Reporting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315968" y="58247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7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+ B6 → B7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4315968" y="61722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Portal &amp; Governance Tasks both feed Reports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160520" y="64922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operate within a single unified platform — data flows automatically between stages, eliminating manual hand-offs.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46304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COREPROMA Brand Guidelines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· Typography · Layout · Iconography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493776"/>
            <a:ext cx="1353312" cy="4663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684264"/>
            <a:ext cx="1143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Ethical Power  ·  COREPROMA Solar Farm Platform  ·  Confidential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572768"/>
            <a:ext cx="11247120" cy="27432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783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240280"/>
            <a:ext cx="2011680" cy="822960"/>
          </a:xfrm>
          <a:prstGeom prst="rect">
            <a:avLst/>
          </a:prstGeom>
          <a:solidFill>
            <a:srgbClr val="1A2E5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2677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#1A2E5A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COREPROMA Blue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06624" y="2240280"/>
            <a:ext cx="2011680" cy="822960"/>
          </a:xfrm>
          <a:prstGeom prst="rect">
            <a:avLst/>
          </a:prstGeom>
          <a:solidFill>
            <a:srgbClr val="C9A44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06624" y="22677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#C9A44A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706624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COREPROMA Gold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956048" y="2240280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56048" y="22677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956048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205472" y="2240280"/>
            <a:ext cx="2011680" cy="8229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05472" y="22677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#F4F6FA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205472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Blue-Grey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454896" y="2240280"/>
            <a:ext cx="2011680" cy="822960"/>
          </a:xfrm>
          <a:prstGeom prst="rect">
            <a:avLst/>
          </a:prstGeom>
          <a:solidFill>
            <a:srgbClr val="0F1F3D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54896" y="22677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#0F1F3D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454896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Navy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3657600"/>
            <a:ext cx="11247120" cy="27432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3794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57200" y="425196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1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011680" y="425196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Farm Project Workflow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57200" y="477316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2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011680" y="477316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Title — B1 Wizard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57200" y="52943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011680" y="5294376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 and feature details.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57200" y="581558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2011680" y="581558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reference · Footnote · Metadata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57200" y="6309360"/>
            <a:ext cx="11247120" cy="27432"/>
          </a:xfrm>
          <a:prstGeom prst="rect">
            <a:avLst/>
          </a:prstGeom>
          <a:solidFill>
            <a:srgbClr val="C9A44A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640080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0.5" minimum slide margins   · 0.3–0.5" spacing between content blocks   · Left-align body text; center titles only   · No gradients · No heavy shadows · No accent stripes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2026-07-31T18:49:27Z</dcterms:created>
  <dcterms:modified xsi:type="dcterms:W3CDTF">2026-07-31T18:49:27Z</dcterms:modified>
</cp:coreProperties>
</file>