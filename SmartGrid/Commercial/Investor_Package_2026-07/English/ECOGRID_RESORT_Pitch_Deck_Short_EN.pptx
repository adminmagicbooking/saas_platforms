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 trajectory (€M)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(€M)</c:v>
                </c:pt>
              </c:strCache>
            </c:strRef>
          </c:tx>
          <c:spPr>
            <a:solidFill>
              <a:srgbClr val="2E8B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4.56</c:v>
                </c:pt>
                <c:pt idx="1">
                  <c:v>12.22</c:v>
                </c:pt>
                <c:pt idx="2">
                  <c:v>24.54</c:v>
                </c:pt>
                <c:pt idx="3">
                  <c:v>46.14</c:v>
                </c:pt>
                <c:pt idx="4">
                  <c:v>77.14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A4A"/>
              </a:solidFill>
              <a:effectLst/>
            </c:spPr>
          </c:dPt>
          <c:dPt>
            <c:idx val="1"/>
            <c:bubble3D val="0"/>
            <c:spPr>
              <a:solidFill>
                <a:srgbClr val="163B5B"/>
              </a:solidFill>
              <a:effectLst/>
            </c:spPr>
          </c:dPt>
          <c:dPt>
            <c:idx val="2"/>
            <c:bubble3D val="0"/>
            <c:spPr>
              <a:solidFill>
                <a:srgbClr val="1B6E82"/>
              </a:solidFill>
              <a:effectLst/>
            </c:spPr>
          </c:dPt>
          <c:dPt>
            <c:idx val="3"/>
            <c:bubble3D val="0"/>
            <c:spPr>
              <a:solidFill>
                <a:srgbClr val="2E8B45"/>
              </a:solidFill>
              <a:effectLst/>
            </c:spPr>
          </c:dPt>
          <c:dPt>
            <c:idx val="4"/>
            <c:bubble3D val="0"/>
            <c:spPr>
              <a:solidFill>
                <a:srgbClr val="8CE0A8"/>
              </a:solidFill>
              <a:effectLst/>
            </c:spPr>
          </c:dPt>
          <c:dPt>
            <c:idx val="5"/>
            <c:bubble3D val="0"/>
            <c:spPr>
              <a:solidFill>
                <a:srgbClr val="F2B70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Software dev 30%</c:v>
                </c:pt>
                <c:pt idx="1">
                  <c:v>Recruitment 25%</c:v>
                </c:pt>
                <c:pt idx="2">
                  <c:v>Commercial dev 20%</c:v>
                </c:pt>
                <c:pt idx="3">
                  <c:v>Working capital 15%</c:v>
                </c:pt>
                <c:pt idx="4">
                  <c:v>IT infra 5%</c:v>
                </c:pt>
                <c:pt idx="5">
                  <c:v>Comms &amp; marketing 5%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7315200" cy="7315200"/>
          </a:xfrm>
          <a:prstGeom prst="ellipse">
            <a:avLst/>
          </a:prstGeom>
          <a:solidFill>
            <a:srgbClr val="1B6E82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9202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ctr" indent="0" marL="0">
              <a:buNone/>
            </a:pPr>
            <a:r>
              <a:rPr lang="en-US" sz="5400" b="1" dirty="0">
                <a:solidFill>
                  <a:srgbClr val="8C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26974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DC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4F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Smart Grid designed for campsites and holiday resorts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2062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TEASER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ENR   –   July 2026   – 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ACT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5F7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1920240"/>
            <a:ext cx="548640" cy="548640"/>
          </a:xfrm>
          <a:prstGeom prst="ellipse">
            <a:avLst/>
          </a:prstGeom>
          <a:solidFill>
            <a:srgbClr val="163B5B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costs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bills are rising sharply across Europe.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5F7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920240"/>
            <a:ext cx="548640" cy="548640"/>
          </a:xfrm>
          <a:prstGeom prst="ellipse">
            <a:avLst/>
          </a:prstGeom>
          <a:solidFill>
            <a:srgbClr val="163B5B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growth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971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growth of EV charging infrastructure on-site.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5F7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60920" y="1920240"/>
            <a:ext cx="548640" cy="548640"/>
          </a:xfrm>
          <a:prstGeom prst="ellipse">
            <a:avLst/>
          </a:prstGeom>
          <a:solidFill>
            <a:srgbClr val="163B5B"/>
          </a:solidFill>
          <a:ln/>
        </p:spPr>
      </p:sp>
      <p:sp>
        <p:nvSpPr>
          <p:cNvPr id="16" name="Text 14"/>
          <p:cNvSpPr/>
          <p:nvPr/>
        </p:nvSpPr>
        <p:spPr>
          <a:xfrm>
            <a:off x="73609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usage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971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Pools, restaurants and accommodation drive heavy consumption.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16459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5F7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241280" y="1920240"/>
            <a:ext cx="548640" cy="548640"/>
          </a:xfrm>
          <a:prstGeom prst="ellipse">
            <a:avLst/>
          </a:prstGeom>
          <a:solidFill>
            <a:srgbClr val="163B5B"/>
          </a:solidFill>
          <a:ln/>
        </p:spPr>
      </p:sp>
      <p:sp>
        <p:nvSpPr>
          <p:cNvPr id="21" name="Text 19"/>
          <p:cNvSpPr/>
          <p:nvPr/>
        </p:nvSpPr>
        <p:spPr>
          <a:xfrm>
            <a:off x="102412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2688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0" y="2971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 environmental and regulatory constraints.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multiplication of energy equipment that's hard to orchestrate — all working in silos.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— ECOGRID RESORT™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turnkey solution that turns any establishment into an intelligent energy micro-grid.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8F4EA"/>
          </a:solidFill>
          <a:ln w="12700">
            <a:solidFill>
              <a:srgbClr val="CFE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67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76148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Rooftop &amp; carport solar PV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21031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8F4EA"/>
          </a:solidFill>
          <a:ln w="12700">
            <a:solidFill>
              <a:srgbClr val="CFE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267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276148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Batteries, weather &amp; priority-aware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21031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8F4EA"/>
          </a:solidFill>
          <a:ln w="12700">
            <a:solidFill>
              <a:srgbClr val="CFE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267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 intelligently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76148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Pools, pumps, HVAC, EV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89720" y="21031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8F4EA"/>
          </a:solidFill>
          <a:ln w="12700">
            <a:solidFill>
              <a:srgbClr val="CFE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0" y="2267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6880" y="276148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Algorithms, predictive maintenance, ESG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1064240" cy="77724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605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supervision &amp; optimization — </a:t>
            </a:r>
            <a:pPr algn="ctr" indent="0" marL="0">
              <a:buNone/>
            </a:pPr>
            <a:r>
              <a:rPr lang="en-US" sz="1700" b="1" dirty="0">
                <a:solidFill>
                  <a:srgbClr val="8C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OS™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software platform · Open, multi-vendor architecture (Huawei, SMA, Sungrow, SolarEdge, Schneider, ABB and more).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1206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Campsites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8,100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Italy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2,300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 (total)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22,800–23,200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554480"/>
            <a:ext cx="4754880" cy="4754880"/>
          </a:xfrm>
          <a:prstGeom prst="ellipse">
            <a:avLst/>
          </a:prstGeom>
          <a:solidFill>
            <a:srgbClr val="E8F4EA"/>
          </a:solidFill>
          <a:ln w="25400">
            <a:solidFill>
              <a:srgbClr val="2E8B4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75120" y="3108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2031 target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75120" y="3429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535 sites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675120" y="4069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2.3% of the European market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 is the leading European market. No vertical leader is currently dedicated to outdoor hospitality.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Revenue Engines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5F7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&amp; Smart Grid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€300,000 excl. VAT / site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gross margin target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5F7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828800"/>
            <a:ext cx="502920" cy="50292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2468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OS™ (SaaS)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€3,000 excl. VAT / site / year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3611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High-margin recurring revenue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6002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5F7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1828800"/>
            <a:ext cx="502920" cy="50292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66760" y="2468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Maintenance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676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€1,000 excl. VAT / site / year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66760" y="3611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&amp; loyalty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recurring revenue: €4,000 / site / year (software + maintenance).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Camping Riva Bella &amp; Revenue Trajectory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Riva Bella — official technical &amp; commercial demonstrator (2027)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8424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587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17520" y="187452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198424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€80,000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017520" y="2587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energy spend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0" y="187452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0" y="198424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€250,000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0" y="2587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Grid budget</a:t>
            </a:r>
            <a:endParaRPr lang="en-US" sz="10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7635240" y="1691640"/>
          <a:ext cx="3977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54864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€4.56M (2027) to €77.14M (2031) across 535 connected sites.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Offer — Seven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single point of contact, from study to operation.”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38943" y="2761488"/>
            <a:ext cx="9483634" cy="0"/>
          </a:xfrm>
          <a:prstGeom prst="line">
            <a:avLst/>
          </a:prstGeom>
          <a:noFill/>
          <a:ln w="38100">
            <a:solidFill>
              <a:srgbClr val="E8F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4895" y="2377440"/>
            <a:ext cx="768096" cy="768096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76200" dist="25400" dir="5400000">
              <a:srgbClr val="2E8B45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54895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3291840"/>
            <a:ext cx="148916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audit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35501" y="2377440"/>
            <a:ext cx="768096" cy="768096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76200" dist="25400" dir="5400000">
              <a:srgbClr val="2E8B45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35501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74966" y="3291840"/>
            <a:ext cx="148916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studies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6106" y="2377440"/>
            <a:ext cx="768096" cy="768096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76200" dist="25400" dir="5400000">
              <a:srgbClr val="2E8B45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6106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55571" y="3291840"/>
            <a:ext cx="148916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execution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96712" y="2377440"/>
            <a:ext cx="768096" cy="768096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76200" dist="25400" dir="5400000">
              <a:srgbClr val="2E8B45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96712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36177" y="3291840"/>
            <a:ext cx="148916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77318" y="2377440"/>
            <a:ext cx="768096" cy="768096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76200" dist="25400" dir="5400000">
              <a:srgbClr val="2E8B45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77318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16783" y="3291840"/>
            <a:ext cx="148916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OS™ supervision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57923" y="2377440"/>
            <a:ext cx="768096" cy="768096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76200" dist="25400" dir="5400000">
              <a:srgbClr val="2E8B45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857923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97389" y="3291840"/>
            <a:ext cx="148916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Preventive maintenance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438529" y="2377440"/>
            <a:ext cx="768096" cy="768096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76200" dist="25400" dir="5400000">
              <a:srgbClr val="2E8B45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438529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077994" y="3291840"/>
            <a:ext cx="148916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optimization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Ask &amp; Use of Funds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550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Seed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0391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931920" y="165506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€2–3M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70662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Acceleration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0906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2028–2029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31920" y="270662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€5–8M (indicative)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75818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Expansion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142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2030–2031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931920" y="375818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being studied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1508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Use-of-funds allocation</a:t>
            </a:r>
            <a:endParaRPr lang="en-US" sz="14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949440" y="1874520"/>
          <a:ext cx="46634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intended to cover operating losses — designed to accelerate reaching critical scale.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2031 INDICATORS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12395E"/>
          </a:solidFill>
          <a:ln w="12700">
            <a:solidFill>
              <a:srgbClr val="2A4E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830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C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535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sites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4630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12395E"/>
          </a:solidFill>
          <a:ln w="12700">
            <a:solidFill>
              <a:srgbClr val="2A4E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17830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C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€77.14M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343400" y="2697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12395E"/>
          </a:solidFill>
          <a:ln w="12700">
            <a:solidFill>
              <a:srgbClr val="2A4E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7830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C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€2.14M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38160" y="2697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12395E"/>
          </a:solidFill>
          <a:ln w="12700">
            <a:solidFill>
              <a:srgbClr val="2A4E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C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€27.75M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48640" y="5029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37947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12395E"/>
          </a:solidFill>
          <a:ln w="12700">
            <a:solidFill>
              <a:srgbClr val="2A4E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C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343400" y="5029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37947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12395E"/>
          </a:solidFill>
          <a:ln w="12700">
            <a:solidFill>
              <a:srgbClr val="2A4E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C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≈2.3%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138160" y="5029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market share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286000"/>
            <a:ext cx="7315200" cy="7315200"/>
          </a:xfrm>
          <a:prstGeom prst="ellipse">
            <a:avLst/>
          </a:prstGeom>
          <a:solidFill>
            <a:srgbClr val="1B6E82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4630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ctr" indent="0" marL="0">
              <a:buNone/>
            </a:pPr>
            <a:r>
              <a:rPr lang="en-US" sz="4400" b="1" dirty="0">
                <a:solidFill>
                  <a:srgbClr val="8C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14884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400" kern="0" dirty="0">
                <a:solidFill>
                  <a:srgbClr val="DC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28346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4F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the European reference for Smart Grids in outdoor hospitality.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4023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Tel: 04 84 80 22 22     Email: contact@ecogrid-resort.com     Web: www.ecogrid-resort.com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88636" y="466344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2E8B45"/>
          </a:solidFill>
          <a:ln/>
        </p:spPr>
      </p:sp>
      <p:sp>
        <p:nvSpPr>
          <p:cNvPr id="8" name="Text 6"/>
          <p:cNvSpPr/>
          <p:nvPr/>
        </p:nvSpPr>
        <p:spPr>
          <a:xfrm>
            <a:off x="5088636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ENR — RGE-certified renewable energy company, France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ECOGRID RESORT - Investor Teaser</dc:title>
  <dc:subject>PptxGenJS Presentation</dc:subject>
  <dc:creator>Performance ENR</dc:creator>
  <cp:lastModifiedBy>Performance ENR</cp:lastModifiedBy>
  <cp:revision>1</cp:revision>
  <dcterms:created xsi:type="dcterms:W3CDTF">2026-07-05T09:31:40Z</dcterms:created>
  <dcterms:modified xsi:type="dcterms:W3CDTF">2026-07-05T09:31:40Z</dcterms:modified>
</cp:coreProperties>
</file>