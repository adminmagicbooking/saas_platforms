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Cumulative connected sites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sites</c:v>
                </c:pt>
              </c:strCache>
            </c:strRef>
          </c:tx>
          <c:spPr>
            <a:solidFill>
              <a:srgbClr val="2E8B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55</c:v>
                </c:pt>
                <c:pt idx="2">
                  <c:v>135</c:v>
                </c:pt>
                <c:pt idx="3">
                  <c:v>285</c:v>
                </c:pt>
                <c:pt idx="4">
                  <c:v>535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(€M)</c:v>
                </c:pt>
              </c:strCache>
            </c:strRef>
          </c:tx>
          <c:spPr>
            <a:solidFill>
              <a:srgbClr val="163B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4.56</c:v>
                </c:pt>
                <c:pt idx="1">
                  <c:v>12.22</c:v>
                </c:pt>
                <c:pt idx="2">
                  <c:v>24.54</c:v>
                </c:pt>
                <c:pt idx="3">
                  <c:v>46.14</c:v>
                </c:pt>
                <c:pt idx="4">
                  <c:v>77.14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(€M)</c:v>
                </c:pt>
              </c:strCache>
            </c:strRef>
          </c:tx>
          <c:spPr>
            <a:solidFill>
              <a:srgbClr val="2E8B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1.62</c:v>
                </c:pt>
                <c:pt idx="1">
                  <c:v>4.35</c:v>
                </c:pt>
                <c:pt idx="2">
                  <c:v>8.78</c:v>
                </c:pt>
                <c:pt idx="3">
                  <c:v>16.55</c:v>
                </c:pt>
                <c:pt idx="4">
                  <c:v>27.75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Works revenue seasonality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Works revenue share</c:v>
                </c:pt>
              </c:strCache>
            </c:strRef>
          </c:tx>
          <c:spPr>
            <a:solidFill>
              <a:srgbClr val="1B6E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5</c:v>
                </c:pt>
                <c:pt idx="2">
                  <c:v>5</c:v>
                </c:pt>
                <c:pt idx="3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A4A"/>
              </a:solidFill>
              <a:effectLst/>
            </c:spPr>
          </c:dPt>
          <c:dPt>
            <c:idx val="1"/>
            <c:bubble3D val="0"/>
            <c:spPr>
              <a:solidFill>
                <a:srgbClr val="163B5B"/>
              </a:solidFill>
              <a:effectLst/>
            </c:spPr>
          </c:dPt>
          <c:dPt>
            <c:idx val="2"/>
            <c:bubble3D val="0"/>
            <c:spPr>
              <a:solidFill>
                <a:srgbClr val="1B6E82"/>
              </a:solidFill>
              <a:effectLst/>
            </c:spPr>
          </c:dPt>
          <c:dPt>
            <c:idx val="3"/>
            <c:bubble3D val="0"/>
            <c:spPr>
              <a:solidFill>
                <a:srgbClr val="2E8B45"/>
              </a:solidFill>
              <a:effectLst/>
            </c:spPr>
          </c:dPt>
          <c:dPt>
            <c:idx val="4"/>
            <c:bubble3D val="0"/>
            <c:spPr>
              <a:solidFill>
                <a:srgbClr val="8CE0A8"/>
              </a:solidFill>
              <a:effectLst/>
            </c:spPr>
          </c:dPt>
          <c:dPt>
            <c:idx val="5"/>
            <c:bubble3D val="0"/>
            <c:spPr>
              <a:solidFill>
                <a:srgbClr val="F2B70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Software dev 30%</c:v>
                </c:pt>
                <c:pt idx="1">
                  <c:v>Recruitment 25%</c:v>
                </c:pt>
                <c:pt idx="2">
                  <c:v>Commercial dev 20%</c:v>
                </c:pt>
                <c:pt idx="3">
                  <c:v>Working capital 15%</c:v>
                </c:pt>
                <c:pt idx="4">
                  <c:v>IT infra 5%</c:v>
                </c:pt>
                <c:pt idx="5">
                  <c:v>Comms &amp; marketing 5%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1828800"/>
            <a:ext cx="7315200" cy="7315200"/>
          </a:xfrm>
          <a:prstGeom prst="ellipse">
            <a:avLst/>
          </a:prstGeom>
          <a:solidFill>
            <a:srgbClr val="1B6E8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202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ctr" indent="0" marL="0">
              <a:buNone/>
            </a:pPr>
            <a:r>
              <a:rPr lang="en-US" sz="5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2697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4F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 Grid designed for campsites and holiday resorts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2062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ENR   –   July 2026   – 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ACT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7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1920240"/>
            <a:ext cx="548640" cy="548640"/>
          </a:xfrm>
          <a:prstGeom prst="ellipse">
            <a:avLst/>
          </a:prstGeom>
          <a:solidFill>
            <a:srgbClr val="163B5B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costs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bills are rising sharply across Europe.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7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920240"/>
            <a:ext cx="548640" cy="548640"/>
          </a:xfrm>
          <a:prstGeom prst="ellipse">
            <a:avLst/>
          </a:prstGeom>
          <a:solidFill>
            <a:srgbClr val="163B5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growth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971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growth of EV charging infrastructure on-site.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7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60920" y="1920240"/>
            <a:ext cx="548640" cy="548640"/>
          </a:xfrm>
          <a:prstGeom prst="ellipse">
            <a:avLst/>
          </a:prstGeom>
          <a:solidFill>
            <a:srgbClr val="163B5B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usage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971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Pools, restaurants and accommodation drive heavy consumption.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645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7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41280" y="1920240"/>
            <a:ext cx="548640" cy="548640"/>
          </a:xfrm>
          <a:prstGeom prst="ellipse">
            <a:avLst/>
          </a:prstGeom>
          <a:solidFill>
            <a:srgbClr val="163B5B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2688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0" y="2971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environmental and regulatory constraints.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multiplication of energy equipment that's hard to orchestrate — PV inverters, batteries, EV chargers, BMS, pool/heating supervision, smart meters — all working in silos.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— ECOGRID RESORT™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turnkey solution that turns any establishment into an intelligent energy micro-grid.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EA"/>
          </a:solidFill>
          <a:ln w="12700">
            <a:solidFill>
              <a:srgbClr val="CFE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67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6148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Rooftop &amp; carport solar PV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EA"/>
          </a:solidFill>
          <a:ln w="12700">
            <a:solidFill>
              <a:srgbClr val="CFE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267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76148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Batteries, weather &amp; priority-aware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EA"/>
          </a:solidFill>
          <a:ln w="12700">
            <a:solidFill>
              <a:srgbClr val="CFE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267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intelligently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76148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Pools, pumps, HVAC, EV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89720" y="21031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EA"/>
          </a:solidFill>
          <a:ln w="12700">
            <a:solidFill>
              <a:srgbClr val="CFE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2267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0" y="276148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Algorithms, predictive maintenance, ESG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77724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supervision &amp; optimization — </a:t>
            </a:r>
            <a:pPr algn="ctr" indent="0" marL="0">
              <a:buNone/>
            </a:pPr>
            <a:r>
              <a:rPr lang="en-US" sz="17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equipment blocks feed into ECOGRID OS™: solar panels · battery storage · EV charging stations · networks &amp; facility equipment · smart meters.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 — the energy operating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310896" cy="31089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0992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supervision: production, consumption, batteries, chargers, alarms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624328"/>
            <a:ext cx="310896" cy="31089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551176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control: batteries, chargers, pumps, HVAC, hot water, lighting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465576"/>
            <a:ext cx="310896" cy="31089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392424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Self-consumption optimization: storage, arbitrage, usage priorities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306824"/>
            <a:ext cx="310896" cy="31089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23367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maintenance: detecting drift before failure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5148072"/>
            <a:ext cx="310896" cy="31089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48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0749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ESG reporting; multi-site management for campsite groups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1508760"/>
            <a:ext cx="4389120" cy="4572000"/>
          </a:xfrm>
          <a:prstGeom prst="roundRect">
            <a:avLst>
              <a:gd name="adj" fmla="val 1250"/>
            </a:avLst>
          </a:prstGeom>
          <a:solidFill>
            <a:srgbClr val="0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1783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multi-vendor architecture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23317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Huawei · SMA · Sungrow · GoodWe · Fronius · SolarEdge · Schneider · ABB · Socomec · Siemens — and other compatible manufacturers.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0" y="50292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proprietary software platform — a valuable, defensible technology asset.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1206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Campsites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8,100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Italy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2,300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(total)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22,800–23,200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554480"/>
            <a:ext cx="4754880" cy="4754880"/>
          </a:xfrm>
          <a:prstGeom prst="ellipse">
            <a:avLst/>
          </a:prstGeom>
          <a:solidFill>
            <a:srgbClr val="E8F4EA"/>
          </a:solidFill>
          <a:ln w="25400">
            <a:solidFill>
              <a:srgbClr val="2E8B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0" y="3108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 target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75120" y="3429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 sites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67512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2.3% of the European market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 is the leading European market, followed by Italy and Spain. No vertical leader is currently dedicated to outdoor hospitality.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Revenue Engines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Smart Grid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€300,000 excl. VAT / site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gross margin target — finances growth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 (SaaS)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€3,000 excl. VAT / site / year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611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High-margin recurring revenue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6002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1828800"/>
            <a:ext cx="502920" cy="50292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66760" y="2468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Maintenance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€1,000 excl. VAT / site / year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3611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revenue, loyalty, after-sales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recurring revenue: €4,000 / site / year (software + maintenance)  •  Seasonality: works concentrated Q1 (45%) &amp; Q4 (45%); software/maintenance spread evenly.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Offer — Seven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single point of contact, from study to operation.”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38943" y="2761488"/>
            <a:ext cx="9483634" cy="0"/>
          </a:xfrm>
          <a:prstGeom prst="line">
            <a:avLst/>
          </a:prstGeom>
          <a:noFill/>
          <a:ln w="38100">
            <a:solidFill>
              <a:srgbClr val="E8F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4895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4895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audit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5501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35501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74966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studies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6106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6106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55571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execution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96712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96712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36177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77318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77318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16783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 supervision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57923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857923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97389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438529" y="2377440"/>
            <a:ext cx="768096" cy="768096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76200" dist="25400" dir="5400000">
              <a:srgbClr val="2E8B45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438529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77994" y="3291840"/>
            <a:ext cx="148916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optimization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Camping Riva Bella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technical &amp; commercial demonstrator (2027)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3055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13055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€80,000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34340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energy spend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96596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213055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€250,000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3816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Grid budget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219456" cy="21945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216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energy expenses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794760"/>
            <a:ext cx="219456" cy="21945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7216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self-consumption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219456" cy="21945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245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technical equipment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4297680"/>
            <a:ext cx="219456" cy="21945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245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commercial reference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219456" cy="21945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7274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methods for future deployments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Plan — Connected Sites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37360"/>
          <a:ext cx="4114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Gross Margin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Org Growth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3152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87552"/>
                <a:gridCol w="987552"/>
                <a:gridCol w="987552"/>
                <a:gridCol w="987552"/>
                <a:gridCol w="987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 / design office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service &amp; supervision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Administration / finance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0876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E8F4EA"/>
          </a:solidFill>
          <a:ln w="12700">
            <a:solidFill>
              <a:srgbClr val="CFE8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2651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138160" y="3520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by 2031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66760" y="42062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costs grow from €1.10M (2027) to €5.80M (2031) to finance regional agencies, in-house software development and support functions.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RHYTHM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 &amp; Working Capital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5448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 (BFR) policy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0" y="2377440"/>
            <a:ext cx="146304" cy="146304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0" y="2258568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project rhythm: deposits, supplier orders, equipment purchases, installation phases.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3035808"/>
            <a:ext cx="146304" cy="146304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2916936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BFR in Q1 / Q4 in line with works seasonality.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3694176"/>
            <a:ext cx="146304" cy="146304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3575304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Invoicing: 30% on order, 40% during works, 30% on delivery/acceptance.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4352544"/>
            <a:ext cx="146304" cy="146304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423367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reserve maintained at ≈ 6 months of fixed costs.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5010912"/>
            <a:ext cx="146304" cy="146304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48920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BFR range: €300k–580k per quarter. 2028 BFR range: €610k–1.25M per quarter.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 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 sales force, pipeline, multi-site contracts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development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partner then in-house dev, version-based roadmap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Manufacturer dependency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Open, multi-manufacturer architecture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Seasonality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in Q1/Q4, smoothed recurring revenue, cash reserve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capital (BFR)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Staged invoicing, monthly monitoring, supplier terms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Headcount growth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Progressive recruitment, standardized methods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Cybersecurity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MFA, encryption, backups, audits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Campsite specialization, integrated offer, proprietary software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57400" y="1947672"/>
            <a:ext cx="548640" cy="54864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6" name="Text 4"/>
          <p:cNvSpPr/>
          <p:nvPr/>
        </p:nvSpPr>
        <p:spPr>
          <a:xfrm>
            <a:off x="205740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MWh solar produced, self-consumption rate, CO2 avoided, EV chargers managed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0" y="1947672"/>
            <a:ext cx="548640" cy="54864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2628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31546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created, training, client satisfaction, safety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46920" y="1947672"/>
            <a:ext cx="548640" cy="54864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6" name="Text 14"/>
          <p:cNvSpPr/>
          <p:nvPr/>
        </p:nvSpPr>
        <p:spPr>
          <a:xfrm>
            <a:off x="964692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1546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uptime, cybersecurity incidents, compliance, reporting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Contributes to UN Sustainable Development Goals 7, 9, 11, 12, 13 and 17.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Ask &amp; Use of Funds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636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Seed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9476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31920" y="156362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€2–3M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51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Acceleration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999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2028–2029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0" y="261518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€5–8M (indicative)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667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Expansion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0507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2030–2031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31920" y="366674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being studied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1417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Use-of-funds allocation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949440" y="1783080"/>
          <a:ext cx="4663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intended to cover operating losses — designed to accelerate reaching critical scale.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2031 INDICATORS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2395E"/>
          </a:solidFill>
          <a:ln w="12700">
            <a:solidFill>
              <a:srgbClr val="2A4E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83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sites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2395E"/>
          </a:solidFill>
          <a:ln w="12700">
            <a:solidFill>
              <a:srgbClr val="2A4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783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€77.14M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343400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2395E"/>
          </a:solidFill>
          <a:ln w="12700">
            <a:solidFill>
              <a:srgbClr val="2A4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783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€2.14M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38160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2395E"/>
          </a:solidFill>
          <a:ln w="12700">
            <a:solidFill>
              <a:srgbClr val="2A4E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€27.75M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37947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2395E"/>
          </a:solidFill>
          <a:ln w="12700">
            <a:solidFill>
              <a:srgbClr val="2A4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343400" y="5029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37947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12395E"/>
          </a:solidFill>
          <a:ln w="12700">
            <a:solidFill>
              <a:srgbClr val="2A4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≈2.3%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138160" y="5029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market share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 2027–2035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0" cy="3931920"/>
          </a:xfrm>
          <a:prstGeom prst="line">
            <a:avLst/>
          </a:prstGeom>
          <a:noFill/>
          <a:ln w="38100">
            <a:solidFill>
              <a:srgbClr val="E8F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1848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61848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61848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supervision, commercial launch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404872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331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3317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3317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Multi-site, APIs, connected maintenance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118104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0449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30449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304495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automation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831336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75818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75818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375818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4544568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447141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447141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447141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platform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" y="5257800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6" name="Text 24"/>
          <p:cNvSpPr/>
          <p:nvPr/>
        </p:nvSpPr>
        <p:spPr>
          <a:xfrm>
            <a:off x="1280160" y="51846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2032–2035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34640" y="518464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V6–V9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518464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Energy Platform → Aggregation → Digital Twin → Energy OS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01368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 of contact end-to-end (audit → maintenance)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801368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2280" y="1691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software platform — valuable tech asset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61488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651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multi-vendor architecture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56032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761488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2651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specialization in outdoor hospitality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721608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611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Seasonality-adapted organization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52044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721608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3611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Industrialized, standardized deployment methodology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681728"/>
            <a:ext cx="365760" cy="36576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4440" y="45720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on every connected site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–  Performance ENR  –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286000"/>
            <a:ext cx="7315200" cy="7315200"/>
          </a:xfrm>
          <a:prstGeom prst="ellipse">
            <a:avLst/>
          </a:prstGeom>
          <a:solidFill>
            <a:srgbClr val="1B6E82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63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ctr" indent="0" marL="0">
              <a:buNone/>
            </a:pPr>
            <a:r>
              <a:rPr lang="en-US" sz="4400" b="1" dirty="0">
                <a:solidFill>
                  <a:srgbClr val="8CE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400" kern="0" dirty="0">
                <a:solidFill>
                  <a:srgbClr val="DC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28346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4F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European reference for Smart Grids in outdoor hospitality.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Tel: 04 84 80 22 22     Email: contact@ecogrid-resort.com     Web: www.ecogrid-resort.com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88636" y="466344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2E8B45"/>
          </a:solidFill>
          <a:ln/>
        </p:spPr>
      </p:sp>
      <p:sp>
        <p:nvSpPr>
          <p:cNvPr id="8" name="Text 6"/>
          <p:cNvSpPr/>
          <p:nvPr/>
        </p:nvSpPr>
        <p:spPr>
          <a:xfrm>
            <a:off x="5088636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ENR — RGE-certified renewable energy company, France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ECOGRID RESORT - Investor Pitch Deck</dc:title>
  <dc:subject>PptxGenJS Presentation</dc:subject>
  <dc:creator>Performance ENR</dc:creator>
  <cp:lastModifiedBy>Performance ENR</cp:lastModifiedBy>
  <cp:revision>1</cp:revision>
  <dcterms:created xsi:type="dcterms:W3CDTF">2026-07-05T09:29:02Z</dcterms:created>
  <dcterms:modified xsi:type="dcterms:W3CDTF">2026-07-05T09:29:02Z</dcterms:modified>
</cp:coreProperties>
</file>