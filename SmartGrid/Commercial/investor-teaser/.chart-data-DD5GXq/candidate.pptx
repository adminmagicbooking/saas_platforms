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802c6b41f5c4b89" /><Relationship Type="http://schemas.openxmlformats.org/officeDocument/2006/relationships/extended-properties" Target="/docProps/app.xml" Id="Ra40475deb942401e" /><Relationship Type="http://schemas.openxmlformats.org/officeDocument/2006/relationships/officeDocument" Target="/ppt/presentation.xml" Id="R60110339defa409a" /></Relationships>
</file>

<file path=ppt/presentation.xml><?xml version="1.0" encoding="utf-8"?>
<p:presentation xmlns:p="http://schemas.openxmlformats.org/presentationml/2006/main">
  <p:sldMasterIdLst>
    <p:sldMasterId xmlns:r="http://schemas.openxmlformats.org/officeDocument/2006/relationships" id="2147483648" r:id="R3eeef4bf06a84d4b"/>
  </p:sldMasterIdLst>
  <p:notesMasterIdLst>
    <p:notesMasterId xmlns:r="http://schemas.openxmlformats.org/officeDocument/2006/relationships" r:id="R9be9b9e111bf40ea"/>
  </p:notesMasterIdLst>
  <p:sldIdLst>
    <p:sldId xmlns:r="http://schemas.openxmlformats.org/officeDocument/2006/relationships" id="256" r:id="Racc6e29ea3844507"/>
    <p:sldId xmlns:r="http://schemas.openxmlformats.org/officeDocument/2006/relationships" id="257" r:id="R245551f1e447495d"/>
    <p:sldId xmlns:r="http://schemas.openxmlformats.org/officeDocument/2006/relationships" id="258" r:id="R1b31bb1754a4453d"/>
    <p:sldId xmlns:r="http://schemas.openxmlformats.org/officeDocument/2006/relationships" id="259" r:id="R148a1f8b4082442f"/>
    <p:sldId xmlns:r="http://schemas.openxmlformats.org/officeDocument/2006/relationships" id="260" r:id="Rfb6ce5896a254707"/>
    <p:sldId xmlns:r="http://schemas.openxmlformats.org/officeDocument/2006/relationships" id="261" r:id="Re6cc7538b6764042"/>
    <p:sldId xmlns:r="http://schemas.openxmlformats.org/officeDocument/2006/relationships" id="262" r:id="Rae1f7d0f4f294a68"/>
    <p:sldId xmlns:r="http://schemas.openxmlformats.org/officeDocument/2006/relationships" id="263" r:id="R0eeb9d68e8d1433d"/>
    <p:sldId xmlns:r="http://schemas.openxmlformats.org/officeDocument/2006/relationships" id="264" r:id="R666c9b9002014d6c"/>
    <p:sldId xmlns:r="http://schemas.openxmlformats.org/officeDocument/2006/relationships" id="265" r:id="Ra3b3d52097f24a97"/>
    <p:sldId xmlns:r="http://schemas.openxmlformats.org/officeDocument/2006/relationships" id="266" r:id="Rfa0297843136446d"/>
    <p:sldId xmlns:r="http://schemas.openxmlformats.org/officeDocument/2006/relationships" id="267" r:id="R842fffd5d8ad41de"/>
    <p:sldId xmlns:r="http://schemas.openxmlformats.org/officeDocument/2006/relationships" id="268" r:id="R7ef28a25a10f463b"/>
    <p:sldId xmlns:r="http://schemas.openxmlformats.org/officeDocument/2006/relationships" id="269" r:id="Rd222a14f30be4d8c"/>
    <p:sldId xmlns:r="http://schemas.openxmlformats.org/officeDocument/2006/relationships" id="270" r:id="R8b1490544daa4b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1f23e7891d4d2f" /><Relationship Type="http://schemas.openxmlformats.org/officeDocument/2006/relationships/slideMaster" Target="/ppt/slideMasters/slideMaster1.xml" Id="R3eeef4bf06a84d4b" /><Relationship Type="http://schemas.openxmlformats.org/officeDocument/2006/relationships/notesMaster" Target="/ppt/notesMasters/notesMaster1.xml" Id="R9be9b9e111bf40ea" /><Relationship Type="http://schemas.openxmlformats.org/officeDocument/2006/relationships/presProps" Target="/ppt/presProps.xml" Id="Rb1a685a6b8a9440f" /><Relationship Type="http://schemas.openxmlformats.org/officeDocument/2006/relationships/tableStyles" Target="/ppt/tableStyles.xml" Id="R9137092112854f67" /><Relationship Type="http://schemas.openxmlformats.org/officeDocument/2006/relationships/slide" Target="/ppt/slides/slide1.xml" Id="Racc6e29ea3844507" /><Relationship Type="http://schemas.openxmlformats.org/officeDocument/2006/relationships/slide" Target="/ppt/slides/slide2.xml" Id="R245551f1e447495d" /><Relationship Type="http://schemas.openxmlformats.org/officeDocument/2006/relationships/slide" Target="/ppt/slides/slide3.xml" Id="R1b31bb1754a4453d" /><Relationship Type="http://schemas.openxmlformats.org/officeDocument/2006/relationships/slide" Target="/ppt/slides/slide4.xml" Id="R148a1f8b4082442f" /><Relationship Type="http://schemas.openxmlformats.org/officeDocument/2006/relationships/slide" Target="/ppt/slides/slide5.xml" Id="Rfb6ce5896a254707" /><Relationship Type="http://schemas.openxmlformats.org/officeDocument/2006/relationships/slide" Target="/ppt/slides/slide6.xml" Id="Re6cc7538b6764042" /><Relationship Type="http://schemas.openxmlformats.org/officeDocument/2006/relationships/slide" Target="/ppt/slides/slide7.xml" Id="Rae1f7d0f4f294a68" /><Relationship Type="http://schemas.openxmlformats.org/officeDocument/2006/relationships/slide" Target="/ppt/slides/slide8.xml" Id="R0eeb9d68e8d1433d" /><Relationship Type="http://schemas.openxmlformats.org/officeDocument/2006/relationships/slide" Target="/ppt/slides/slide9.xml" Id="R666c9b9002014d6c" /><Relationship Type="http://schemas.openxmlformats.org/officeDocument/2006/relationships/slide" Target="/ppt/slides/slide10.xml" Id="Ra3b3d52097f24a97" /><Relationship Type="http://schemas.openxmlformats.org/officeDocument/2006/relationships/slide" Target="/ppt/slides/slide11.xml" Id="Rfa0297843136446d" /><Relationship Type="http://schemas.openxmlformats.org/officeDocument/2006/relationships/slide" Target="/ppt/slides/slide12.xml" Id="R842fffd5d8ad41de" /><Relationship Type="http://schemas.openxmlformats.org/officeDocument/2006/relationships/slide" Target="/ppt/slides/slide13.xml" Id="R7ef28a25a10f463b" /><Relationship Type="http://schemas.openxmlformats.org/officeDocument/2006/relationships/slide" Target="/ppt/slides/slide14.xml" Id="Rd222a14f30be4d8c" /><Relationship Type="http://schemas.openxmlformats.org/officeDocument/2006/relationships/slide" Target="/ppt/slides/slide15.xml" Id="R8b1490544daa4b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a99eea475c4f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f88981e6d8419c" /><Relationship Type="http://schemas.openxmlformats.org/officeDocument/2006/relationships/notesMaster" Target="/ppt/notesMasters/notesMaster1.xml" Id="Rd6717d39473f48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1a1f2255454210" /><Relationship Type="http://schemas.openxmlformats.org/officeDocument/2006/relationships/notesMaster" Target="/ppt/notesMasters/notesMaster1.xml" Id="R2a2426bf8f6742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97d7f77d9c4675" /><Relationship Type="http://schemas.openxmlformats.org/officeDocument/2006/relationships/notesMaster" Target="/ppt/notesMasters/notesMaster1.xml" Id="Rba5f06eefdd54f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ee6af608594693" /><Relationship Type="http://schemas.openxmlformats.org/officeDocument/2006/relationships/notesMaster" Target="/ppt/notesMasters/notesMaster1.xml" Id="R33e19ce3d05d49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4147a8abf54964" /><Relationship Type="http://schemas.openxmlformats.org/officeDocument/2006/relationships/notesMaster" Target="/ppt/notesMasters/notesMaster1.xml" Id="R230dcc460e3547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446a0cbeb1445e" /><Relationship Type="http://schemas.openxmlformats.org/officeDocument/2006/relationships/notesMaster" Target="/ppt/notesMasters/notesMaster1.xml" Id="Rde6f85f3223942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30312fff5244b6" /><Relationship Type="http://schemas.openxmlformats.org/officeDocument/2006/relationships/notesMaster" Target="/ppt/notesMasters/notesMaster1.xml" Id="R1bd6bd28ca024b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0e54aabdb9409a" /><Relationship Type="http://schemas.openxmlformats.org/officeDocument/2006/relationships/notesMaster" Target="/ppt/notesMasters/notesMaster1.xml" Id="R89e1bb099c6245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8efc93beae4c77" /><Relationship Type="http://schemas.openxmlformats.org/officeDocument/2006/relationships/notesMaster" Target="/ppt/notesMasters/notesMaster1.xml" Id="R3769f6af8da04e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ac7150afbb4fb8" /><Relationship Type="http://schemas.openxmlformats.org/officeDocument/2006/relationships/notesMaster" Target="/ppt/notesMasters/notesMaster1.xml" Id="R33df059e0f4c4ed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b8f527a61e4c81" /><Relationship Type="http://schemas.openxmlformats.org/officeDocument/2006/relationships/notesMaster" Target="/ppt/notesMasters/notesMaster1.xml" Id="Rb821f2e9d840439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146f6a2ad314c3c" /><Relationship Type="http://schemas.openxmlformats.org/officeDocument/2006/relationships/notesMaster" Target="/ppt/notesMasters/notesMaster1.xml" Id="R13faf978d60b40f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f36a23e7b9a4c5e" /><Relationship Type="http://schemas.openxmlformats.org/officeDocument/2006/relationships/notesMaster" Target="/ppt/notesMasters/notesMaster1.xml" Id="R5043c8cabbc74d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bfcd65976d34def" /><Relationship Type="http://schemas.openxmlformats.org/officeDocument/2006/relationships/notesMaster" Target="/ppt/notesMasters/notesMaster1.xml" Id="Rc43d70a922bb474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db3dfbf2bd2465e" /><Relationship Type="http://schemas.openxmlformats.org/officeDocument/2006/relationships/notesMaster" Target="/ppt/notesMasters/notesMaster1.xml" Id="R53477b2189a949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brief and confirmed €700k ask, 4 October 2026. Both models, with direct sales leading. Concept visual generated with OpenAI image generation for this presentation. All commercial projections are proposed scenarios.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five-part offer follows the user’s current brief. Product capability is planned scope, not a claim that production modules are deployed. Completion is a lead-interest signal. Technical and commercial qualification remain necessary.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 Campaign universe is a planning target, not a verified market census. 10% completion-to-install conversion, 20% completion-to-audit and 50% audit-to-install. Signed and commissioned counts are equal in this scenario. Acquisition cost includes €90k marketing and €90k sales expense.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sources reviewed 4 October 2026: IDAE RD477 programme https://www.idae.es/ayudas-y-financiacion/para-energias-renovables-en-autoconsumo-almacenamiento-y-termicas-sector/incentivos-autoconsumo-y-almacenamiento-con-fuentes-de-energias-renovables-rd-4772021 (programme ended 31 Dec 2023); https://www.ademe.fr/nos-missions/financement/; GSE https://assistenza.clienti.gse.it/csm/it/differenze-tra-configurazioni-di-autoconsumo?id=faq&amp;sys_id=8d36cf8ec34246143fd7bffb05013182; https://energie.wallonie.be/home/soutiens-financiers/entreprises/audits-et-etudes-amureba/amureba-pour-les-entreprises.html; https://www.vlaio.be/nl/subsidies-financiering/subsidiedatabank/maatregelen/zonnepanelen-steun; https://english.rvo.nl/subsidies-financiering/sde; https://www.ofgem.gov.uk/environmental-and-social-schemes/smart-export-guarantee-seg/electricity-suppliers; https://cinea.ec.europa.eu/programmes/life/clean-energy-transition_en; https://green-forum.ec.europa.eu/green-business/eu-ecolabel/product-groups-and-criteria/tourist-accommodation_en. No blanket grants promised. Ecolabel eligibility does not itself confer grant entitlement.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energy demonstration. Noon balance: 150 kW solar = 95 kW site + 35 kW charging + 20 kW export. Evening 20 kW solar + 60 kW battery = 80 kW site. Not a battery sizing or state-of-charge simulation. No export or flexibility income in forecasts. Founder brief defines planned inverter/battery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 Financed comparison uses the quoted client installation price as SPV capital invested, including EPC margin. Maintenance is borne by asset owner. Cash shown adds software revenue and deducts maintenance. Resort cash after software equals 40% of gross energy savings less software. No grant assumed. Simple payback does not prove a financeable return within the contract term. No financed installations in opco forecasts.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 Forecast formulas: works revenue = new sites × weighted quoted price. Works COGS = new sites × weighted delivery cost. Service revenue = (opening sites + 50% of new sites) × weighted annual fees. Service COGS = 35% of service revenue. Gross profit = works revenue minus works COGS plus 65% of service revenue. OPEX = €590k / €1.1m / €1.8m. Software development €250k remains outside EBITDA. Very high EBITDA depends on unvalidated 35% project margin and conversion. No asset or grant revenues.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geography sequence. Proposed delivery capacity 20/60/120 sites divided by 10 per crew per year. Confirm contractor coverage and two approved alternatives for each critical region. Sales + marketing expense €180k/€360k/€600k, included in OPEX rather than charged twice. Schedule installation around seasonal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Confirmed founder ask €700,000. Proposed allocation sums exactly €700,000. €250k software development from June interview. The €300k team+campaign allocation covers about six months of €590k annual OPEX; subsequent expenses rely on collected project margin. €100k working capital and €50k reserve. Negotiate 40% client order / 50% before delivery / 10% acceptance versus supplier payment milestones. Four concurrent average projects and 90% supplier prepayment imply roughly €453k initial bridge need, above the allocation. A monthly cash plan and finance facility may be required. Allocation is not additional to P&amp;L OPEX.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af6471163f48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c43fc304d54264" /><Relationship Type="http://schemas.openxmlformats.org/officeDocument/2006/relationships/slideLayout" Target="/ppt/slideLayouts/slideLayout1.xml" Id="Rdcc5f5a1a0b441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c5f5a1a0b441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1d69ce13574b6e" /><Relationship Type="http://schemas.openxmlformats.org/officeDocument/2006/relationships/image" Target="/ppt/media/image.png" Id="Rcb0fe81c8fb14931" /><Relationship Type="http://schemas.openxmlformats.org/officeDocument/2006/relationships/notesSlide" Target="/ppt/notesSlides/notesSlide1.xml" Id="R1d5bec0196b549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8c25246199c4887" /><Relationship Type="http://schemas.openxmlformats.org/officeDocument/2006/relationships/notesSlide" Target="/ppt/notesSlides/notesSlide2.xml" Id="R51a29758102644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78e416a63c41a2" /><Relationship Type="http://schemas.openxmlformats.org/officeDocument/2006/relationships/notesSlide" Target="/ppt/notesSlides/notesSlide3.xml" Id="Raa52d13ee88d49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3658baccce4907" /><Relationship Type="http://schemas.openxmlformats.org/officeDocument/2006/relationships/notesSlide" Target="/ppt/notesSlides/notesSlide4.xml" Id="R4f489667e70149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c5a703b5b4444c" /><Relationship Type="http://schemas.openxmlformats.org/officeDocument/2006/relationships/notesSlide" Target="/ppt/notesSlides/notesSlide5.xml" Id="R581c8fcf61434b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f4b472464b422f" /><Relationship Type="http://schemas.openxmlformats.org/officeDocument/2006/relationships/notesSlide" Target="/ppt/notesSlides/notesSlide6.xml" Id="R2f406c6d88324e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25801b5fec4dfb" /><Relationship Type="http://schemas.openxmlformats.org/officeDocument/2006/relationships/notesSlide" Target="/ppt/notesSlides/notesSlide7.xml" Id="R40ca238319f84a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05c0bf0f0884248" /><Relationship Type="http://schemas.openxmlformats.org/officeDocument/2006/relationships/chart" Target="/ppt/slides/charts/chart1.xml" Id="Rc6b64f74a1844157" /><Relationship Type="http://schemas.openxmlformats.org/officeDocument/2006/relationships/notesSlide" Target="/ppt/notesSlides/notesSlide8.xml" Id="R2a0f2fd3696e44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0155f19309945bf" /><Relationship Type="http://schemas.openxmlformats.org/officeDocument/2006/relationships/notesSlide" Target="/ppt/notesSlides/notesSlide9.xml" Id="Rf1d41972f4bf46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f3ab5bc216d43d2" /><Relationship Type="http://schemas.openxmlformats.org/officeDocument/2006/relationships/chart" Target="/ppt/slides/charts/chart2.xml" Id="Raadbcb328a1e4da0" /><Relationship Type="http://schemas.openxmlformats.org/officeDocument/2006/relationships/notesSlide" Target="/ppt/notesSlides/notesSlide10.xml" Id="R092d8cacbc6a41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a150e384ef3490b" /><Relationship Type="http://schemas.openxmlformats.org/officeDocument/2006/relationships/notesSlide" Target="/ppt/notesSlides/notesSlide11.xml" Id="R26067afae9714ed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c6cf6c1ecd842f9" /><Relationship Type="http://schemas.openxmlformats.org/officeDocument/2006/relationships/notesSlide" Target="/ppt/notesSlides/notesSlide12.xml" Id="R003a054285a5490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f116f2a21e443b2" /><Relationship Type="http://schemas.openxmlformats.org/officeDocument/2006/relationships/notesSlide" Target="/ppt/notesSlides/notesSlide13.xml" Id="Rf0e03479244b4cc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ee2f9b97cd54d17" /><Relationship Type="http://schemas.openxmlformats.org/officeDocument/2006/relationships/notesSlide" Target="/ppt/notesSlides/notesSlide14.xml" Id="Ree459154cf8f4da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84b2045e5184277" /><Relationship Type="http://schemas.openxmlformats.org/officeDocument/2006/relationships/notesSlide" Target="/ppt/notesSlides/notesSlide15.xml" Id="Rd46a0855706a4ca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Solar production</c:v>
          </c:tx>
          <c:spPr>
            <a:ln xmlns:a="http://schemas.openxmlformats.org/drawingml/2006/main" w="38100">
              <a:solidFill>
                <a:srgbClr val="1F7A6D"/>
              </a:solidFill>
            </a:ln>
          </c:spPr>
          <c:marker>
            <c:symbol val="none"/>
          </c:marker>
          <c:cat>
            <c:strRef>
              <c:f>'Chart Data'!$A$2:$A$6</c:f>
              <c:strCache>
                <c:ptCount val="5"/>
                <c:pt idx="0">
                  <c:v>06:00</c:v>
                </c:pt>
                <c:pt idx="1">
                  <c:v>09:00</c:v>
                </c:pt>
                <c:pt idx="2">
                  <c:v>12:00</c:v>
                </c:pt>
                <c:pt idx="3">
                  <c:v>18:00</c:v>
                </c:pt>
                <c:pt idx="4">
                  <c:v>23:00</c:v>
                </c:pt>
              </c:strCache>
            </c:strRef>
          </c:cat>
          <c:val>
            <c:numRef>
              <c:f>'Chart Data'!$B$2:$B$6</c:f>
              <c:numCache>
                <c:formatCode>0" kW"</c:formatCode>
                <c:ptCount val="5"/>
                <c:pt idx="0">
                  <c:v>0</c:v>
                </c:pt>
                <c:pt idx="1">
                  <c:v>80</c:v>
                </c:pt>
                <c:pt idx="2">
                  <c:v>150</c:v>
                </c:pt>
                <c:pt idx="3">
                  <c:v>20</c:v>
                </c:pt>
                <c:pt idx="4">
                  <c:v>0</c:v>
                </c:pt>
              </c:numCache>
            </c:numRef>
          </c:val>
        </c:ser>
        <c:ser>
          <c:idx val="1"/>
          <c:order val="1"/>
          <c:tx>
            <c:v>Site consumption</c:v>
          </c:tx>
          <c:spPr>
            <a:ln xmlns:a="http://schemas.openxmlformats.org/drawingml/2006/main" w="38100">
              <a:solidFill>
                <a:srgbClr val="F4B740"/>
              </a:solidFill>
            </a:ln>
          </c:spPr>
          <c:marker>
            <c:symbol val="none"/>
          </c:marker>
          <c:cat>
            <c:strRef>
              <c:f>'Chart Data'!$C$2:$C$6</c:f>
              <c:strCache>
                <c:ptCount val="5"/>
                <c:pt idx="0">
                  <c:v>06:00</c:v>
                </c:pt>
                <c:pt idx="1">
                  <c:v>09:00</c:v>
                </c:pt>
                <c:pt idx="2">
                  <c:v>12:00</c:v>
                </c:pt>
                <c:pt idx="3">
                  <c:v>18:00</c:v>
                </c:pt>
                <c:pt idx="4">
                  <c:v>23:00</c:v>
                </c:pt>
              </c:strCache>
            </c:strRef>
          </c:cat>
          <c:val>
            <c:numRef>
              <c:f>'Chart Data'!$D$2:$D$6</c:f>
              <c:numCache>
                <c:formatCode>0" kW"</c:formatCode>
                <c:ptCount val="5"/>
                <c:pt idx="0">
                  <c:v>35</c:v>
                </c:pt>
                <c:pt idx="1">
                  <c:v>65</c:v>
                </c:pt>
                <c:pt idx="2">
                  <c:v>95</c:v>
                </c:pt>
                <c:pt idx="3">
                  <c:v>80</c:v>
                </c:pt>
                <c:pt idx="4">
                  <c:v>45</c:v>
                </c:pt>
              </c:numCache>
            </c:numRef>
          </c:val>
        </c:ser>
        <c:dLbls>
          <c:txPr>
            <a:bodyPr xmlns:a="http://schemas.openxmlformats.org/drawingml/2006/main" anchorCtr="1"/>
            <a:lstStyle xmlns:a="http://schemas.openxmlformats.org/drawingml/2006/main"/>
            <a:p xmlns:a="http://schemas.openxmlformats.org/drawingml/2006/main">
              <a:pPr>
                <a:defRPr>
                  <a:latin typeface="Ubuntu"/>
                  <a:ea typeface="Ubuntu"/>
                  <a:cs typeface="Ubuntu"/>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12D35"/>
                </a:solidFill>
                <a:latin typeface="Ubuntu"/>
                <a:ea typeface="Ubuntu"/>
                <a:cs typeface="Ubuntu"/>
              </a:defRPr>
            </a:pPr>
          </a:p>
        </c:txPr>
        <c:crossAx val="48672768"/>
      </c:catAx>
      <c:valAx>
        <c:axId val="48672768"/>
        <c:scaling>
          <c:orientation val="minMax"/>
          <c:max val="160"/>
          <c:min val="0"/>
        </c:scaling>
        <c:delete val="0"/>
        <c:axPos val="l"/>
        <c:majorGridlines>
          <c:spPr>
            <a:ln xmlns:a="http://schemas.openxmlformats.org/drawingml/2006/main" w="9525">
              <a:solidFill>
                <a:srgbClr val="C6D3CF"/>
              </a:solidFill>
            </a:ln>
          </c:spPr>
        </c:majorGridlines>
        <c:numFmt formatCode="0&quot; kW&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44616A"/>
                </a:solidFill>
                <a:latin typeface="Ubuntu"/>
                <a:ea typeface="Ubuntu"/>
                <a:cs typeface="Ubuntu"/>
              </a:defRPr>
            </a:pPr>
          </a:p>
        </c:txPr>
        <c:crossAx val="48650112"/>
        <c:crossBetween val="between"/>
        <c:majorUnit val="40"/>
      </c:valAx>
      <c:spPr>
        <a:solidFill xmlns:a="http://schemas.openxmlformats.org/drawingml/2006/main">
          <a:srgbClr val="F3F3EB"/>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12D35"/>
              </a:solidFill>
              <a:latin typeface="Ubuntu"/>
              <a:ea typeface="Ubuntu"/>
              <a:cs typeface="Ubuntu"/>
            </a:defRPr>
          </a:pPr>
        </a:p>
      </c:txPr>
    </c:legend>
    <c:plotVisOnly val="1"/>
  </c:chart>
  <c:spPr>
    <a:solidFill xmlns:a="http://schemas.openxmlformats.org/drawingml/2006/main">
      <a:srgbClr val="F3F3EB"/>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Cumulative sites</c:v>
          </c:tx>
          <c:spPr>
            <a:solidFill xmlns:a="http://schemas.openxmlformats.org/drawingml/2006/main">
              <a:srgbClr val="1F7A6D"/>
            </a:solidFill>
          </c:spPr>
          <c:cat>
            <c:numRef>
              <c:f>'Chart Data'!$A$2:$A$4</c:f>
              <c:numCache>
                <c:formatCode>General</c:formatCode>
                <c:ptCount val="3"/>
                <c:pt idx="0">
                  <c:v>2027</c:v>
                </c:pt>
                <c:pt idx="1">
                  <c:v>2028</c:v>
                </c:pt>
                <c:pt idx="2">
                  <c:v>2029</c:v>
                </c:pt>
              </c:numCache>
            </c:numRef>
          </c:cat>
          <c:val>
            <c:numRef>
              <c:f>'Chart Data'!$B$2:$B$4</c:f>
              <c:numCache>
                <c:formatCode>General</c:formatCode>
                <c:ptCount val="3"/>
                <c:pt idx="0">
                  <c:v>20</c:v>
                </c:pt>
                <c:pt idx="1">
                  <c:v>80</c:v>
                </c:pt>
                <c:pt idx="2">
                  <c:v>200</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12D35"/>
                  </a:solidFill>
                  <a:latin typeface="Ubuntu"/>
                  <a:ea typeface="Ubuntu"/>
                  <a:cs typeface="Ubuntu"/>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12D35"/>
                </a:solidFill>
                <a:latin typeface="Ubuntu"/>
                <a:ea typeface="Ubuntu"/>
                <a:cs typeface="Ubuntu"/>
              </a:defRPr>
            </a:pPr>
          </a:p>
        </c:txPr>
        <c:crossAx val="48672768"/>
      </c:catAx>
      <c:valAx>
        <c:axId val="48672768"/>
        <c:scaling>
          <c:orientation val="minMax"/>
          <c:max val="240"/>
          <c:min val="0"/>
        </c:scaling>
        <c:delete val="0"/>
        <c:axPos val="l"/>
        <c:majorGridlines>
          <c:spPr>
            <a:ln xmlns:a="http://schemas.openxmlformats.org/drawingml/2006/main" w="9525">
              <a:solidFill>
                <a:srgbClr val="C6D3CF"/>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44616A"/>
                </a:solidFill>
                <a:latin typeface="Ubuntu"/>
                <a:ea typeface="Ubuntu"/>
                <a:cs typeface="Ubuntu"/>
              </a:defRPr>
            </a:pPr>
          </a:p>
        </c:txPr>
        <c:crossAx val="48650112"/>
        <c:crossBetween val="between"/>
        <c:majorUnit val="60"/>
      </c:valAx>
      <c:spPr>
        <a:solidFill xmlns:a="http://schemas.openxmlformats.org/drawingml/2006/main">
          <a:srgbClr val="F3F3EB"/>
        </a:solidFill>
      </c:spPr>
    </c:plotArea>
    <c:plotVisOnly val="1"/>
  </c:chart>
  <c:spPr>
    <a:solidFill xmlns:a="http://schemas.openxmlformats.org/drawingml/2006/main">
      <a:srgbClr val="F3F3EB"/>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A24"/>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b0fe81c8fb14931"/>
          <a:srcRect xmlns:a="http://schemas.openxmlformats.org/drawingml/2006/main" l="22446" t="0" r="22446" b="0"/>
          <a:stretch xmlns:a="http://schemas.openxmlformats.org/drawingml/2006/main">
            <a:fillRect l="0" t="0" r="0" b="0"/>
          </a:stretch>
        </p:blipFill>
        <p:spPr>
          <a:xfrm xmlns:a="http://schemas.openxmlformats.org/drawingml/2006/main">
            <a:off x="5476875" y="0"/>
            <a:ext cx="6715125"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E5A4F782-E244-4A38-B60C-F84DFF8868ED}"/>
              </a:ext>
            </a:extLst>
          </p:cNvPr>
          <p:cNvSpPr>
            <a:spLocks xmlns:a="http://schemas.openxmlformats.org/drawingml/2006/main" noGrp="1"/>
          </p:cNvSpPr>
          <p:nvPr/>
        </p:nvSpPr>
        <p:spPr>
          <a:xfrm xmlns:a="http://schemas.openxmlformats.org/drawingml/2006/main">
            <a:off x="590550" y="857250"/>
            <a:ext cx="4619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650" b="1">
                <a:solidFill>
                  <a:srgbClr val="FFFFFF"/>
                </a:solidFill>
                <a:latin typeface="Ubuntu"/>
                <a:ea typeface="Ubuntu"/>
                <a:cs typeface="Ubuntu"/>
              </a:defRPr>
            </a:pPr>
            <a:r>
              <a:rPr sz="4650" b="1">
                <a:solidFill>
                  <a:srgbClr val="FFFFFF"/>
                </a:solidFill>
                <a:latin typeface="Ubuntu"/>
                <a:ea typeface="Ubuntu"/>
                <a:cs typeface="Ubuntu"/>
              </a:rPr>
              <a:t>ECOGRID</a:t>
            </a:r>
          </a:p>
          <a:p xmlns:a="http://schemas.openxmlformats.org/drawingml/2006/main">
            <a:pPr>
              <a:defRPr sz="4650" b="1">
                <a:solidFill>
                  <a:srgbClr val="FFFFFF"/>
                </a:solidFill>
                <a:latin typeface="Ubuntu"/>
                <a:ea typeface="Ubuntu"/>
                <a:cs typeface="Ubuntu"/>
              </a:defRPr>
            </a:pPr>
            <a:r>
              <a:rPr sz="4650" b="1">
                <a:solidFill>
                  <a:srgbClr val="FFFFFF"/>
                </a:solidFill>
                <a:latin typeface="Ubuntu"/>
                <a:ea typeface="Ubuntu"/>
                <a:cs typeface="Ubuntu"/>
              </a:rPr>
              <a:t>RESORT</a:t>
            </a:r>
          </a:p>
        </p:txBody>
      </p:sp>
      <p:sp>
        <p:nvSpPr>
          <p:cNvPr id="3" name="text-2">
            <a:extLst xmlns:a="http://schemas.openxmlformats.org/drawingml/2006/main">
              <a:ext uri="{FF2B5EF4-FFF2-40B4-BE49-F238E27FC236}">
                <a16:creationId xmlns:a16="http://schemas.microsoft.com/office/drawing/2014/main" id="{C73BF5F3-800C-4DAB-B6EF-5FAEBDEA7D40}"/>
              </a:ext>
            </a:extLst>
          </p:cNvPr>
          <p:cNvSpPr>
            <a:spLocks xmlns:a="http://schemas.openxmlformats.org/drawingml/2006/main" noGrp="1"/>
          </p:cNvSpPr>
          <p:nvPr/>
        </p:nvSpPr>
        <p:spPr>
          <a:xfrm xmlns:a="http://schemas.openxmlformats.org/drawingml/2006/main">
            <a:off x="619125" y="2781300"/>
            <a:ext cx="46958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81E2CF"/>
                </a:solidFill>
                <a:latin typeface="Ubuntu"/>
                <a:ea typeface="Ubuntu"/>
                <a:cs typeface="Ubuntu"/>
              </a:defRPr>
            </a:pPr>
            <a:r>
              <a:rPr sz="3525" b="1">
                <a:solidFill>
                  <a:srgbClr val="81E2CF"/>
                </a:solidFill>
                <a:latin typeface="Ubuntu"/>
                <a:ea typeface="Ubuntu"/>
                <a:cs typeface="Ubuntu"/>
              </a:rPr>
              <a:t>Outdoor hospitality.</a:t>
            </a:r>
          </a:p>
          <a:p xmlns:a="http://schemas.openxmlformats.org/drawingml/2006/main">
            <a:pPr>
              <a:defRPr sz="3525" b="1">
                <a:solidFill>
                  <a:srgbClr val="81E2CF"/>
                </a:solidFill>
                <a:latin typeface="Ubuntu"/>
                <a:ea typeface="Ubuntu"/>
                <a:cs typeface="Ubuntu"/>
              </a:defRPr>
            </a:pPr>
            <a:r>
              <a:rPr sz="3525" b="1">
                <a:solidFill>
                  <a:srgbClr val="81E2CF"/>
                </a:solidFill>
                <a:latin typeface="Ubuntu"/>
                <a:ea typeface="Ubuntu"/>
                <a:cs typeface="Ubuntu"/>
              </a:rPr>
              <a:t>Powered smarter.</a:t>
            </a:r>
          </a:p>
        </p:txBody>
      </p:sp>
      <p:sp>
        <p:nvSpPr>
          <p:cNvPr id="4" name="text-3">
            <a:extLst xmlns:a="http://schemas.openxmlformats.org/drawingml/2006/main">
              <a:ext uri="{FF2B5EF4-FFF2-40B4-BE49-F238E27FC236}">
                <a16:creationId xmlns:a16="http://schemas.microsoft.com/office/drawing/2014/main" id="{0CE021AD-BC3C-405E-B66F-75141058FC67}"/>
              </a:ext>
            </a:extLst>
          </p:cNvPr>
          <p:cNvSpPr>
            <a:spLocks xmlns:a="http://schemas.openxmlformats.org/drawingml/2006/main" noGrp="1"/>
          </p:cNvSpPr>
          <p:nvPr/>
        </p:nvSpPr>
        <p:spPr>
          <a:xfrm xmlns:a="http://schemas.openxmlformats.org/drawingml/2006/main">
            <a:off x="638175" y="4362450"/>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E1EFEB"/>
                </a:solidFill>
                <a:latin typeface="Ubuntu"/>
                <a:ea typeface="Ubuntu"/>
                <a:cs typeface="Ubuntu"/>
              </a:defRPr>
            </a:pPr>
            <a:r>
              <a:rPr sz="1875" b="0">
                <a:solidFill>
                  <a:srgbClr val="E1EFEB"/>
                </a:solidFill>
                <a:latin typeface="Ubuntu"/>
                <a:ea typeface="Ubuntu"/>
                <a:cs typeface="Ubuntu"/>
              </a:rPr>
              <a:t>Solar installations, funding support</a:t>
            </a:r>
          </a:p>
          <a:p xmlns:a="http://schemas.openxmlformats.org/drawingml/2006/main">
            <a:pPr>
              <a:defRPr sz="1875" b="0">
                <a:solidFill>
                  <a:srgbClr val="E1EFEB"/>
                </a:solidFill>
                <a:latin typeface="Ubuntu"/>
                <a:ea typeface="Ubuntu"/>
                <a:cs typeface="Ubuntu"/>
              </a:defRPr>
            </a:pPr>
            <a:r>
              <a:rPr sz="1875" b="0">
                <a:solidFill>
                  <a:srgbClr val="E1EFEB"/>
                </a:solidFill>
                <a:latin typeface="Ubuntu"/>
                <a:ea typeface="Ubuntu"/>
                <a:cs typeface="Ubuntu"/>
              </a:rPr>
              <a:t>and energy control for campsites</a:t>
            </a:r>
          </a:p>
          <a:p xmlns:a="http://schemas.openxmlformats.org/drawingml/2006/main">
            <a:pPr>
              <a:defRPr sz="1875" b="0">
                <a:solidFill>
                  <a:srgbClr val="E1EFEB"/>
                </a:solidFill>
                <a:latin typeface="Ubuntu"/>
                <a:ea typeface="Ubuntu"/>
                <a:cs typeface="Ubuntu"/>
              </a:defRPr>
            </a:pPr>
            <a:r>
              <a:rPr sz="1875" b="0">
                <a:solidFill>
                  <a:srgbClr val="E1EFEB"/>
                </a:solidFill>
                <a:latin typeface="Ubuntu"/>
                <a:ea typeface="Ubuntu"/>
                <a:cs typeface="Ubuntu"/>
              </a:rPr>
              <a:t>and holiday resorts.</a:t>
            </a:r>
          </a:p>
        </p:txBody>
      </p:sp>
      <p:sp>
        <p:nvSpPr>
          <p:cNvPr id="5" name="text-4">
            <a:extLst xmlns:a="http://schemas.openxmlformats.org/drawingml/2006/main">
              <a:ext uri="{FF2B5EF4-FFF2-40B4-BE49-F238E27FC236}">
                <a16:creationId xmlns:a16="http://schemas.microsoft.com/office/drawing/2014/main" id="{727024AA-318C-4EF1-A387-4A27806A431A}"/>
              </a:ext>
            </a:extLst>
          </p:cNvPr>
          <p:cNvSpPr>
            <a:spLocks xmlns:a="http://schemas.openxmlformats.org/drawingml/2006/main" noGrp="1"/>
          </p:cNvSpPr>
          <p:nvPr/>
        </p:nvSpPr>
        <p:spPr>
          <a:xfrm xmlns:a="http://schemas.openxmlformats.org/drawingml/2006/main">
            <a:off x="628650" y="5715000"/>
            <a:ext cx="4648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FFFFFF"/>
                </a:solidFill>
                <a:latin typeface="Ubuntu"/>
                <a:ea typeface="Ubuntu"/>
                <a:cs typeface="Ubuntu"/>
              </a:defRPr>
            </a:pPr>
            <a:r>
              <a:rPr sz="2175" b="1">
                <a:solidFill>
                  <a:srgbClr val="FFFFFF"/>
                </a:solidFill>
                <a:latin typeface="Ubuntu"/>
                <a:ea typeface="Ubuntu"/>
                <a:cs typeface="Ubuntu"/>
              </a:rPr>
              <a:t>€700,000 launch round</a:t>
            </a:r>
          </a:p>
        </p:txBody>
      </p:sp>
      <p:sp>
        <p:nvSpPr>
          <p:cNvPr id="6" name="text-5">
            <a:extLst xmlns:a="http://schemas.openxmlformats.org/drawingml/2006/main">
              <a:ext uri="{FF2B5EF4-FFF2-40B4-BE49-F238E27FC236}">
                <a16:creationId xmlns:a16="http://schemas.microsoft.com/office/drawing/2014/main" id="{A6AC9A1F-0705-4DB3-8A5E-F6CF9B076B63}"/>
              </a:ext>
            </a:extLst>
          </p:cNvPr>
          <p:cNvSpPr>
            <a:spLocks xmlns:a="http://schemas.openxmlformats.org/drawingml/2006/main" noGrp="1"/>
          </p:cNvSpPr>
          <p:nvPr/>
        </p:nvSpPr>
        <p:spPr>
          <a:xfrm xmlns:a="http://schemas.openxmlformats.org/drawingml/2006/main">
            <a:off x="638175" y="6400800"/>
            <a:ext cx="457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BAD4D2"/>
                </a:solidFill>
                <a:latin typeface="Ubuntu"/>
                <a:ea typeface="Ubuntu"/>
                <a:cs typeface="Ubuntu"/>
              </a:defRPr>
            </a:pPr>
            <a:r>
              <a:rPr sz="1200" b="0">
                <a:solidFill>
                  <a:srgbClr val="BAD4D2"/>
                </a:solidFill>
                <a:latin typeface="Ubuntu"/>
                <a:ea typeface="Ubuntu"/>
                <a:cs typeface="Ubuntu"/>
              </a:rPr>
              <a:t>Confidential · October 2026</a:t>
            </a:r>
          </a:p>
        </p:txBody>
      </p:sp>
      <p:sp>
        <p:nvSpPr>
          <p:cNvPr id="7" name="text-6">
            <a:extLst xmlns:a="http://schemas.openxmlformats.org/drawingml/2006/main">
              <a:ext uri="{FF2B5EF4-FFF2-40B4-BE49-F238E27FC236}">
                <a16:creationId xmlns:a16="http://schemas.microsoft.com/office/drawing/2014/main" id="{CFEFB1E3-6E09-4586-91A4-60B14860CDFB}"/>
              </a:ext>
            </a:extLst>
          </p:cNvPr>
          <p:cNvSpPr>
            <a:spLocks xmlns:a="http://schemas.openxmlformats.org/drawingml/2006/main" noGrp="1"/>
          </p:cNvSpPr>
          <p:nvPr/>
        </p:nvSpPr>
        <p:spPr>
          <a:xfrm xmlns:a="http://schemas.openxmlformats.org/drawingml/2006/main">
            <a:off x="8343900" y="6477000"/>
            <a:ext cx="3562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FFFFFF"/>
                </a:solidFill>
                <a:latin typeface="Ubuntu"/>
                <a:ea typeface="Ubuntu"/>
                <a:cs typeface="Ubuntu"/>
              </a:defRPr>
            </a:pPr>
            <a:r>
              <a:rPr sz="900" b="0">
                <a:solidFill>
                  <a:srgbClr val="FFFFFF"/>
                </a:solidFill>
                <a:latin typeface="Ubuntu"/>
                <a:ea typeface="Ubuntu"/>
                <a:cs typeface="Ubuntu"/>
              </a:rPr>
              <a:t>AI-generated concept visualization</a:t>
            </a:r>
          </a:p>
        </p:txBody>
      </p:sp>
    </p:spTree>
    <p:extLst>
      <p:ext uri="{BB962C8B-B14F-4D97-AF65-F5344CB8AC3E}">
        <p14:creationId xmlns:p14="http://schemas.microsoft.com/office/powerpoint/2010/main" val="1098441221"/>
      </p:ext>
    </p:extLst>
  </p:cSld>
</p:sld>
</file>

<file path=ppt/slides/slide2.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20" name="text-7">
            <a:extLst xmlns:a="http://schemas.openxmlformats.org/drawingml/2006/main">
              <a:ext uri="{FF2B5EF4-FFF2-40B4-BE49-F238E27FC236}">
                <a16:creationId xmlns:a16="http://schemas.microsoft.com/office/drawing/2014/main" id="{48BCD9D8-BA65-4149-83D3-7730F260FD5F}"/>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Five parts of one offer</a:t>
            </a:r>
          </a:p>
        </p:txBody>
      </p:sp>
      <p:sp>
        <p:nvSpPr>
          <p:cNvPr id="2" name="text-8">
            <a:extLst xmlns:a="http://schemas.openxmlformats.org/drawingml/2006/main">
              <a:ext uri="{FF2B5EF4-FFF2-40B4-BE49-F238E27FC236}">
                <a16:creationId xmlns:a16="http://schemas.microsoft.com/office/drawing/2014/main" id="{18335A15-3F44-4FC0-97ED-A4C97CE4587F}"/>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A shared back office connects acquisition, funding, engineering, delivery and operation.</a:t>
            </a:r>
          </a:p>
        </p:txBody>
      </p:sp>
      <p:sp>
        <p:nvSpPr>
          <p:cNvPr id="3" name="text-9">
            <a:extLst xmlns:a="http://schemas.openxmlformats.org/drawingml/2006/main">
              <a:ext uri="{FF2B5EF4-FFF2-40B4-BE49-F238E27FC236}">
                <a16:creationId xmlns:a16="http://schemas.microsoft.com/office/drawing/2014/main" id="{10144C1B-BDF7-4FFF-BC7E-C0239C463F57}"/>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10">
            <a:extLst xmlns:a="http://schemas.openxmlformats.org/drawingml/2006/main">
              <a:ext uri="{FF2B5EF4-FFF2-40B4-BE49-F238E27FC236}">
                <a16:creationId xmlns:a16="http://schemas.microsoft.com/office/drawing/2014/main" id="{968F5422-DD4B-4845-8F71-3219E0830B9C}"/>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02</a:t>
            </a:r>
          </a:p>
        </p:txBody>
      </p:sp>
      <p:sp>
        <p:nvSpPr>
          <p:cNvPr id="5" name="text-11">
            <a:extLst xmlns:a="http://schemas.openxmlformats.org/drawingml/2006/main">
              <a:ext uri="{FF2B5EF4-FFF2-40B4-BE49-F238E27FC236}">
                <a16:creationId xmlns:a16="http://schemas.microsoft.com/office/drawing/2014/main" id="{570D3FF4-80E1-4759-9831-1D98BBDA3AC9}"/>
              </a:ext>
            </a:extLst>
          </p:cNvPr>
          <p:cNvSpPr>
            <a:spLocks xmlns:a="http://schemas.openxmlformats.org/drawingml/2006/main" noGrp="1"/>
          </p:cNvSpPr>
          <p:nvPr/>
        </p:nvSpPr>
        <p:spPr>
          <a:xfrm xmlns:a="http://schemas.openxmlformats.org/drawingml/2006/main">
            <a:off x="723900" y="2695575"/>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F7A6D"/>
                </a:solidFill>
                <a:latin typeface="Ubuntu"/>
                <a:ea typeface="Ubuntu"/>
                <a:cs typeface="Ubuntu"/>
              </a:defRPr>
            </a:pPr>
            <a:r>
              <a:rPr sz="1950" b="1">
                <a:solidFill>
                  <a:srgbClr val="1F7A6D"/>
                </a:solidFill>
                <a:latin typeface="Ubuntu"/>
                <a:ea typeface="Ubuntu"/>
                <a:cs typeface="Ubuntu"/>
              </a:rPr>
              <a:t>1</a:t>
            </a:r>
          </a:p>
        </p:txBody>
      </p:sp>
      <p:sp>
        <p:nvSpPr>
          <p:cNvPr id="6" name="text-12">
            <a:extLst xmlns:a="http://schemas.openxmlformats.org/drawingml/2006/main">
              <a:ext uri="{FF2B5EF4-FFF2-40B4-BE49-F238E27FC236}">
                <a16:creationId xmlns:a16="http://schemas.microsoft.com/office/drawing/2014/main" id="{108E1EA1-F1DD-4DA6-8362-D27D53F1CADE}"/>
              </a:ext>
            </a:extLst>
          </p:cNvPr>
          <p:cNvSpPr>
            <a:spLocks xmlns:a="http://schemas.openxmlformats.org/drawingml/2006/main" noGrp="1"/>
          </p:cNvSpPr>
          <p:nvPr/>
        </p:nvSpPr>
        <p:spPr>
          <a:xfrm xmlns:a="http://schemas.openxmlformats.org/drawingml/2006/main">
            <a:off x="1276350" y="26955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12D35"/>
                </a:solidFill>
                <a:latin typeface="Ubuntu"/>
                <a:ea typeface="Ubuntu"/>
                <a:cs typeface="Ubuntu"/>
              </a:defRPr>
            </a:pPr>
            <a:r>
              <a:rPr sz="1875" b="1">
                <a:solidFill>
                  <a:srgbClr val="112D35"/>
                </a:solidFill>
                <a:latin typeface="Ubuntu"/>
                <a:ea typeface="Ubuntu"/>
                <a:cs typeface="Ubuntu"/>
              </a:rPr>
              <a:t>CampaignBuilder + wizard</a:t>
            </a:r>
          </a:p>
        </p:txBody>
      </p:sp>
      <p:sp>
        <p:nvSpPr>
          <p:cNvPr id="7" name="text-13">
            <a:extLst xmlns:a="http://schemas.openxmlformats.org/drawingml/2006/main">
              <a:ext uri="{FF2B5EF4-FFF2-40B4-BE49-F238E27FC236}">
                <a16:creationId xmlns:a16="http://schemas.microsoft.com/office/drawing/2014/main" id="{71FF3258-7AA1-4C39-8FD9-D66103929185}"/>
              </a:ext>
            </a:extLst>
          </p:cNvPr>
          <p:cNvSpPr>
            <a:spLocks xmlns:a="http://schemas.openxmlformats.org/drawingml/2006/main" noGrp="1"/>
          </p:cNvSpPr>
          <p:nvPr/>
        </p:nvSpPr>
        <p:spPr>
          <a:xfrm xmlns:a="http://schemas.openxmlformats.org/drawingml/2006/main">
            <a:off x="5905500" y="2695575"/>
            <a:ext cx="554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4616A"/>
                </a:solidFill>
                <a:latin typeface="Ubuntu"/>
                <a:ea typeface="Ubuntu"/>
                <a:cs typeface="Ubuntu"/>
              </a:defRPr>
            </a:pPr>
            <a:r>
              <a:rPr sz="1575" b="0">
                <a:solidFill>
                  <a:srgbClr val="44616A"/>
                </a:solidFill>
                <a:latin typeface="Ubuntu"/>
                <a:ea typeface="Ubuntu"/>
                <a:cs typeface="Ubuntu"/>
              </a:rPr>
              <a:t>Complete site data and purchasing intent before technical review.</a:t>
            </a:r>
          </a:p>
        </p:txBody>
      </p:sp>
      <p:sp>
        <p:nvSpPr>
          <p:cNvPr id="8" name="text-14">
            <a:extLst xmlns:a="http://schemas.openxmlformats.org/drawingml/2006/main">
              <a:ext uri="{FF2B5EF4-FFF2-40B4-BE49-F238E27FC236}">
                <a16:creationId xmlns:a16="http://schemas.microsoft.com/office/drawing/2014/main" id="{570CE869-85AB-47B3-B449-90F32405F193}"/>
              </a:ext>
            </a:extLst>
          </p:cNvPr>
          <p:cNvSpPr>
            <a:spLocks xmlns:a="http://schemas.openxmlformats.org/drawingml/2006/main" noGrp="1"/>
          </p:cNvSpPr>
          <p:nvPr/>
        </p:nvSpPr>
        <p:spPr>
          <a:xfrm xmlns:a="http://schemas.openxmlformats.org/drawingml/2006/main">
            <a:off x="723900" y="3276600"/>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F7A6D"/>
                </a:solidFill>
                <a:latin typeface="Ubuntu"/>
                <a:ea typeface="Ubuntu"/>
                <a:cs typeface="Ubuntu"/>
              </a:defRPr>
            </a:pPr>
            <a:r>
              <a:rPr sz="1950" b="1">
                <a:solidFill>
                  <a:srgbClr val="1F7A6D"/>
                </a:solidFill>
                <a:latin typeface="Ubuntu"/>
                <a:ea typeface="Ubuntu"/>
                <a:cs typeface="Ubuntu"/>
              </a:rPr>
              <a:t>2</a:t>
            </a:r>
          </a:p>
        </p:txBody>
      </p:sp>
      <p:sp>
        <p:nvSpPr>
          <p:cNvPr id="9" name="text-15">
            <a:extLst xmlns:a="http://schemas.openxmlformats.org/drawingml/2006/main">
              <a:ext uri="{FF2B5EF4-FFF2-40B4-BE49-F238E27FC236}">
                <a16:creationId xmlns:a16="http://schemas.microsoft.com/office/drawing/2014/main" id="{198CBF80-56EE-43F4-A4B5-3C11D2BF7729}"/>
              </a:ext>
            </a:extLst>
          </p:cNvPr>
          <p:cNvSpPr>
            <a:spLocks xmlns:a="http://schemas.openxmlformats.org/drawingml/2006/main" noGrp="1"/>
          </p:cNvSpPr>
          <p:nvPr/>
        </p:nvSpPr>
        <p:spPr>
          <a:xfrm xmlns:a="http://schemas.openxmlformats.org/drawingml/2006/main">
            <a:off x="1276350" y="327660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12D35"/>
                </a:solidFill>
                <a:latin typeface="Ubuntu"/>
                <a:ea typeface="Ubuntu"/>
                <a:cs typeface="Ubuntu"/>
              </a:defRPr>
            </a:pPr>
            <a:r>
              <a:rPr sz="1875" b="1">
                <a:solidFill>
                  <a:srgbClr val="112D35"/>
                </a:solidFill>
                <a:latin typeface="Ubuntu"/>
                <a:ea typeface="Ubuntu"/>
                <a:cs typeface="Ubuntu"/>
              </a:rPr>
              <a:t>Grant team + back office</a:t>
            </a:r>
          </a:p>
        </p:txBody>
      </p:sp>
      <p:sp>
        <p:nvSpPr>
          <p:cNvPr id="10" name="text-16">
            <a:extLst xmlns:a="http://schemas.openxmlformats.org/drawingml/2006/main">
              <a:ext uri="{FF2B5EF4-FFF2-40B4-BE49-F238E27FC236}">
                <a16:creationId xmlns:a16="http://schemas.microsoft.com/office/drawing/2014/main" id="{33B637F0-AB84-41A5-ACE9-28D1AC9F15DD}"/>
              </a:ext>
            </a:extLst>
          </p:cNvPr>
          <p:cNvSpPr>
            <a:spLocks xmlns:a="http://schemas.openxmlformats.org/drawingml/2006/main" noGrp="1"/>
          </p:cNvSpPr>
          <p:nvPr/>
        </p:nvSpPr>
        <p:spPr>
          <a:xfrm xmlns:a="http://schemas.openxmlformats.org/drawingml/2006/main">
            <a:off x="5905500" y="3276600"/>
            <a:ext cx="554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4616A"/>
                </a:solidFill>
                <a:latin typeface="Ubuntu"/>
                <a:ea typeface="Ubuntu"/>
                <a:cs typeface="Ubuntu"/>
              </a:defRPr>
            </a:pPr>
            <a:r>
              <a:rPr sz="1575" b="0">
                <a:solidFill>
                  <a:srgbClr val="44616A"/>
                </a:solidFill>
                <a:latin typeface="Ubuntu"/>
                <a:ea typeface="Ubuntu"/>
                <a:cs typeface="Ubuntu"/>
              </a:rPr>
              <a:t>Screen support, prepare applications and track eco-label evidence.</a:t>
            </a:r>
          </a:p>
        </p:txBody>
      </p:sp>
      <p:sp>
        <p:nvSpPr>
          <p:cNvPr id="11" name="text-17">
            <a:extLst xmlns:a="http://schemas.openxmlformats.org/drawingml/2006/main">
              <a:ext uri="{FF2B5EF4-FFF2-40B4-BE49-F238E27FC236}">
                <a16:creationId xmlns:a16="http://schemas.microsoft.com/office/drawing/2014/main" id="{DF50032C-954A-4E16-B9EA-1BF458DF7E65}"/>
              </a:ext>
            </a:extLst>
          </p:cNvPr>
          <p:cNvSpPr>
            <a:spLocks xmlns:a="http://schemas.openxmlformats.org/drawingml/2006/main" noGrp="1"/>
          </p:cNvSpPr>
          <p:nvPr/>
        </p:nvSpPr>
        <p:spPr>
          <a:xfrm xmlns:a="http://schemas.openxmlformats.org/drawingml/2006/main">
            <a:off x="723900" y="3857625"/>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F7A6D"/>
                </a:solidFill>
                <a:latin typeface="Ubuntu"/>
                <a:ea typeface="Ubuntu"/>
                <a:cs typeface="Ubuntu"/>
              </a:defRPr>
            </a:pPr>
            <a:r>
              <a:rPr sz="1950" b="1">
                <a:solidFill>
                  <a:srgbClr val="1F7A6D"/>
                </a:solidFill>
                <a:latin typeface="Ubuntu"/>
                <a:ea typeface="Ubuntu"/>
                <a:cs typeface="Ubuntu"/>
              </a:rPr>
              <a:t>3</a:t>
            </a:r>
          </a:p>
        </p:txBody>
      </p:sp>
      <p:sp>
        <p:nvSpPr>
          <p:cNvPr id="12" name="text-18">
            <a:extLst xmlns:a="http://schemas.openxmlformats.org/drawingml/2006/main">
              <a:ext uri="{FF2B5EF4-FFF2-40B4-BE49-F238E27FC236}">
                <a16:creationId xmlns:a16="http://schemas.microsoft.com/office/drawing/2014/main" id="{17B15F81-DAF4-4BEC-9F52-853FDC0DF1E1}"/>
              </a:ext>
            </a:extLst>
          </p:cNvPr>
          <p:cNvSpPr>
            <a:spLocks xmlns:a="http://schemas.openxmlformats.org/drawingml/2006/main" noGrp="1"/>
          </p:cNvSpPr>
          <p:nvPr/>
        </p:nvSpPr>
        <p:spPr>
          <a:xfrm xmlns:a="http://schemas.openxmlformats.org/drawingml/2006/main">
            <a:off x="1276350" y="38576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12D35"/>
                </a:solidFill>
                <a:latin typeface="Ubuntu"/>
                <a:ea typeface="Ubuntu"/>
                <a:cs typeface="Ubuntu"/>
              </a:defRPr>
            </a:pPr>
            <a:r>
              <a:rPr sz="1875" b="1">
                <a:solidFill>
                  <a:srgbClr val="112D35"/>
                </a:solidFill>
                <a:latin typeface="Ubuntu"/>
                <a:ea typeface="Ubuntu"/>
                <a:cs typeface="Ubuntu"/>
              </a:rPr>
              <a:t>Engineering + cost model</a:t>
            </a:r>
          </a:p>
        </p:txBody>
      </p:sp>
      <p:sp>
        <p:nvSpPr>
          <p:cNvPr id="13" name="text-19">
            <a:extLst xmlns:a="http://schemas.openxmlformats.org/drawingml/2006/main">
              <a:ext uri="{FF2B5EF4-FFF2-40B4-BE49-F238E27FC236}">
                <a16:creationId xmlns:a16="http://schemas.microsoft.com/office/drawing/2014/main" id="{F4035FA7-7545-433E-8EAF-C10DA4A8F2E9}"/>
              </a:ext>
            </a:extLst>
          </p:cNvPr>
          <p:cNvSpPr>
            <a:spLocks xmlns:a="http://schemas.openxmlformats.org/drawingml/2006/main" noGrp="1"/>
          </p:cNvSpPr>
          <p:nvPr/>
        </p:nvSpPr>
        <p:spPr>
          <a:xfrm xmlns:a="http://schemas.openxmlformats.org/drawingml/2006/main">
            <a:off x="5905500" y="3857625"/>
            <a:ext cx="554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4616A"/>
                </a:solidFill>
                <a:latin typeface="Ubuntu"/>
                <a:ea typeface="Ubuntu"/>
                <a:cs typeface="Ubuntu"/>
              </a:defRPr>
            </a:pPr>
            <a:r>
              <a:rPr sz="1575" b="0">
                <a:solidFill>
                  <a:srgbClr val="44616A"/>
                </a:solidFill>
                <a:latin typeface="Ubuntu"/>
                <a:ea typeface="Ubuntu"/>
                <a:cs typeface="Ubuntu"/>
              </a:rPr>
              <a:t>Size PV and storage. Price carports by square metre. Validate quotes.</a:t>
            </a:r>
          </a:p>
        </p:txBody>
      </p:sp>
      <p:sp>
        <p:nvSpPr>
          <p:cNvPr id="14" name="text-20">
            <a:extLst xmlns:a="http://schemas.openxmlformats.org/drawingml/2006/main">
              <a:ext uri="{FF2B5EF4-FFF2-40B4-BE49-F238E27FC236}">
                <a16:creationId xmlns:a16="http://schemas.microsoft.com/office/drawing/2014/main" id="{75A107CD-8EC3-4602-9D0B-AA63821220FD}"/>
              </a:ext>
            </a:extLst>
          </p:cNvPr>
          <p:cNvSpPr>
            <a:spLocks xmlns:a="http://schemas.openxmlformats.org/drawingml/2006/main" noGrp="1"/>
          </p:cNvSpPr>
          <p:nvPr/>
        </p:nvSpPr>
        <p:spPr>
          <a:xfrm xmlns:a="http://schemas.openxmlformats.org/drawingml/2006/main">
            <a:off x="723900" y="4438650"/>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F7A6D"/>
                </a:solidFill>
                <a:latin typeface="Ubuntu"/>
                <a:ea typeface="Ubuntu"/>
                <a:cs typeface="Ubuntu"/>
              </a:defRPr>
            </a:pPr>
            <a:r>
              <a:rPr sz="1950" b="1">
                <a:solidFill>
                  <a:srgbClr val="1F7A6D"/>
                </a:solidFill>
                <a:latin typeface="Ubuntu"/>
                <a:ea typeface="Ubuntu"/>
                <a:cs typeface="Ubuntu"/>
              </a:rPr>
              <a:t>4</a:t>
            </a:r>
          </a:p>
        </p:txBody>
      </p:sp>
      <p:sp>
        <p:nvSpPr>
          <p:cNvPr id="15" name="text-21">
            <a:extLst xmlns:a="http://schemas.openxmlformats.org/drawingml/2006/main">
              <a:ext uri="{FF2B5EF4-FFF2-40B4-BE49-F238E27FC236}">
                <a16:creationId xmlns:a16="http://schemas.microsoft.com/office/drawing/2014/main" id="{12FCF01E-271D-47C5-8F1E-211F0DA1B5C8}"/>
              </a:ext>
            </a:extLst>
          </p:cNvPr>
          <p:cNvSpPr>
            <a:spLocks xmlns:a="http://schemas.openxmlformats.org/drawingml/2006/main" noGrp="1"/>
          </p:cNvSpPr>
          <p:nvPr/>
        </p:nvSpPr>
        <p:spPr>
          <a:xfrm xmlns:a="http://schemas.openxmlformats.org/drawingml/2006/main">
            <a:off x="1276350" y="44386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12D35"/>
                </a:solidFill>
                <a:latin typeface="Ubuntu"/>
                <a:ea typeface="Ubuntu"/>
                <a:cs typeface="Ubuntu"/>
              </a:defRPr>
            </a:pPr>
            <a:r>
              <a:rPr sz="1875" b="1">
                <a:solidFill>
                  <a:srgbClr val="112D35"/>
                </a:solidFill>
                <a:latin typeface="Ubuntu"/>
                <a:ea typeface="Ubuntu"/>
                <a:cs typeface="Ubuntu"/>
              </a:rPr>
              <a:t>Supplier + contractor portals</a:t>
            </a:r>
          </a:p>
        </p:txBody>
      </p:sp>
      <p:sp>
        <p:nvSpPr>
          <p:cNvPr id="16" name="text-22">
            <a:extLst xmlns:a="http://schemas.openxmlformats.org/drawingml/2006/main">
              <a:ext uri="{FF2B5EF4-FFF2-40B4-BE49-F238E27FC236}">
                <a16:creationId xmlns:a16="http://schemas.microsoft.com/office/drawing/2014/main" id="{95CD3EBC-AF6E-446F-9648-940A99B8D5B9}"/>
              </a:ext>
            </a:extLst>
          </p:cNvPr>
          <p:cNvSpPr>
            <a:spLocks xmlns:a="http://schemas.openxmlformats.org/drawingml/2006/main" noGrp="1"/>
          </p:cNvSpPr>
          <p:nvPr/>
        </p:nvSpPr>
        <p:spPr>
          <a:xfrm xmlns:a="http://schemas.openxmlformats.org/drawingml/2006/main">
            <a:off x="5905500" y="4438650"/>
            <a:ext cx="554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4616A"/>
                </a:solidFill>
                <a:latin typeface="Ubuntu"/>
                <a:ea typeface="Ubuntu"/>
                <a:cs typeface="Ubuntu"/>
              </a:defRPr>
            </a:pPr>
            <a:r>
              <a:rPr sz="1575" b="0">
                <a:solidFill>
                  <a:srgbClr val="44616A"/>
                </a:solidFill>
                <a:latin typeface="Ubuntu"/>
                <a:ea typeface="Ubuntu"/>
                <a:cs typeface="Ubuntu"/>
              </a:rPr>
              <a:t>Confirm stock, lead times and installation slots with approved alternatives.</a:t>
            </a:r>
          </a:p>
        </p:txBody>
      </p:sp>
      <p:sp>
        <p:nvSpPr>
          <p:cNvPr id="17" name="text-23">
            <a:extLst xmlns:a="http://schemas.openxmlformats.org/drawingml/2006/main">
              <a:ext uri="{FF2B5EF4-FFF2-40B4-BE49-F238E27FC236}">
                <a16:creationId xmlns:a16="http://schemas.microsoft.com/office/drawing/2014/main" id="{0F7C5176-A75D-4099-9627-38C7927E7FBF}"/>
              </a:ext>
            </a:extLst>
          </p:cNvPr>
          <p:cNvSpPr>
            <a:spLocks xmlns:a="http://schemas.openxmlformats.org/drawingml/2006/main" noGrp="1"/>
          </p:cNvSpPr>
          <p:nvPr/>
        </p:nvSpPr>
        <p:spPr>
          <a:xfrm xmlns:a="http://schemas.openxmlformats.org/drawingml/2006/main">
            <a:off x="723900" y="5019675"/>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F7A6D"/>
                </a:solidFill>
                <a:latin typeface="Ubuntu"/>
                <a:ea typeface="Ubuntu"/>
                <a:cs typeface="Ubuntu"/>
              </a:defRPr>
            </a:pPr>
            <a:r>
              <a:rPr sz="1950" b="1">
                <a:solidFill>
                  <a:srgbClr val="1F7A6D"/>
                </a:solidFill>
                <a:latin typeface="Ubuntu"/>
                <a:ea typeface="Ubuntu"/>
                <a:cs typeface="Ubuntu"/>
              </a:rPr>
              <a:t>5</a:t>
            </a:r>
          </a:p>
        </p:txBody>
      </p:sp>
      <p:sp>
        <p:nvSpPr>
          <p:cNvPr id="18" name="text-24">
            <a:extLst xmlns:a="http://schemas.openxmlformats.org/drawingml/2006/main">
              <a:ext uri="{FF2B5EF4-FFF2-40B4-BE49-F238E27FC236}">
                <a16:creationId xmlns:a16="http://schemas.microsoft.com/office/drawing/2014/main" id="{0E9B4DF0-F048-4076-9D8B-43AEC55A7304}"/>
              </a:ext>
            </a:extLst>
          </p:cNvPr>
          <p:cNvSpPr>
            <a:spLocks xmlns:a="http://schemas.openxmlformats.org/drawingml/2006/main" noGrp="1"/>
          </p:cNvSpPr>
          <p:nvPr/>
        </p:nvSpPr>
        <p:spPr>
          <a:xfrm xmlns:a="http://schemas.openxmlformats.org/drawingml/2006/main">
            <a:off x="1276350" y="5019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12D35"/>
                </a:solidFill>
                <a:latin typeface="Ubuntu"/>
                <a:ea typeface="Ubuntu"/>
                <a:cs typeface="Ubuntu"/>
              </a:defRPr>
            </a:pPr>
            <a:r>
              <a:rPr sz="1875" b="1">
                <a:solidFill>
                  <a:srgbClr val="112D35"/>
                </a:solidFill>
                <a:latin typeface="Ubuntu"/>
                <a:ea typeface="Ubuntu"/>
                <a:cs typeface="Ubuntu"/>
              </a:rPr>
              <a:t>Eco Grid Pilot</a:t>
            </a:r>
          </a:p>
        </p:txBody>
      </p:sp>
      <p:sp>
        <p:nvSpPr>
          <p:cNvPr id="19" name="text-25">
            <a:extLst xmlns:a="http://schemas.openxmlformats.org/drawingml/2006/main">
              <a:ext uri="{FF2B5EF4-FFF2-40B4-BE49-F238E27FC236}">
                <a16:creationId xmlns:a16="http://schemas.microsoft.com/office/drawing/2014/main" id="{13F45002-B97D-4164-B123-97CD5FFD024E}"/>
              </a:ext>
            </a:extLst>
          </p:cNvPr>
          <p:cNvSpPr>
            <a:spLocks xmlns:a="http://schemas.openxmlformats.org/drawingml/2006/main" noGrp="1"/>
          </p:cNvSpPr>
          <p:nvPr/>
        </p:nvSpPr>
        <p:spPr>
          <a:xfrm xmlns:a="http://schemas.openxmlformats.org/drawingml/2006/main">
            <a:off x="5905500" y="5019675"/>
            <a:ext cx="554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4616A"/>
                </a:solidFill>
                <a:latin typeface="Ubuntu"/>
                <a:ea typeface="Ubuntu"/>
                <a:cs typeface="Ubuntu"/>
              </a:defRPr>
            </a:pPr>
            <a:r>
              <a:rPr sz="1575" b="0">
                <a:solidFill>
                  <a:srgbClr val="44616A"/>
                </a:solidFill>
                <a:latin typeface="Ubuntu"/>
                <a:ea typeface="Ubuntu"/>
                <a:cs typeface="Ubuntu"/>
              </a:rPr>
              <a:t>Connect supported inverters and batteries to dispatch available energy.</a:t>
            </a:r>
          </a:p>
        </p:txBody>
      </p:sp>
    </p:spTree>
    <p:extLst>
      <p:ext uri="{BB962C8B-B14F-4D97-AF65-F5344CB8AC3E}">
        <p14:creationId xmlns:p14="http://schemas.microsoft.com/office/powerpoint/2010/main" val="587930652"/>
      </p:ext>
    </p:extLst>
  </p:cSld>
</p:sld>
</file>

<file path=ppt/slides/slide3.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4" name="text-26">
            <a:extLst xmlns:a="http://schemas.openxmlformats.org/drawingml/2006/main">
              <a:ext uri="{FF2B5EF4-FFF2-40B4-BE49-F238E27FC236}">
                <a16:creationId xmlns:a16="http://schemas.microsoft.com/office/drawing/2014/main" id="{B8F467F7-B6E8-48AE-B5D6-585C8F768A3C}"/>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Acquisition starts with a completed wizard</a:t>
            </a:r>
          </a:p>
        </p:txBody>
      </p:sp>
      <p:sp>
        <p:nvSpPr>
          <p:cNvPr id="2" name="text-27">
            <a:extLst xmlns:a="http://schemas.openxmlformats.org/drawingml/2006/main">
              <a:ext uri="{FF2B5EF4-FFF2-40B4-BE49-F238E27FC236}">
                <a16:creationId xmlns:a16="http://schemas.microsoft.com/office/drawing/2014/main" id="{816B4AD5-7909-47E1-9254-8AB4A35AC913}"/>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Year-1 targets convert 200 complete applications into 20 commissioned sites.</a:t>
            </a:r>
          </a:p>
        </p:txBody>
      </p:sp>
      <p:sp>
        <p:nvSpPr>
          <p:cNvPr id="3" name="text-28">
            <a:extLst xmlns:a="http://schemas.openxmlformats.org/drawingml/2006/main">
              <a:ext uri="{FF2B5EF4-FFF2-40B4-BE49-F238E27FC236}">
                <a16:creationId xmlns:a16="http://schemas.microsoft.com/office/drawing/2014/main" id="{8733978B-AA0A-4AD4-919D-8E6DB97212FD}"/>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29">
            <a:extLst xmlns:a="http://schemas.openxmlformats.org/drawingml/2006/main">
              <a:ext uri="{FF2B5EF4-FFF2-40B4-BE49-F238E27FC236}">
                <a16:creationId xmlns:a16="http://schemas.microsoft.com/office/drawing/2014/main" id="{724BAD4A-984C-444A-BD18-2650CF1A25A8}"/>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03</a:t>
            </a:r>
          </a:p>
        </p:txBody>
      </p:sp>
      <p:sp>
        <p:nvSpPr>
          <p:cNvPr id="5" name="text-30">
            <a:extLst xmlns:a="http://schemas.openxmlformats.org/drawingml/2006/main">
              <a:ext uri="{FF2B5EF4-FFF2-40B4-BE49-F238E27FC236}">
                <a16:creationId xmlns:a16="http://schemas.microsoft.com/office/drawing/2014/main" id="{D5A82D7D-964E-4A7C-AFB3-89DCC95F1842}"/>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New targets. Conversion and campaign reach require validation. Completion alone does not prove technical fit.</a:t>
            </a:r>
          </a:p>
        </p:txBody>
      </p:sp>
      <p:sp>
        <p:nvSpPr>
          <p:cNvPr id="6" name="text-31">
            <a:extLst xmlns:a="http://schemas.openxmlformats.org/drawingml/2006/main">
              <a:ext uri="{FF2B5EF4-FFF2-40B4-BE49-F238E27FC236}">
                <a16:creationId xmlns:a16="http://schemas.microsoft.com/office/drawing/2014/main" id="{433B5E55-71E5-4663-BF12-280B4B161BEA}"/>
              </a:ext>
            </a:extLst>
          </p:cNvPr>
          <p:cNvSpPr>
            <a:spLocks xmlns:a="http://schemas.openxmlformats.org/drawingml/2006/main" noGrp="1"/>
          </p:cNvSpPr>
          <p:nvPr/>
        </p:nvSpPr>
        <p:spPr>
          <a:xfrm xmlns:a="http://schemas.openxmlformats.org/drawingml/2006/main">
            <a:off x="714375" y="29146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850" b="1">
                <a:solidFill>
                  <a:srgbClr val="112D35"/>
                </a:solidFill>
                <a:latin typeface="Ubuntu"/>
                <a:ea typeface="Ubuntu"/>
                <a:cs typeface="Ubuntu"/>
              </a:defRPr>
            </a:pPr>
            <a:r>
              <a:rPr sz="5850" b="1">
                <a:solidFill>
                  <a:srgbClr val="112D35"/>
                </a:solidFill>
                <a:latin typeface="Ubuntu"/>
                <a:ea typeface="Ubuntu"/>
                <a:cs typeface="Ubuntu"/>
              </a:rPr>
              <a:t>200</a:t>
            </a:r>
          </a:p>
        </p:txBody>
      </p:sp>
      <p:sp>
        <p:nvSpPr>
          <p:cNvPr id="7" name="text-32">
            <a:extLst xmlns:a="http://schemas.openxmlformats.org/drawingml/2006/main">
              <a:ext uri="{FF2B5EF4-FFF2-40B4-BE49-F238E27FC236}">
                <a16:creationId xmlns:a16="http://schemas.microsoft.com/office/drawing/2014/main" id="{3DBE5575-BD24-4C78-9172-9B26D323D277}"/>
              </a:ext>
            </a:extLst>
          </p:cNvPr>
          <p:cNvSpPr>
            <a:spLocks xmlns:a="http://schemas.openxmlformats.org/drawingml/2006/main" noGrp="1"/>
          </p:cNvSpPr>
          <p:nvPr/>
        </p:nvSpPr>
        <p:spPr>
          <a:xfrm xmlns:a="http://schemas.openxmlformats.org/drawingml/2006/main">
            <a:off x="733425" y="3943350"/>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Completed wizards</a:t>
            </a:r>
          </a:p>
        </p:txBody>
      </p:sp>
      <p:sp>
        <p:nvSpPr>
          <p:cNvPr id="8" name="text-33">
            <a:extLst xmlns:a="http://schemas.openxmlformats.org/drawingml/2006/main">
              <a:ext uri="{FF2B5EF4-FFF2-40B4-BE49-F238E27FC236}">
                <a16:creationId xmlns:a16="http://schemas.microsoft.com/office/drawing/2014/main" id="{E042062F-D1B6-4542-BF5A-9898EB2090E9}"/>
              </a:ext>
            </a:extLst>
          </p:cNvPr>
          <p:cNvSpPr>
            <a:spLocks xmlns:a="http://schemas.openxmlformats.org/drawingml/2006/main" noGrp="1"/>
          </p:cNvSpPr>
          <p:nvPr/>
        </p:nvSpPr>
        <p:spPr>
          <a:xfrm xmlns:a="http://schemas.openxmlformats.org/drawingml/2006/main">
            <a:off x="4381500" y="29146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850" b="1">
                <a:solidFill>
                  <a:srgbClr val="112D35"/>
                </a:solidFill>
                <a:latin typeface="Ubuntu"/>
                <a:ea typeface="Ubuntu"/>
                <a:cs typeface="Ubuntu"/>
              </a:defRPr>
            </a:pPr>
            <a:r>
              <a:rPr sz="5850" b="1">
                <a:solidFill>
                  <a:srgbClr val="112D35"/>
                </a:solidFill>
                <a:latin typeface="Ubuntu"/>
                <a:ea typeface="Ubuntu"/>
                <a:cs typeface="Ubuntu"/>
              </a:rPr>
              <a:t>40</a:t>
            </a:r>
          </a:p>
        </p:txBody>
      </p:sp>
      <p:sp>
        <p:nvSpPr>
          <p:cNvPr id="9" name="text-34">
            <a:extLst xmlns:a="http://schemas.openxmlformats.org/drawingml/2006/main">
              <a:ext uri="{FF2B5EF4-FFF2-40B4-BE49-F238E27FC236}">
                <a16:creationId xmlns:a16="http://schemas.microsoft.com/office/drawing/2014/main" id="{5A9F2413-DBA6-4F3D-AB29-4D79777EA71B}"/>
              </a:ext>
            </a:extLst>
          </p:cNvPr>
          <p:cNvSpPr>
            <a:spLocks xmlns:a="http://schemas.openxmlformats.org/drawingml/2006/main" noGrp="1"/>
          </p:cNvSpPr>
          <p:nvPr/>
        </p:nvSpPr>
        <p:spPr>
          <a:xfrm xmlns:a="http://schemas.openxmlformats.org/drawingml/2006/main">
            <a:off x="4400550" y="3943350"/>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Audited opportunities</a:t>
            </a:r>
          </a:p>
        </p:txBody>
      </p:sp>
      <p:sp>
        <p:nvSpPr>
          <p:cNvPr id="10" name="text-35">
            <a:extLst xmlns:a="http://schemas.openxmlformats.org/drawingml/2006/main">
              <a:ext uri="{FF2B5EF4-FFF2-40B4-BE49-F238E27FC236}">
                <a16:creationId xmlns:a16="http://schemas.microsoft.com/office/drawing/2014/main" id="{6242E5C5-DF54-43F5-84D8-32213225E6E6}"/>
              </a:ext>
            </a:extLst>
          </p:cNvPr>
          <p:cNvSpPr>
            <a:spLocks xmlns:a="http://schemas.openxmlformats.org/drawingml/2006/main" noGrp="1"/>
          </p:cNvSpPr>
          <p:nvPr/>
        </p:nvSpPr>
        <p:spPr>
          <a:xfrm xmlns:a="http://schemas.openxmlformats.org/drawingml/2006/main">
            <a:off x="8048625" y="29146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850" b="1">
                <a:solidFill>
                  <a:srgbClr val="1F7A6D"/>
                </a:solidFill>
                <a:latin typeface="Ubuntu"/>
                <a:ea typeface="Ubuntu"/>
                <a:cs typeface="Ubuntu"/>
              </a:defRPr>
            </a:pPr>
            <a:r>
              <a:rPr sz="5850" b="1">
                <a:solidFill>
                  <a:srgbClr val="1F7A6D"/>
                </a:solidFill>
                <a:latin typeface="Ubuntu"/>
                <a:ea typeface="Ubuntu"/>
                <a:cs typeface="Ubuntu"/>
              </a:rPr>
              <a:t>20</a:t>
            </a:r>
          </a:p>
        </p:txBody>
      </p:sp>
      <p:sp>
        <p:nvSpPr>
          <p:cNvPr id="11" name="text-36">
            <a:extLst xmlns:a="http://schemas.openxmlformats.org/drawingml/2006/main">
              <a:ext uri="{FF2B5EF4-FFF2-40B4-BE49-F238E27FC236}">
                <a16:creationId xmlns:a16="http://schemas.microsoft.com/office/drawing/2014/main" id="{47AC9A0F-D40B-4234-8AFF-BD54B653F5EE}"/>
              </a:ext>
            </a:extLst>
          </p:cNvPr>
          <p:cNvSpPr>
            <a:spLocks xmlns:a="http://schemas.openxmlformats.org/drawingml/2006/main" noGrp="1"/>
          </p:cNvSpPr>
          <p:nvPr/>
        </p:nvSpPr>
        <p:spPr>
          <a:xfrm xmlns:a="http://schemas.openxmlformats.org/drawingml/2006/main">
            <a:off x="8067675" y="3943350"/>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Installed customers</a:t>
            </a:r>
          </a:p>
        </p:txBody>
      </p:sp>
      <p:sp>
        <p:nvSpPr>
          <p:cNvPr id="12" name="text-37">
            <a:extLst xmlns:a="http://schemas.openxmlformats.org/drawingml/2006/main">
              <a:ext uri="{FF2B5EF4-FFF2-40B4-BE49-F238E27FC236}">
                <a16:creationId xmlns:a16="http://schemas.microsoft.com/office/drawing/2014/main" id="{90EB7D15-D4AC-466E-AFA5-6CBDC764B062}"/>
              </a:ext>
            </a:extLst>
          </p:cNvPr>
          <p:cNvSpPr>
            <a:spLocks xmlns:a="http://schemas.openxmlformats.org/drawingml/2006/main" noGrp="1"/>
          </p:cNvSpPr>
          <p:nvPr/>
        </p:nvSpPr>
        <p:spPr>
          <a:xfrm xmlns:a="http://schemas.openxmlformats.org/drawingml/2006/main">
            <a:off x="723900" y="4714875"/>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12D35"/>
                </a:solidFill>
                <a:latin typeface="Ubuntu"/>
                <a:ea typeface="Ubuntu"/>
                <a:cs typeface="Ubuntu"/>
              </a:defRPr>
            </a:pPr>
            <a:r>
              <a:rPr sz="1875" b="1">
                <a:solidFill>
                  <a:srgbClr val="112D35"/>
                </a:solidFill>
                <a:latin typeface="Ubuntu"/>
                <a:ea typeface="Ubuntu"/>
                <a:cs typeface="Ubuntu"/>
              </a:rPr>
              <a:t>12,000-site prospect database target across Spain, Italy and France</a:t>
            </a:r>
          </a:p>
        </p:txBody>
      </p:sp>
      <p:sp>
        <p:nvSpPr>
          <p:cNvPr id="13" name="text-38">
            <a:extLst xmlns:a="http://schemas.openxmlformats.org/drawingml/2006/main">
              <a:ext uri="{FF2B5EF4-FFF2-40B4-BE49-F238E27FC236}">
                <a16:creationId xmlns:a16="http://schemas.microsoft.com/office/drawing/2014/main" id="{3287CB3E-D373-41DE-B439-85DD22FE48F5}"/>
              </a:ext>
            </a:extLst>
          </p:cNvPr>
          <p:cNvSpPr>
            <a:spLocks xmlns:a="http://schemas.openxmlformats.org/drawingml/2006/main" noGrp="1"/>
          </p:cNvSpPr>
          <p:nvPr/>
        </p:nvSpPr>
        <p:spPr>
          <a:xfrm xmlns:a="http://schemas.openxmlformats.org/drawingml/2006/main">
            <a:off x="723900" y="5248275"/>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44616A"/>
                </a:solidFill>
                <a:latin typeface="Ubuntu"/>
                <a:ea typeface="Ubuntu"/>
                <a:cs typeface="Ubuntu"/>
              </a:defRPr>
            </a:pPr>
            <a:r>
              <a:rPr sz="1725" b="0">
                <a:solidFill>
                  <a:srgbClr val="44616A"/>
                </a:solidFill>
                <a:latin typeface="Ubuntu"/>
                <a:ea typeface="Ubuntu"/>
                <a:cs typeface="Ubuntu"/>
              </a:rPr>
              <a:t>€180k sales + marketing budget. €9,000 acquisition cost per installed site.</a:t>
            </a:r>
          </a:p>
        </p:txBody>
      </p:sp>
    </p:spTree>
    <p:extLst>
      <p:ext uri="{BB962C8B-B14F-4D97-AF65-F5344CB8AC3E}">
        <p14:creationId xmlns:p14="http://schemas.microsoft.com/office/powerpoint/2010/main" val="1735910665"/>
      </p:ext>
    </p:extLst>
  </p:cSld>
</p:sld>
</file>

<file path=ppt/slides/slide4.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7" name="text-39">
            <a:extLst xmlns:a="http://schemas.openxmlformats.org/drawingml/2006/main">
              <a:ext uri="{FF2B5EF4-FFF2-40B4-BE49-F238E27FC236}">
                <a16:creationId xmlns:a16="http://schemas.microsoft.com/office/drawing/2014/main" id="{CD1DCC85-2CCB-4FB4-9691-F7938DDB011E}"/>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Nine profiles across size and star rating</a:t>
            </a:r>
          </a:p>
        </p:txBody>
      </p:sp>
      <p:sp>
        <p:nvSpPr>
          <p:cNvPr id="2" name="text-40">
            <a:extLst xmlns:a="http://schemas.openxmlformats.org/drawingml/2006/main">
              <a:ext uri="{FF2B5EF4-FFF2-40B4-BE49-F238E27FC236}">
                <a16:creationId xmlns:a16="http://schemas.microsoft.com/office/drawing/2014/main" id="{60577F81-8D9B-446B-AC86-032D49C148CD}"/>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ECOGRID delivery cost and net facility savings for the proposed solar-first package.</a:t>
            </a:r>
          </a:p>
        </p:txBody>
      </p:sp>
      <p:sp>
        <p:nvSpPr>
          <p:cNvPr id="3" name="text-41">
            <a:extLst xmlns:a="http://schemas.openxmlformats.org/drawingml/2006/main">
              <a:ext uri="{FF2B5EF4-FFF2-40B4-BE49-F238E27FC236}">
                <a16:creationId xmlns:a16="http://schemas.microsoft.com/office/drawing/2014/main" id="{33122383-5E50-4DDF-A00A-ED77A49BBF96}"/>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42">
            <a:extLst xmlns:a="http://schemas.openxmlformats.org/drawingml/2006/main">
              <a:ext uri="{FF2B5EF4-FFF2-40B4-BE49-F238E27FC236}">
                <a16:creationId xmlns:a16="http://schemas.microsoft.com/office/drawing/2014/main" id="{634F4E18-61A0-4ECE-8885-043184210500}"/>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04</a:t>
            </a:r>
          </a:p>
        </p:txBody>
      </p:sp>
      <p:sp>
        <p:nvSpPr>
          <p:cNvPr id="5" name="text-43">
            <a:extLst xmlns:a="http://schemas.openxmlformats.org/drawingml/2006/main">
              <a:ext uri="{FF2B5EF4-FFF2-40B4-BE49-F238E27FC236}">
                <a16:creationId xmlns:a16="http://schemas.microsoft.com/office/drawing/2014/main" id="{AB8A7259-2005-42D2-864E-648371949FD3}"/>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Baseline €0.22/kWh, no grant. Net savings deduct software + maintenance. Costs are budget estimates, excluding VAT.</a:t>
            </a:r>
          </a:p>
        </p:txBody>
      </p:sp>
      <p:graphicFrame>
        <p:nvGraphicFramePr>
          <p:cNvPr id="12" name=""/>
          <p:cNvGraphicFramePr/>
          <p:nvPr/>
        </p:nvGraphicFramePr>
        <p:xfrm>
          <a:off xmlns:a="http://schemas.openxmlformats.org/drawingml/2006/main" x="704850" y="2571750"/>
          <a:ext xmlns:a="http://schemas.openxmlformats.org/drawingml/2006/main" cx="10782300" cy="3086100"/>
        </p:xfrm>
        <a:graphic xmlns:a="http://schemas.openxmlformats.org/drawingml/2006/main">
          <a:graphicData uri="http://schemas.openxmlformats.org/drawingml/2006/table">
            <a:tbl>
              <a:tblPr firstRow="1" bandRow="0"/>
              <a:tblGrid>
                <a:gridCol w="3095625"/>
                <a:gridCol w="2428875"/>
                <a:gridCol w="2428875"/>
                <a:gridCol w="2828925"/>
              </a:tblGrid>
              <a:tr h="308610">
                <a:tc>
                  <a:txBody>
                    <a:bodyPr/>
                    <a:lstStyle/>
                    <a:p>
                      <a:r>
                        <a:rPr sz="1575" b="1">
                          <a:solidFill>
                            <a:srgbClr val="FFFFFF"/>
                          </a:solidFill>
                          <a:latin typeface="Ubuntu"/>
                          <a:ea typeface="Ubuntu"/>
                          <a:cs typeface="Ubuntu"/>
                        </a:rPr>
                        <a:t>Facility</a:t>
                      </a:r>
                    </a:p>
                  </a:txBody>
                  <a:tcPr marL="114300" marR="114300" marT="85725" marB="85725" anchor="ctr">
                    <a:solidFill>
                      <a:srgbClr val="1F7A6D"/>
                    </a:solidFill>
                  </a:tcPr>
                </a:tc>
                <a:tc>
                  <a:txBody>
                    <a:bodyPr/>
                    <a:lstStyle/>
                    <a:p>
                      <a:r>
                        <a:rPr sz="1575" b="1">
                          <a:solidFill>
                            <a:srgbClr val="FFFFFF"/>
                          </a:solidFill>
                          <a:latin typeface="Ubuntu"/>
                          <a:ea typeface="Ubuntu"/>
                          <a:cs typeface="Ubuntu"/>
                        </a:rPr>
                        <a:t>ECOGRID cost</a:t>
                      </a:r>
                    </a:p>
                  </a:txBody>
                  <a:tcPr marL="114300" marR="114300" marT="85725" marB="85725" anchor="ctr">
                    <a:solidFill>
                      <a:srgbClr val="1F7A6D"/>
                    </a:solidFill>
                  </a:tcPr>
                </a:tc>
                <a:tc>
                  <a:txBody>
                    <a:bodyPr/>
                    <a:lstStyle/>
                    <a:p>
                      <a:r>
                        <a:rPr sz="1575" b="1">
                          <a:solidFill>
                            <a:srgbClr val="FFFFFF"/>
                          </a:solidFill>
                          <a:latin typeface="Ubuntu"/>
                          <a:ea typeface="Ubuntu"/>
                          <a:cs typeface="Ubuntu"/>
                        </a:rPr>
                        <a:t>Client price</a:t>
                      </a:r>
                    </a:p>
                  </a:txBody>
                  <a:tcPr marL="114300" marR="114300" marT="85725" marB="85725" anchor="ctr">
                    <a:solidFill>
                      <a:srgbClr val="1F7A6D"/>
                    </a:solidFill>
                  </a:tcPr>
                </a:tc>
                <a:tc>
                  <a:txBody>
                    <a:bodyPr/>
                    <a:lstStyle/>
                    <a:p>
                      <a:r>
                        <a:rPr sz="1575" b="1">
                          <a:solidFill>
                            <a:srgbClr val="FFFFFF"/>
                          </a:solidFill>
                          <a:latin typeface="Ubuntu"/>
                          <a:ea typeface="Ubuntu"/>
                          <a:cs typeface="Ubuntu"/>
                        </a:rPr>
                        <a:t>Net savings / yr</a:t>
                      </a:r>
                    </a:p>
                  </a:txBody>
                  <a:tcPr marL="114300" marR="114300" marT="85725" marB="85725" anchor="ctr">
                    <a:solidFill>
                      <a:srgbClr val="1F7A6D"/>
                    </a:solidFill>
                  </a:tcPr>
                </a:tc>
              </a:tr>
              <a:tr h="308610">
                <a:tc>
                  <a:txBody>
                    <a:bodyPr/>
                    <a:lstStyle/>
                    <a:p>
                      <a:r>
                        <a:rPr sz="1575">
                          <a:solidFill>
                            <a:srgbClr val="112D35"/>
                          </a:solidFill>
                          <a:latin typeface="Ubuntu"/>
                          <a:ea typeface="Ubuntu"/>
                          <a:cs typeface="Ubuntu"/>
                        </a:rPr>
                        <a:t>3★ Small</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€50.2k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€77.2k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€4.6k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4★ Small</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€60.7k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€93.3k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€7.0k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5★ Small</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€80.0k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€123.0k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€11.2k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3★ Medium</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€229.6k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€353.2k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€31.9k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4★ Medium</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€301.5k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€463.8k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€45.8k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5★ Medium</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€399.6k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€614.8k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€64.6k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3★ Large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€600.2k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€923.4k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€95.9k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4★ Large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€790.5k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€1.22m</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€131.6k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5★ Large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€982.6k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€1.51m</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€168.5k</a:t>
                      </a:r>
                    </a:p>
                  </a:txBody>
                  <a:tcPr marL="114300" marR="114300" marT="85725" marB="85725" anchor="ctr">
                    <a:solidFill>
                      <a:srgbClr val="F3F3EB"/>
                    </a:solidFill>
                  </a:tcPr>
                </a:tc>
              </a:tr>
            </a:tbl>
          </a:graphicData>
        </a:graphic>
      </p:graphicFrame>
    </p:spTree>
    <p:extLst>
      <p:ext uri="{BB962C8B-B14F-4D97-AF65-F5344CB8AC3E}">
        <p14:creationId xmlns:p14="http://schemas.microsoft.com/office/powerpoint/2010/main" val="1129639949"/>
      </p:ext>
    </p:extLst>
  </p:cSld>
</p:sld>
</file>

<file path=ppt/slides/slide5.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7" name="text-44">
            <a:extLst xmlns:a="http://schemas.openxmlformats.org/drawingml/2006/main">
              <a:ext uri="{FF2B5EF4-FFF2-40B4-BE49-F238E27FC236}">
                <a16:creationId xmlns:a16="http://schemas.microsoft.com/office/drawing/2014/main" id="{C61E23FA-20B0-4E55-BD41-31E0B0DA47C2}"/>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Medium and Large sites lead the rollout</a:t>
            </a:r>
          </a:p>
        </p:txBody>
      </p:sp>
      <p:sp>
        <p:nvSpPr>
          <p:cNvPr id="2" name="text-45">
            <a:extLst xmlns:a="http://schemas.openxmlformats.org/drawingml/2006/main">
              <a:ext uri="{FF2B5EF4-FFF2-40B4-BE49-F238E27FC236}">
                <a16:creationId xmlns:a16="http://schemas.microsoft.com/office/drawing/2014/main" id="{F8590CE7-5A5C-4F0C-AF34-CF41D6F228CD}"/>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The mix weights project scale without forcing costly storage onto smaller sites.</a:t>
            </a:r>
          </a:p>
        </p:txBody>
      </p:sp>
      <p:sp>
        <p:nvSpPr>
          <p:cNvPr id="3" name="text-46">
            <a:extLst xmlns:a="http://schemas.openxmlformats.org/drawingml/2006/main">
              <a:ext uri="{FF2B5EF4-FFF2-40B4-BE49-F238E27FC236}">
                <a16:creationId xmlns:a16="http://schemas.microsoft.com/office/drawing/2014/main" id="{E25A52EC-EFFC-4AF9-BB07-56E130B7E471}"/>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47">
            <a:extLst xmlns:a="http://schemas.openxmlformats.org/drawingml/2006/main">
              <a:ext uri="{FF2B5EF4-FFF2-40B4-BE49-F238E27FC236}">
                <a16:creationId xmlns:a16="http://schemas.microsoft.com/office/drawing/2014/main" id="{AA5D55E6-7ADD-4A62-8AEF-7323634FB57D}"/>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05</a:t>
            </a:r>
          </a:p>
        </p:txBody>
      </p:sp>
      <p:sp>
        <p:nvSpPr>
          <p:cNvPr id="5" name="text-48">
            <a:extLst xmlns:a="http://schemas.openxmlformats.org/drawingml/2006/main">
              <a:ext uri="{FF2B5EF4-FFF2-40B4-BE49-F238E27FC236}">
                <a16:creationId xmlns:a16="http://schemas.microsoft.com/office/drawing/2014/main" id="{612755DD-0B1B-4358-8178-47F326220ECF}"/>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Small-site paybacks are weaker. Selective solar-only entry offers need individual commercial validation.</a:t>
            </a:r>
          </a:p>
        </p:txBody>
      </p:sp>
      <p:sp>
        <p:nvSpPr>
          <p:cNvPr id="6" name="text-49">
            <a:extLst xmlns:a="http://schemas.openxmlformats.org/drawingml/2006/main">
              <a:ext uri="{FF2B5EF4-FFF2-40B4-BE49-F238E27FC236}">
                <a16:creationId xmlns:a16="http://schemas.microsoft.com/office/drawing/2014/main" id="{30C976C8-9F5E-4A4E-80DE-E2C376AE561F}"/>
              </a:ext>
            </a:extLst>
          </p:cNvPr>
          <p:cNvSpPr>
            <a:spLocks xmlns:a="http://schemas.openxmlformats.org/drawingml/2006/main" noGrp="1"/>
          </p:cNvSpPr>
          <p:nvPr/>
        </p:nvSpPr>
        <p:spPr>
          <a:xfrm xmlns:a="http://schemas.openxmlformats.org/drawingml/2006/main">
            <a:off x="723900" y="28575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175" b="1">
                <a:solidFill>
                  <a:srgbClr val="112D35"/>
                </a:solidFill>
                <a:latin typeface="Ubuntu"/>
                <a:ea typeface="Ubuntu"/>
                <a:cs typeface="Ubuntu"/>
              </a:defRPr>
            </a:pPr>
            <a:r>
              <a:rPr sz="5175" b="1">
                <a:solidFill>
                  <a:srgbClr val="112D35"/>
                </a:solidFill>
                <a:latin typeface="Ubuntu"/>
                <a:ea typeface="Ubuntu"/>
                <a:cs typeface="Ubuntu"/>
              </a:rPr>
              <a:t>20%</a:t>
            </a:r>
          </a:p>
        </p:txBody>
      </p:sp>
      <p:sp>
        <p:nvSpPr>
          <p:cNvPr id="7" name="text-50">
            <a:extLst xmlns:a="http://schemas.openxmlformats.org/drawingml/2006/main">
              <a:ext uri="{FF2B5EF4-FFF2-40B4-BE49-F238E27FC236}">
                <a16:creationId xmlns:a16="http://schemas.microsoft.com/office/drawing/2014/main" id="{CCF0E701-5E0E-452F-B470-4A28CDBB5C44}"/>
              </a:ext>
            </a:extLst>
          </p:cNvPr>
          <p:cNvSpPr>
            <a:spLocks xmlns:a="http://schemas.openxmlformats.org/drawingml/2006/main" noGrp="1"/>
          </p:cNvSpPr>
          <p:nvPr/>
        </p:nvSpPr>
        <p:spPr>
          <a:xfrm xmlns:a="http://schemas.openxmlformats.org/drawingml/2006/main">
            <a:off x="752475" y="38195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12D35"/>
                </a:solidFill>
                <a:latin typeface="Ubuntu"/>
                <a:ea typeface="Ubuntu"/>
                <a:cs typeface="Ubuntu"/>
              </a:defRPr>
            </a:pPr>
            <a:r>
              <a:rPr sz="2175" b="1">
                <a:solidFill>
                  <a:srgbClr val="112D35"/>
                </a:solidFill>
                <a:latin typeface="Ubuntu"/>
                <a:ea typeface="Ubuntu"/>
                <a:cs typeface="Ubuntu"/>
              </a:rPr>
              <a:t>Small</a:t>
            </a:r>
          </a:p>
        </p:txBody>
      </p:sp>
      <p:sp>
        <p:nvSpPr>
          <p:cNvPr id="8" name="text-51">
            <a:extLst xmlns:a="http://schemas.openxmlformats.org/drawingml/2006/main">
              <a:ext uri="{FF2B5EF4-FFF2-40B4-BE49-F238E27FC236}">
                <a16:creationId xmlns:a16="http://schemas.microsoft.com/office/drawing/2014/main" id="{C4BEC29A-E4ED-41F4-8B40-6ABD6199AA43}"/>
              </a:ext>
            </a:extLst>
          </p:cNvPr>
          <p:cNvSpPr>
            <a:spLocks xmlns:a="http://schemas.openxmlformats.org/drawingml/2006/main" noGrp="1"/>
          </p:cNvSpPr>
          <p:nvPr/>
        </p:nvSpPr>
        <p:spPr>
          <a:xfrm xmlns:a="http://schemas.openxmlformats.org/drawingml/2006/main">
            <a:off x="752475" y="43529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4616A"/>
                </a:solidFill>
                <a:latin typeface="Ubuntu"/>
                <a:ea typeface="Ubuntu"/>
                <a:cs typeface="Ubuntu"/>
              </a:defRPr>
            </a:pPr>
            <a:r>
              <a:rPr sz="1650" b="0">
                <a:solidFill>
                  <a:srgbClr val="44616A"/>
                </a:solidFill>
                <a:latin typeface="Ubuntu"/>
                <a:ea typeface="Ubuntu"/>
                <a:cs typeface="Ubuntu"/>
              </a:rPr>
              <a:t>50–150 pitches</a:t>
            </a:r>
          </a:p>
        </p:txBody>
      </p:sp>
      <p:sp>
        <p:nvSpPr>
          <p:cNvPr id="9" name="text-52">
            <a:extLst xmlns:a="http://schemas.openxmlformats.org/drawingml/2006/main">
              <a:ext uri="{FF2B5EF4-FFF2-40B4-BE49-F238E27FC236}">
                <a16:creationId xmlns:a16="http://schemas.microsoft.com/office/drawing/2014/main" id="{33843260-0DD9-42BA-8B9B-00E0AC0BDCD2}"/>
              </a:ext>
            </a:extLst>
          </p:cNvPr>
          <p:cNvSpPr>
            <a:spLocks xmlns:a="http://schemas.openxmlformats.org/drawingml/2006/main" noGrp="1"/>
          </p:cNvSpPr>
          <p:nvPr/>
        </p:nvSpPr>
        <p:spPr>
          <a:xfrm xmlns:a="http://schemas.openxmlformats.org/drawingml/2006/main">
            <a:off x="4371975" y="28575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175" b="1">
                <a:solidFill>
                  <a:srgbClr val="1F7A6D"/>
                </a:solidFill>
                <a:latin typeface="Ubuntu"/>
                <a:ea typeface="Ubuntu"/>
                <a:cs typeface="Ubuntu"/>
              </a:defRPr>
            </a:pPr>
            <a:r>
              <a:rPr sz="5175" b="1">
                <a:solidFill>
                  <a:srgbClr val="1F7A6D"/>
                </a:solidFill>
                <a:latin typeface="Ubuntu"/>
                <a:ea typeface="Ubuntu"/>
                <a:cs typeface="Ubuntu"/>
              </a:rPr>
              <a:t>55%</a:t>
            </a:r>
          </a:p>
        </p:txBody>
      </p:sp>
      <p:sp>
        <p:nvSpPr>
          <p:cNvPr id="10" name="text-53">
            <a:extLst xmlns:a="http://schemas.openxmlformats.org/drawingml/2006/main">
              <a:ext uri="{FF2B5EF4-FFF2-40B4-BE49-F238E27FC236}">
                <a16:creationId xmlns:a16="http://schemas.microsoft.com/office/drawing/2014/main" id="{58B3AED9-5FB0-4BB7-953B-8FD52C8C3A3A}"/>
              </a:ext>
            </a:extLst>
          </p:cNvPr>
          <p:cNvSpPr>
            <a:spLocks xmlns:a="http://schemas.openxmlformats.org/drawingml/2006/main" noGrp="1"/>
          </p:cNvSpPr>
          <p:nvPr/>
        </p:nvSpPr>
        <p:spPr>
          <a:xfrm xmlns:a="http://schemas.openxmlformats.org/drawingml/2006/main">
            <a:off x="4400550" y="38195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12D35"/>
                </a:solidFill>
                <a:latin typeface="Ubuntu"/>
                <a:ea typeface="Ubuntu"/>
                <a:cs typeface="Ubuntu"/>
              </a:defRPr>
            </a:pPr>
            <a:r>
              <a:rPr sz="2175" b="1">
                <a:solidFill>
                  <a:srgbClr val="112D35"/>
                </a:solidFill>
                <a:latin typeface="Ubuntu"/>
                <a:ea typeface="Ubuntu"/>
                <a:cs typeface="Ubuntu"/>
              </a:rPr>
              <a:t>Medium</a:t>
            </a:r>
          </a:p>
        </p:txBody>
      </p:sp>
      <p:sp>
        <p:nvSpPr>
          <p:cNvPr id="11" name="text-54">
            <a:extLst xmlns:a="http://schemas.openxmlformats.org/drawingml/2006/main">
              <a:ext uri="{FF2B5EF4-FFF2-40B4-BE49-F238E27FC236}">
                <a16:creationId xmlns:a16="http://schemas.microsoft.com/office/drawing/2014/main" id="{B4761F36-A21E-42C8-B7AD-3095A6D13094}"/>
              </a:ext>
            </a:extLst>
          </p:cNvPr>
          <p:cNvSpPr>
            <a:spLocks xmlns:a="http://schemas.openxmlformats.org/drawingml/2006/main" noGrp="1"/>
          </p:cNvSpPr>
          <p:nvPr/>
        </p:nvSpPr>
        <p:spPr>
          <a:xfrm xmlns:a="http://schemas.openxmlformats.org/drawingml/2006/main">
            <a:off x="4400550" y="43529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4616A"/>
                </a:solidFill>
                <a:latin typeface="Ubuntu"/>
                <a:ea typeface="Ubuntu"/>
                <a:cs typeface="Ubuntu"/>
              </a:defRPr>
            </a:pPr>
            <a:r>
              <a:rPr sz="1650" b="0">
                <a:solidFill>
                  <a:srgbClr val="44616A"/>
                </a:solidFill>
                <a:latin typeface="Ubuntu"/>
                <a:ea typeface="Ubuntu"/>
                <a:cs typeface="Ubuntu"/>
              </a:rPr>
              <a:t>150–350 pitches</a:t>
            </a:r>
          </a:p>
        </p:txBody>
      </p:sp>
      <p:sp>
        <p:nvSpPr>
          <p:cNvPr id="12" name="text-55">
            <a:extLst xmlns:a="http://schemas.openxmlformats.org/drawingml/2006/main">
              <a:ext uri="{FF2B5EF4-FFF2-40B4-BE49-F238E27FC236}">
                <a16:creationId xmlns:a16="http://schemas.microsoft.com/office/drawing/2014/main" id="{5BF94933-6E45-46CB-9984-82581E3A82FB}"/>
              </a:ext>
            </a:extLst>
          </p:cNvPr>
          <p:cNvSpPr>
            <a:spLocks xmlns:a="http://schemas.openxmlformats.org/drawingml/2006/main" noGrp="1"/>
          </p:cNvSpPr>
          <p:nvPr/>
        </p:nvSpPr>
        <p:spPr>
          <a:xfrm xmlns:a="http://schemas.openxmlformats.org/drawingml/2006/main">
            <a:off x="8020050" y="28575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175" b="1">
                <a:solidFill>
                  <a:srgbClr val="112D35"/>
                </a:solidFill>
                <a:latin typeface="Ubuntu"/>
                <a:ea typeface="Ubuntu"/>
                <a:cs typeface="Ubuntu"/>
              </a:defRPr>
            </a:pPr>
            <a:r>
              <a:rPr sz="5175" b="1">
                <a:solidFill>
                  <a:srgbClr val="112D35"/>
                </a:solidFill>
                <a:latin typeface="Ubuntu"/>
                <a:ea typeface="Ubuntu"/>
                <a:cs typeface="Ubuntu"/>
              </a:rPr>
              <a:t>25%</a:t>
            </a:r>
          </a:p>
        </p:txBody>
      </p:sp>
      <p:sp>
        <p:nvSpPr>
          <p:cNvPr id="13" name="text-56">
            <a:extLst xmlns:a="http://schemas.openxmlformats.org/drawingml/2006/main">
              <a:ext uri="{FF2B5EF4-FFF2-40B4-BE49-F238E27FC236}">
                <a16:creationId xmlns:a16="http://schemas.microsoft.com/office/drawing/2014/main" id="{786C757D-381C-4F34-97D6-F1688B1D4B8F}"/>
              </a:ext>
            </a:extLst>
          </p:cNvPr>
          <p:cNvSpPr>
            <a:spLocks xmlns:a="http://schemas.openxmlformats.org/drawingml/2006/main" noGrp="1"/>
          </p:cNvSpPr>
          <p:nvPr/>
        </p:nvSpPr>
        <p:spPr>
          <a:xfrm xmlns:a="http://schemas.openxmlformats.org/drawingml/2006/main">
            <a:off x="8048625" y="38195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12D35"/>
                </a:solidFill>
                <a:latin typeface="Ubuntu"/>
                <a:ea typeface="Ubuntu"/>
                <a:cs typeface="Ubuntu"/>
              </a:defRPr>
            </a:pPr>
            <a:r>
              <a:rPr sz="2175" b="1">
                <a:solidFill>
                  <a:srgbClr val="112D35"/>
                </a:solidFill>
                <a:latin typeface="Ubuntu"/>
                <a:ea typeface="Ubuntu"/>
                <a:cs typeface="Ubuntu"/>
              </a:rPr>
              <a:t>Large</a:t>
            </a:r>
          </a:p>
        </p:txBody>
      </p:sp>
      <p:sp>
        <p:nvSpPr>
          <p:cNvPr id="14" name="text-57">
            <a:extLst xmlns:a="http://schemas.openxmlformats.org/drawingml/2006/main">
              <a:ext uri="{FF2B5EF4-FFF2-40B4-BE49-F238E27FC236}">
                <a16:creationId xmlns:a16="http://schemas.microsoft.com/office/drawing/2014/main" id="{F722B908-65C3-4796-8941-87A034A99507}"/>
              </a:ext>
            </a:extLst>
          </p:cNvPr>
          <p:cNvSpPr>
            <a:spLocks xmlns:a="http://schemas.openxmlformats.org/drawingml/2006/main" noGrp="1"/>
          </p:cNvSpPr>
          <p:nvPr/>
        </p:nvSpPr>
        <p:spPr>
          <a:xfrm xmlns:a="http://schemas.openxmlformats.org/drawingml/2006/main">
            <a:off x="8048625" y="43529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4616A"/>
                </a:solidFill>
                <a:latin typeface="Ubuntu"/>
                <a:ea typeface="Ubuntu"/>
                <a:cs typeface="Ubuntu"/>
              </a:defRPr>
            </a:pPr>
            <a:r>
              <a:rPr sz="1650" b="0">
                <a:solidFill>
                  <a:srgbClr val="44616A"/>
                </a:solidFill>
                <a:latin typeface="Ubuntu"/>
                <a:ea typeface="Ubuntu"/>
                <a:cs typeface="Ubuntu"/>
              </a:rPr>
              <a:t>350–700 pitches</a:t>
            </a:r>
          </a:p>
        </p:txBody>
      </p:sp>
      <p:sp>
        <p:nvSpPr>
          <p:cNvPr id="15" name="text-58">
            <a:extLst xmlns:a="http://schemas.openxmlformats.org/drawingml/2006/main">
              <a:ext uri="{FF2B5EF4-FFF2-40B4-BE49-F238E27FC236}">
                <a16:creationId xmlns:a16="http://schemas.microsoft.com/office/drawing/2014/main" id="{7784AF73-CBC5-4E3F-8728-1284DF4B6B08}"/>
              </a:ext>
            </a:extLst>
          </p:cNvPr>
          <p:cNvSpPr>
            <a:spLocks xmlns:a="http://schemas.openxmlformats.org/drawingml/2006/main" noGrp="1"/>
          </p:cNvSpPr>
          <p:nvPr/>
        </p:nvSpPr>
        <p:spPr>
          <a:xfrm xmlns:a="http://schemas.openxmlformats.org/drawingml/2006/main">
            <a:off x="742950" y="4991100"/>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12D35"/>
                </a:solidFill>
                <a:latin typeface="Ubuntu"/>
                <a:ea typeface="Ubuntu"/>
                <a:cs typeface="Ubuntu"/>
              </a:defRPr>
            </a:pPr>
            <a:r>
              <a:rPr sz="2025" b="1">
                <a:solidFill>
                  <a:srgbClr val="112D35"/>
                </a:solidFill>
                <a:latin typeface="Ubuntu"/>
                <a:ea typeface="Ubuntu"/>
                <a:cs typeface="Ubuntu"/>
              </a:rPr>
              <a:t>Weighted delivery cost €398.1k / site</a:t>
            </a:r>
          </a:p>
        </p:txBody>
      </p:sp>
      <p:sp>
        <p:nvSpPr>
          <p:cNvPr id="16" name="text-59">
            <a:extLst xmlns:a="http://schemas.openxmlformats.org/drawingml/2006/main">
              <a:ext uri="{FF2B5EF4-FFF2-40B4-BE49-F238E27FC236}">
                <a16:creationId xmlns:a16="http://schemas.microsoft.com/office/drawing/2014/main" id="{2225BE5D-CA21-4983-BCCF-5068DE21EBA8}"/>
              </a:ext>
            </a:extLst>
          </p:cNvPr>
          <p:cNvSpPr>
            <a:spLocks xmlns:a="http://schemas.openxmlformats.org/drawingml/2006/main" noGrp="1"/>
          </p:cNvSpPr>
          <p:nvPr/>
        </p:nvSpPr>
        <p:spPr>
          <a:xfrm xmlns:a="http://schemas.openxmlformats.org/drawingml/2006/main">
            <a:off x="7477125" y="4991100"/>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F7A6D"/>
                </a:solidFill>
                <a:latin typeface="Ubuntu"/>
                <a:ea typeface="Ubuntu"/>
                <a:cs typeface="Ubuntu"/>
              </a:defRPr>
            </a:pPr>
            <a:r>
              <a:rPr sz="1950" b="1">
                <a:solidFill>
                  <a:srgbClr val="1F7A6D"/>
                </a:solidFill>
                <a:latin typeface="Ubuntu"/>
                <a:ea typeface="Ubuntu"/>
                <a:cs typeface="Ubuntu"/>
              </a:rPr>
              <a:t>Weighted client price €612.5k</a:t>
            </a:r>
          </a:p>
        </p:txBody>
      </p:sp>
    </p:spTree>
    <p:extLst>
      <p:ext uri="{BB962C8B-B14F-4D97-AF65-F5344CB8AC3E}">
        <p14:creationId xmlns:p14="http://schemas.microsoft.com/office/powerpoint/2010/main" val="147544409"/>
      </p:ext>
    </p:extLst>
  </p:cSld>
</p:sld>
</file>

<file path=ppt/slides/slide6.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7" name="text-60">
            <a:extLst xmlns:a="http://schemas.openxmlformats.org/drawingml/2006/main">
              <a:ext uri="{FF2B5EF4-FFF2-40B4-BE49-F238E27FC236}">
                <a16:creationId xmlns:a16="http://schemas.microsoft.com/office/drawing/2014/main" id="{42E1371B-1B35-4AD0-AD9A-2BB7182307C4}"/>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A 4-star Medium site, priced by quantity</a:t>
            </a:r>
          </a:p>
        </p:txBody>
      </p:sp>
      <p:sp>
        <p:nvSpPr>
          <p:cNvPr id="2" name="text-61">
            <a:extLst xmlns:a="http://schemas.openxmlformats.org/drawingml/2006/main">
              <a:ext uri="{FF2B5EF4-FFF2-40B4-BE49-F238E27FC236}">
                <a16:creationId xmlns:a16="http://schemas.microsoft.com/office/drawing/2014/main" id="{3920FF6C-90C3-4966-9BE4-AD164D837BEA}"/>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374 modules. 205.7 kWp PV. 130 kWh storage. 194 m² carport structure.</a:t>
            </a:r>
          </a:p>
        </p:txBody>
      </p:sp>
      <p:sp>
        <p:nvSpPr>
          <p:cNvPr id="3" name="text-62">
            <a:extLst xmlns:a="http://schemas.openxmlformats.org/drawingml/2006/main">
              <a:ext uri="{FF2B5EF4-FFF2-40B4-BE49-F238E27FC236}">
                <a16:creationId xmlns:a16="http://schemas.microsoft.com/office/drawing/2014/main" id="{91563EA6-C758-4E62-A80B-C3321BA89816}"/>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63">
            <a:extLst xmlns:a="http://schemas.openxmlformats.org/drawingml/2006/main">
              <a:ext uri="{FF2B5EF4-FFF2-40B4-BE49-F238E27FC236}">
                <a16:creationId xmlns:a16="http://schemas.microsoft.com/office/drawing/2014/main" id="{74312F98-A800-435C-BABC-EFE26A6F3118}"/>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06</a:t>
            </a:r>
          </a:p>
        </p:txBody>
      </p:sp>
      <p:sp>
        <p:nvSpPr>
          <p:cNvPr id="5" name="text-64">
            <a:extLst xmlns:a="http://schemas.openxmlformats.org/drawingml/2006/main">
              <a:ext uri="{FF2B5EF4-FFF2-40B4-BE49-F238E27FC236}">
                <a16:creationId xmlns:a16="http://schemas.microsoft.com/office/drawing/2014/main" id="{43001B10-9487-4CA2-A163-4728F98CC478}"/>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PV €900/kWp. Battery €300/kWh. Structure €180/m². New budget hypotheses, subject to engineering and partner quotes.</a:t>
            </a:r>
          </a:p>
        </p:txBody>
      </p:sp>
      <p:graphicFrame>
        <p:nvGraphicFramePr>
          <p:cNvPr id="12" name=""/>
          <p:cNvGraphicFramePr/>
          <p:nvPr/>
        </p:nvGraphicFramePr>
        <p:xfrm>
          <a:off xmlns:a="http://schemas.openxmlformats.org/drawingml/2006/main" x="704850" y="2647950"/>
          <a:ext xmlns:a="http://schemas.openxmlformats.org/drawingml/2006/main" cx="10782300" cy="3000375"/>
        </p:xfrm>
        <a:graphic xmlns:a="http://schemas.openxmlformats.org/drawingml/2006/main">
          <a:graphicData uri="http://schemas.openxmlformats.org/drawingml/2006/table">
            <a:tbl>
              <a:tblPr firstRow="1" bandRow="0"/>
              <a:tblGrid>
                <a:gridCol w="3886200"/>
                <a:gridCol w="4067175"/>
                <a:gridCol w="2828925"/>
              </a:tblGrid>
              <a:tr h="428625">
                <a:tc>
                  <a:txBody>
                    <a:bodyPr/>
                    <a:lstStyle/>
                    <a:p>
                      <a:r>
                        <a:rPr sz="1575" b="1">
                          <a:solidFill>
                            <a:srgbClr val="FFFFFF"/>
                          </a:solidFill>
                          <a:latin typeface="Ubuntu"/>
                          <a:ea typeface="Ubuntu"/>
                          <a:cs typeface="Ubuntu"/>
                        </a:rPr>
                        <a:t>Installation scope</a:t>
                      </a:r>
                    </a:p>
                  </a:txBody>
                  <a:tcPr marL="114300" marR="114300" marT="85725" marB="85725" anchor="ctr">
                    <a:solidFill>
                      <a:srgbClr val="1F7A6D"/>
                    </a:solidFill>
                  </a:tcPr>
                </a:tc>
                <a:tc>
                  <a:txBody>
                    <a:bodyPr/>
                    <a:lstStyle/>
                    <a:p>
                      <a:r>
                        <a:rPr sz="1575" b="1">
                          <a:solidFill>
                            <a:srgbClr val="FFFFFF"/>
                          </a:solidFill>
                          <a:latin typeface="Ubuntu"/>
                          <a:ea typeface="Ubuntu"/>
                          <a:cs typeface="Ubuntu"/>
                        </a:rPr>
                        <a:t>Cost basis</a:t>
                      </a:r>
                    </a:p>
                  </a:txBody>
                  <a:tcPr marL="114300" marR="114300" marT="85725" marB="85725" anchor="ctr">
                    <a:solidFill>
                      <a:srgbClr val="1F7A6D"/>
                    </a:solidFill>
                  </a:tcPr>
                </a:tc>
                <a:tc>
                  <a:txBody>
                    <a:bodyPr/>
                    <a:lstStyle/>
                    <a:p>
                      <a:r>
                        <a:rPr sz="1575" b="1">
                          <a:solidFill>
                            <a:srgbClr val="FFFFFF"/>
                          </a:solidFill>
                          <a:latin typeface="Ubuntu"/>
                          <a:ea typeface="Ubuntu"/>
                          <a:cs typeface="Ubuntu"/>
                        </a:rPr>
                        <a:t>Budget</a:t>
                      </a:r>
                    </a:p>
                  </a:txBody>
                  <a:tcPr marL="114300" marR="114300" marT="85725" marB="85725" anchor="ctr">
                    <a:solidFill>
                      <a:srgbClr val="1F7A6D"/>
                    </a:solidFill>
                  </a:tcPr>
                </a:tc>
              </a:tr>
              <a:tr h="428625">
                <a:tc>
                  <a:txBody>
                    <a:bodyPr/>
                    <a:lstStyle/>
                    <a:p>
                      <a:r>
                        <a:rPr sz="1575">
                          <a:solidFill>
                            <a:srgbClr val="112D35"/>
                          </a:solidFill>
                          <a:latin typeface="Ubuntu"/>
                          <a:ea typeface="Ubuntu"/>
                          <a:cs typeface="Ubuntu"/>
                        </a:rPr>
                        <a:t>PV package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205.7 kWp × €900</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€185,130</a:t>
                      </a:r>
                    </a:p>
                  </a:txBody>
                  <a:tcPr marL="114300" marR="114300" marT="85725" marB="85725" anchor="ctr">
                    <a:solidFill>
                      <a:srgbClr val="F3F3EB"/>
                    </a:solidFill>
                  </a:tcPr>
                </a:tc>
              </a:tr>
              <a:tr h="428625">
                <a:tc>
                  <a:txBody>
                    <a:bodyPr/>
                    <a:lstStyle/>
                    <a:p>
                      <a:r>
                        <a:rPr sz="1575">
                          <a:solidFill>
                            <a:srgbClr val="112D35"/>
                          </a:solidFill>
                          <a:latin typeface="Ubuntu"/>
                          <a:ea typeface="Ubuntu"/>
                          <a:cs typeface="Ubuntu"/>
                        </a:rPr>
                        <a:t>Battery package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130 kWh × €300</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€39,000</a:t>
                      </a:r>
                    </a:p>
                  </a:txBody>
                  <a:tcPr marL="114300" marR="114300" marT="85725" marB="85725" anchor="ctr">
                    <a:solidFill>
                      <a:srgbClr val="F3F3EB"/>
                    </a:solidFill>
                  </a:tcPr>
                </a:tc>
              </a:tr>
              <a:tr h="428625">
                <a:tc>
                  <a:txBody>
                    <a:bodyPr/>
                    <a:lstStyle/>
                    <a:p>
                      <a:r>
                        <a:rPr sz="1575">
                          <a:solidFill>
                            <a:srgbClr val="112D35"/>
                          </a:solidFill>
                          <a:latin typeface="Ubuntu"/>
                          <a:ea typeface="Ubuntu"/>
                          <a:cs typeface="Ubuntu"/>
                        </a:rPr>
                        <a:t>Carport structure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194 m² × €180</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€34,920</a:t>
                      </a:r>
                    </a:p>
                  </a:txBody>
                  <a:tcPr marL="114300" marR="114300" marT="85725" marB="85725" anchor="ctr">
                    <a:solidFill>
                      <a:srgbClr val="F3F3EB"/>
                    </a:solidFill>
                  </a:tcPr>
                </a:tc>
              </a:tr>
              <a:tr h="428625">
                <a:tc>
                  <a:txBody>
                    <a:bodyPr/>
                    <a:lstStyle/>
                    <a:p>
                      <a:r>
                        <a:rPr sz="1575">
                          <a:solidFill>
                            <a:srgbClr val="112D35"/>
                          </a:solidFill>
                          <a:latin typeface="Ubuntu"/>
                          <a:ea typeface="Ubuntu"/>
                          <a:cs typeface="Ubuntu"/>
                        </a:rPr>
                        <a:t>Engineering + controls</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Medium-site allowance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€15,000</a:t>
                      </a:r>
                    </a:p>
                  </a:txBody>
                  <a:tcPr marL="114300" marR="114300" marT="85725" marB="85725" anchor="ctr">
                    <a:solidFill>
                      <a:srgbClr val="F3F3EB"/>
                    </a:solidFill>
                  </a:tcPr>
                </a:tc>
              </a:tr>
              <a:tr h="428625">
                <a:tc>
                  <a:txBody>
                    <a:bodyPr/>
                    <a:lstStyle/>
                    <a:p>
                      <a:r>
                        <a:rPr sz="1575">
                          <a:solidFill>
                            <a:srgbClr val="112D35"/>
                          </a:solidFill>
                          <a:latin typeface="Ubuntu"/>
                          <a:ea typeface="Ubuntu"/>
                          <a:cs typeface="Ubuntu"/>
                        </a:rPr>
                        <a:t>Delivery contingency</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10% of subtotal</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€27,405</a:t>
                      </a:r>
                    </a:p>
                  </a:txBody>
                  <a:tcPr marL="114300" marR="114300" marT="85725" marB="85725" anchor="ctr">
                    <a:solidFill>
                      <a:srgbClr val="F3F3EB"/>
                    </a:solidFill>
                  </a:tcPr>
                </a:tc>
              </a:tr>
              <a:tr h="428625">
                <a:tc>
                  <a:txBody>
                    <a:bodyPr/>
                    <a:lstStyle/>
                    <a:p>
                      <a:r>
                        <a:rPr sz="1575">
                          <a:solidFill>
                            <a:srgbClr val="112D35"/>
                          </a:solidFill>
                          <a:latin typeface="Ubuntu"/>
                          <a:ea typeface="Ubuntu"/>
                          <a:cs typeface="Ubuntu"/>
                        </a:rPr>
                        <a:t>Total delivery cost</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Excluding VAT</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€301,455</a:t>
                      </a:r>
                    </a:p>
                  </a:txBody>
                  <a:tcPr marL="114300" marR="114300" marT="85725" marB="85725" anchor="ctr">
                    <a:solidFill>
                      <a:srgbClr val="F3F3EB"/>
                    </a:solidFill>
                  </a:tcPr>
                </a:tc>
              </a:tr>
            </a:tbl>
          </a:graphicData>
        </a:graphic>
      </p:graphicFrame>
    </p:spTree>
    <p:extLst>
      <p:ext uri="{BB962C8B-B14F-4D97-AF65-F5344CB8AC3E}">
        <p14:creationId xmlns:p14="http://schemas.microsoft.com/office/powerpoint/2010/main" val="1813337166"/>
      </p:ext>
    </p:extLst>
  </p:cSld>
</p:sld>
</file>

<file path=ppt/slides/slide7.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4" name="text-65">
            <a:extLst xmlns:a="http://schemas.openxmlformats.org/drawingml/2006/main">
              <a:ext uri="{FF2B5EF4-FFF2-40B4-BE49-F238E27FC236}">
                <a16:creationId xmlns:a16="http://schemas.microsoft.com/office/drawing/2014/main" id="{A348A474-9769-4F37-8F54-39D223F196E8}"/>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Funding support is a dedicated service</a:t>
            </a:r>
          </a:p>
        </p:txBody>
      </p:sp>
      <p:sp>
        <p:nvSpPr>
          <p:cNvPr id="2" name="text-66">
            <a:extLst xmlns:a="http://schemas.openxmlformats.org/drawingml/2006/main">
              <a:ext uri="{FF2B5EF4-FFF2-40B4-BE49-F238E27FC236}">
                <a16:creationId xmlns:a16="http://schemas.microsoft.com/office/drawing/2014/main" id="{5670C442-D184-407E-85B4-3B1606275F77}"/>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Country rules and application evidence live in one back-office workflow.</a:t>
            </a:r>
          </a:p>
        </p:txBody>
      </p:sp>
      <p:sp>
        <p:nvSpPr>
          <p:cNvPr id="3" name="text-67">
            <a:extLst xmlns:a="http://schemas.openxmlformats.org/drawingml/2006/main">
              <a:ext uri="{FF2B5EF4-FFF2-40B4-BE49-F238E27FC236}">
                <a16:creationId xmlns:a16="http://schemas.microsoft.com/office/drawing/2014/main" id="{B13A2614-E8DE-43C4-85A0-01923DEB30D5}"/>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68">
            <a:extLst xmlns:a="http://schemas.openxmlformats.org/drawingml/2006/main">
              <a:ext uri="{FF2B5EF4-FFF2-40B4-BE49-F238E27FC236}">
                <a16:creationId xmlns:a16="http://schemas.microsoft.com/office/drawing/2014/main" id="{1BD84F80-1B26-4FEA-B272-1BE1317E02FD}"/>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07</a:t>
            </a:r>
          </a:p>
        </p:txBody>
      </p:sp>
      <p:sp>
        <p:nvSpPr>
          <p:cNvPr id="5" name="text-69">
            <a:extLst xmlns:a="http://schemas.openxmlformats.org/drawingml/2006/main">
              <a:ext uri="{FF2B5EF4-FFF2-40B4-BE49-F238E27FC236}">
                <a16:creationId xmlns:a16="http://schemas.microsoft.com/office/drawing/2014/main" id="{B7EF9AA5-8A95-4226-96C9-709DD15C7F00}"/>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No grant awards or success fees in the forecast. Grants, tax relief, loans and export payments are different instruments.</a:t>
            </a:r>
          </a:p>
        </p:txBody>
      </p:sp>
      <p:sp>
        <p:nvSpPr>
          <p:cNvPr id="6" name="text-70">
            <a:extLst xmlns:a="http://schemas.openxmlformats.org/drawingml/2006/main">
              <a:ext uri="{FF2B5EF4-FFF2-40B4-BE49-F238E27FC236}">
                <a16:creationId xmlns:a16="http://schemas.microsoft.com/office/drawing/2014/main" id="{8CE1434F-6CC8-49C2-8134-F75D9E84101B}"/>
              </a:ext>
            </a:extLst>
          </p:cNvPr>
          <p:cNvSpPr>
            <a:spLocks xmlns:a="http://schemas.openxmlformats.org/drawingml/2006/main" noGrp="1"/>
          </p:cNvSpPr>
          <p:nvPr/>
        </p:nvSpPr>
        <p:spPr>
          <a:xfrm xmlns:a="http://schemas.openxmlformats.org/drawingml/2006/main">
            <a:off x="723900" y="27336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F7A6D"/>
                </a:solidFill>
                <a:latin typeface="Ubuntu"/>
                <a:ea typeface="Ubuntu"/>
                <a:cs typeface="Ubuntu"/>
              </a:defRPr>
            </a:pPr>
            <a:r>
              <a:rPr sz="2100" b="1">
                <a:solidFill>
                  <a:srgbClr val="1F7A6D"/>
                </a:solidFill>
                <a:latin typeface="Ubuntu"/>
                <a:ea typeface="Ubuntu"/>
                <a:cs typeface="Ubuntu"/>
              </a:rPr>
              <a:t>Launch markets</a:t>
            </a:r>
          </a:p>
        </p:txBody>
      </p:sp>
      <p:sp>
        <p:nvSpPr>
          <p:cNvPr id="7" name="text-71">
            <a:extLst xmlns:a="http://schemas.openxmlformats.org/drawingml/2006/main">
              <a:ext uri="{FF2B5EF4-FFF2-40B4-BE49-F238E27FC236}">
                <a16:creationId xmlns:a16="http://schemas.microsoft.com/office/drawing/2014/main" id="{AE73F85B-16B2-442A-A25F-2E8229AA3A2F}"/>
              </a:ext>
            </a:extLst>
          </p:cNvPr>
          <p:cNvSpPr>
            <a:spLocks xmlns:a="http://schemas.openxmlformats.org/drawingml/2006/main" noGrp="1"/>
          </p:cNvSpPr>
          <p:nvPr/>
        </p:nvSpPr>
        <p:spPr>
          <a:xfrm xmlns:a="http://schemas.openxmlformats.org/drawingml/2006/main">
            <a:off x="723900" y="3305175"/>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Spain</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Current regional / IDAE eligibility</a:t>
            </a:r>
          </a:p>
        </p:txBody>
      </p:sp>
      <p:sp>
        <p:nvSpPr>
          <p:cNvPr id="8" name="text-72">
            <a:extLst xmlns:a="http://schemas.openxmlformats.org/drawingml/2006/main">
              <a:ext uri="{FF2B5EF4-FFF2-40B4-BE49-F238E27FC236}">
                <a16:creationId xmlns:a16="http://schemas.microsoft.com/office/drawing/2014/main" id="{AA649B2F-7BE6-4533-9539-2229AD8C5E5D}"/>
              </a:ext>
            </a:extLst>
          </p:cNvPr>
          <p:cNvSpPr>
            <a:spLocks xmlns:a="http://schemas.openxmlformats.org/drawingml/2006/main" noGrp="1"/>
          </p:cNvSpPr>
          <p:nvPr/>
        </p:nvSpPr>
        <p:spPr>
          <a:xfrm xmlns:a="http://schemas.openxmlformats.org/drawingml/2006/main">
            <a:off x="723900" y="4114800"/>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Italy</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Regional calls / GSE configuration checks</a:t>
            </a:r>
          </a:p>
        </p:txBody>
      </p:sp>
      <p:sp>
        <p:nvSpPr>
          <p:cNvPr id="9" name="text-73">
            <a:extLst xmlns:a="http://schemas.openxmlformats.org/drawingml/2006/main">
              <a:ext uri="{FF2B5EF4-FFF2-40B4-BE49-F238E27FC236}">
                <a16:creationId xmlns:a16="http://schemas.microsoft.com/office/drawing/2014/main" id="{4ABA99BE-6C6A-4635-8FEC-235C1D57E5C8}"/>
              </a:ext>
            </a:extLst>
          </p:cNvPr>
          <p:cNvSpPr>
            <a:spLocks xmlns:a="http://schemas.openxmlformats.org/drawingml/2006/main" noGrp="1"/>
          </p:cNvSpPr>
          <p:nvPr/>
        </p:nvSpPr>
        <p:spPr>
          <a:xfrm xmlns:a="http://schemas.openxmlformats.org/drawingml/2006/main">
            <a:off x="723900" y="4924425"/>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France</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ADEME / regional funding eligibility</a:t>
            </a:r>
          </a:p>
        </p:txBody>
      </p:sp>
      <p:sp>
        <p:nvSpPr>
          <p:cNvPr id="10" name="text-74">
            <a:extLst xmlns:a="http://schemas.openxmlformats.org/drawingml/2006/main">
              <a:ext uri="{FF2B5EF4-FFF2-40B4-BE49-F238E27FC236}">
                <a16:creationId xmlns:a16="http://schemas.microsoft.com/office/drawing/2014/main" id="{2B1FE3E6-028E-4DF2-864F-1C880D79270C}"/>
              </a:ext>
            </a:extLst>
          </p:cNvPr>
          <p:cNvSpPr>
            <a:spLocks xmlns:a="http://schemas.openxmlformats.org/drawingml/2006/main" noGrp="1"/>
          </p:cNvSpPr>
          <p:nvPr/>
        </p:nvSpPr>
        <p:spPr>
          <a:xfrm xmlns:a="http://schemas.openxmlformats.org/drawingml/2006/main">
            <a:off x="6496050" y="27336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F7A6D"/>
                </a:solidFill>
                <a:latin typeface="Ubuntu"/>
                <a:ea typeface="Ubuntu"/>
                <a:cs typeface="Ubuntu"/>
              </a:defRPr>
            </a:pPr>
            <a:r>
              <a:rPr sz="2100" b="1">
                <a:solidFill>
                  <a:srgbClr val="1F7A6D"/>
                </a:solidFill>
                <a:latin typeface="Ubuntu"/>
                <a:ea typeface="Ubuntu"/>
                <a:cs typeface="Ubuntu"/>
              </a:rPr>
              <a:t>Expansion and EU routes</a:t>
            </a:r>
          </a:p>
        </p:txBody>
      </p:sp>
      <p:sp>
        <p:nvSpPr>
          <p:cNvPr id="11" name="text-75">
            <a:extLst xmlns:a="http://schemas.openxmlformats.org/drawingml/2006/main">
              <a:ext uri="{FF2B5EF4-FFF2-40B4-BE49-F238E27FC236}">
                <a16:creationId xmlns:a16="http://schemas.microsoft.com/office/drawing/2014/main" id="{15A629C8-2BA0-4FF9-915D-8658DB3A151A}"/>
              </a:ext>
            </a:extLst>
          </p:cNvPr>
          <p:cNvSpPr>
            <a:spLocks xmlns:a="http://schemas.openxmlformats.org/drawingml/2006/main" noGrp="1"/>
          </p:cNvSpPr>
          <p:nvPr/>
        </p:nvSpPr>
        <p:spPr>
          <a:xfrm xmlns:a="http://schemas.openxmlformats.org/drawingml/2006/main">
            <a:off x="6496050" y="3314700"/>
            <a:ext cx="4857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Belgium, Netherlands, UK</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Separate country and regional support screens</a:t>
            </a:r>
          </a:p>
        </p:txBody>
      </p:sp>
      <p:sp>
        <p:nvSpPr>
          <p:cNvPr id="12" name="text-76">
            <a:extLst xmlns:a="http://schemas.openxmlformats.org/drawingml/2006/main">
              <a:ext uri="{FF2B5EF4-FFF2-40B4-BE49-F238E27FC236}">
                <a16:creationId xmlns:a16="http://schemas.microsoft.com/office/drawing/2014/main" id="{1AEA2B42-2668-429F-9060-C96FD34191C5}"/>
              </a:ext>
            </a:extLst>
          </p:cNvPr>
          <p:cNvSpPr>
            <a:spLocks xmlns:a="http://schemas.openxmlformats.org/drawingml/2006/main" noGrp="1"/>
          </p:cNvSpPr>
          <p:nvPr/>
        </p:nvSpPr>
        <p:spPr>
          <a:xfrm xmlns:a="http://schemas.openxmlformats.org/drawingml/2006/main">
            <a:off x="6496050" y="4286250"/>
            <a:ext cx="4857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European Union</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Competitive LIFE calls and eco-label criteria</a:t>
            </a:r>
          </a:p>
        </p:txBody>
      </p:sp>
      <p:sp>
        <p:nvSpPr>
          <p:cNvPr id="13" name="text-77">
            <a:extLst xmlns:a="http://schemas.openxmlformats.org/drawingml/2006/main">
              <a:ext uri="{FF2B5EF4-FFF2-40B4-BE49-F238E27FC236}">
                <a16:creationId xmlns:a16="http://schemas.microsoft.com/office/drawing/2014/main" id="{D16E9CEE-71D6-4A0B-B3D9-F4EAD2A79819}"/>
              </a:ext>
            </a:extLst>
          </p:cNvPr>
          <p:cNvSpPr>
            <a:spLocks xmlns:a="http://schemas.openxmlformats.org/drawingml/2006/main" noGrp="1"/>
          </p:cNvSpPr>
          <p:nvPr/>
        </p:nvSpPr>
        <p:spPr>
          <a:xfrm xmlns:a="http://schemas.openxmlformats.org/drawingml/2006/main">
            <a:off x="6496050" y="52768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4616A"/>
                </a:solidFill>
                <a:latin typeface="Ubuntu"/>
                <a:ea typeface="Ubuntu"/>
                <a:cs typeface="Ubuntu"/>
              </a:defRPr>
            </a:pPr>
            <a:r>
              <a:rPr sz="1650" b="0">
                <a:solidFill>
                  <a:srgbClr val="44616A"/>
                </a:solidFill>
                <a:latin typeface="Ubuntu"/>
                <a:ea typeface="Ubuntu"/>
                <a:cs typeface="Ubuntu"/>
              </a:rPr>
              <a:t>Dedicated team prepares and tracks dossiers</a:t>
            </a:r>
          </a:p>
        </p:txBody>
      </p:sp>
    </p:spTree>
    <p:extLst>
      <p:ext uri="{BB962C8B-B14F-4D97-AF65-F5344CB8AC3E}">
        <p14:creationId xmlns:p14="http://schemas.microsoft.com/office/powerpoint/2010/main" val="241322965"/>
      </p:ext>
    </p:extLst>
  </p:cSld>
</p:sld>
</file>

<file path=ppt/slides/slide8.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0" name="text-78">
            <a:extLst xmlns:a="http://schemas.openxmlformats.org/drawingml/2006/main">
              <a:ext uri="{FF2B5EF4-FFF2-40B4-BE49-F238E27FC236}">
                <a16:creationId xmlns:a16="http://schemas.microsoft.com/office/drawing/2014/main" id="{4854D3DD-4530-42D4-9F93-EDBE586D395F}"/>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Eco Grid Pilot follows the site load</a:t>
            </a:r>
          </a:p>
        </p:txBody>
      </p:sp>
      <p:sp>
        <p:nvSpPr>
          <p:cNvPr id="2" name="text-79">
            <a:extLst xmlns:a="http://schemas.openxmlformats.org/drawingml/2006/main">
              <a:ext uri="{FF2B5EF4-FFF2-40B4-BE49-F238E27FC236}">
                <a16:creationId xmlns:a16="http://schemas.microsoft.com/office/drawing/2014/main" id="{B9BEAF48-12BC-4471-8A47-835C9D90ADED}"/>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Planned control software directs production, storage and permitted export.</a:t>
            </a:r>
          </a:p>
        </p:txBody>
      </p:sp>
      <p:sp>
        <p:nvSpPr>
          <p:cNvPr id="3" name="text-80">
            <a:extLst xmlns:a="http://schemas.openxmlformats.org/drawingml/2006/main">
              <a:ext uri="{FF2B5EF4-FFF2-40B4-BE49-F238E27FC236}">
                <a16:creationId xmlns:a16="http://schemas.microsoft.com/office/drawing/2014/main" id="{5C2C889F-0225-4C68-B731-B362E68E54AD}"/>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81">
            <a:extLst xmlns:a="http://schemas.openxmlformats.org/drawingml/2006/main">
              <a:ext uri="{FF2B5EF4-FFF2-40B4-BE49-F238E27FC236}">
                <a16:creationId xmlns:a16="http://schemas.microsoft.com/office/drawing/2014/main" id="{4DD46CF0-D4A1-425B-8113-3CAA8A3CF8BB}"/>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08</a:t>
            </a:r>
          </a:p>
        </p:txBody>
      </p:sp>
      <p:sp>
        <p:nvSpPr>
          <p:cNvPr id="5" name="text-82">
            <a:extLst xmlns:a="http://schemas.openxmlformats.org/drawingml/2006/main">
              <a:ext uri="{FF2B5EF4-FFF2-40B4-BE49-F238E27FC236}">
                <a16:creationId xmlns:a16="http://schemas.microsoft.com/office/drawing/2014/main" id="{06AAE5D6-93D6-4E0A-9BE9-29007DF8FFCA}"/>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Illustrative kW values, not telemetry. Battery availability, local controls and grid permission constrain dispatch.</a:t>
            </a:r>
          </a:p>
        </p:txBody>
      </p:sp>
      <p:graphicFrame>
        <p:nvGraphicFramePr>
          <p:cNvPr id="15" name="Chart"/>
          <p:cNvGraphicFramePr/>
          <p:nvPr/>
        </p:nvGraphicFramePr>
        <p:xfrm>
          <a:off xmlns:a="http://schemas.openxmlformats.org/drawingml/2006/main" x="685800" y="2714625"/>
          <a:ext xmlns:a="http://schemas.openxmlformats.org/drawingml/2006/main" cx="6667500" cy="2952750"/>
        </p:xfrm>
        <a:graphic xmlns:a="http://schemas.openxmlformats.org/drawingml/2006/main">
          <a:graphicData uri="http://schemas.openxmlformats.org/drawingml/2006/chart">
            <c:chart xmlns:r="http://schemas.openxmlformats.org/officeDocument/2006/relationships" xmlns:c="http://schemas.openxmlformats.org/drawingml/2006/chart" r:id="Rc6b64f74a1844157"/>
          </a:graphicData>
        </a:graphic>
      </p:graphicFrame>
      <p:sp>
        <p:nvSpPr>
          <p:cNvPr id="7" name="text-83">
            <a:extLst xmlns:a="http://schemas.openxmlformats.org/drawingml/2006/main">
              <a:ext uri="{FF2B5EF4-FFF2-40B4-BE49-F238E27FC236}">
                <a16:creationId xmlns:a16="http://schemas.microsoft.com/office/drawing/2014/main" id="{15BC3C2C-238A-44C5-8968-94A32CA982DA}"/>
              </a:ext>
            </a:extLst>
          </p:cNvPr>
          <p:cNvSpPr>
            <a:spLocks xmlns:a="http://schemas.openxmlformats.org/drawingml/2006/main" noGrp="1"/>
          </p:cNvSpPr>
          <p:nvPr/>
        </p:nvSpPr>
        <p:spPr>
          <a:xfrm xmlns:a="http://schemas.openxmlformats.org/drawingml/2006/main">
            <a:off x="7886700" y="2857500"/>
            <a:ext cx="3409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F7A6D"/>
                </a:solidFill>
                <a:latin typeface="Ubuntu"/>
                <a:ea typeface="Ubuntu"/>
                <a:cs typeface="Ubuntu"/>
              </a:defRPr>
            </a:pPr>
            <a:r>
              <a:rPr sz="2100" b="1">
                <a:solidFill>
                  <a:srgbClr val="1F7A6D"/>
                </a:solidFill>
                <a:latin typeface="Ubuntu"/>
                <a:ea typeface="Ubuntu"/>
                <a:cs typeface="Ubuntu"/>
              </a:rPr>
              <a:t>At noon</a:t>
            </a:r>
          </a:p>
        </p:txBody>
      </p:sp>
      <p:sp>
        <p:nvSpPr>
          <p:cNvPr id="8" name="text-84">
            <a:extLst xmlns:a="http://schemas.openxmlformats.org/drawingml/2006/main">
              <a:ext uri="{FF2B5EF4-FFF2-40B4-BE49-F238E27FC236}">
                <a16:creationId xmlns:a16="http://schemas.microsoft.com/office/drawing/2014/main" id="{38E538DA-A16E-45A9-8075-A0CAC4F08348}"/>
              </a:ext>
            </a:extLst>
          </p:cNvPr>
          <p:cNvSpPr>
            <a:spLocks xmlns:a="http://schemas.openxmlformats.org/drawingml/2006/main" noGrp="1"/>
          </p:cNvSpPr>
          <p:nvPr/>
        </p:nvSpPr>
        <p:spPr>
          <a:xfrm xmlns:a="http://schemas.openxmlformats.org/drawingml/2006/main">
            <a:off x="7896225" y="3429000"/>
            <a:ext cx="34290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95 kW serves the site</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35 kW charges storage</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20 kW exports to the grid</a:t>
            </a:r>
          </a:p>
        </p:txBody>
      </p:sp>
      <p:sp>
        <p:nvSpPr>
          <p:cNvPr id="9" name="text-85">
            <a:extLst xmlns:a="http://schemas.openxmlformats.org/drawingml/2006/main">
              <a:ext uri="{FF2B5EF4-FFF2-40B4-BE49-F238E27FC236}">
                <a16:creationId xmlns:a16="http://schemas.microsoft.com/office/drawing/2014/main" id="{DB840FE6-9D47-48B7-90F9-99BAEC4984E5}"/>
              </a:ext>
            </a:extLst>
          </p:cNvPr>
          <p:cNvSpPr>
            <a:spLocks xmlns:a="http://schemas.openxmlformats.org/drawingml/2006/main" noGrp="1"/>
          </p:cNvSpPr>
          <p:nvPr/>
        </p:nvSpPr>
        <p:spPr>
          <a:xfrm xmlns:a="http://schemas.openxmlformats.org/drawingml/2006/main">
            <a:off x="7896225" y="4905375"/>
            <a:ext cx="34099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4616A"/>
                </a:solidFill>
                <a:latin typeface="Ubuntu"/>
                <a:ea typeface="Ubuntu"/>
                <a:cs typeface="Ubuntu"/>
              </a:defRPr>
            </a:pPr>
            <a:r>
              <a:rPr sz="1650" b="0">
                <a:solidFill>
                  <a:srgbClr val="44616A"/>
                </a:solidFill>
                <a:latin typeface="Ubuntu"/>
                <a:ea typeface="Ubuntu"/>
                <a:cs typeface="Ubuntu"/>
              </a:rPr>
              <a:t>Supported device APIs and fail-safe settings govern automation.</a:t>
            </a:r>
          </a:p>
        </p:txBody>
      </p:sp>
    </p:spTree>
    <p:extLst>
      <p:ext uri="{BB962C8B-B14F-4D97-AF65-F5344CB8AC3E}">
        <p14:creationId xmlns:p14="http://schemas.microsoft.com/office/powerpoint/2010/main" val="1931600673"/>
      </p:ext>
    </p:extLst>
  </p:cSld>
</p:sld>
</file>

<file path=ppt/slides/slide9.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2" name="text-86">
            <a:extLst xmlns:a="http://schemas.openxmlformats.org/drawingml/2006/main">
              <a:ext uri="{FF2B5EF4-FFF2-40B4-BE49-F238E27FC236}">
                <a16:creationId xmlns:a16="http://schemas.microsoft.com/office/drawing/2014/main" id="{B953B3B7-6219-4045-B3BE-C204366D63F5}"/>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Direct sales lead. Asset finance stays separate.</a:t>
            </a:r>
          </a:p>
        </p:txBody>
      </p:sp>
      <p:sp>
        <p:nvSpPr>
          <p:cNvPr id="2" name="text-87">
            <a:extLst xmlns:a="http://schemas.openxmlformats.org/drawingml/2006/main">
              <a:ext uri="{FF2B5EF4-FFF2-40B4-BE49-F238E27FC236}">
                <a16:creationId xmlns:a16="http://schemas.microsoft.com/office/drawing/2014/main" id="{C98061B7-7195-4480-AE89-178F039C99A2}"/>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Both routes use the same platform. The €700k raise funds the operating company.</a:t>
            </a:r>
          </a:p>
        </p:txBody>
      </p:sp>
      <p:sp>
        <p:nvSpPr>
          <p:cNvPr id="3" name="text-88">
            <a:extLst xmlns:a="http://schemas.openxmlformats.org/drawingml/2006/main">
              <a:ext uri="{FF2B5EF4-FFF2-40B4-BE49-F238E27FC236}">
                <a16:creationId xmlns:a16="http://schemas.microsoft.com/office/drawing/2014/main" id="{BBD60600-2AD2-45F7-A476-7FD5EAFED18C}"/>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89">
            <a:extLst xmlns:a="http://schemas.openxmlformats.org/drawingml/2006/main">
              <a:ext uri="{FF2B5EF4-FFF2-40B4-BE49-F238E27FC236}">
                <a16:creationId xmlns:a16="http://schemas.microsoft.com/office/drawing/2014/main" id="{10A5417D-6FF0-436F-B073-4AB99B630E5F}"/>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09</a:t>
            </a:r>
          </a:p>
        </p:txBody>
      </p:sp>
      <p:sp>
        <p:nvSpPr>
          <p:cNvPr id="5" name="text-90">
            <a:extLst xmlns:a="http://schemas.openxmlformats.org/drawingml/2006/main">
              <a:ext uri="{FF2B5EF4-FFF2-40B4-BE49-F238E27FC236}">
                <a16:creationId xmlns:a16="http://schemas.microsoft.com/office/drawing/2014/main" id="{9ADEAD5F-F6EB-4678-AF81-F47B97C593EC}"/>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4★ Medium baseline. Financed partner funds quoted plant price. Asset returns exclude debt, tax and replacement reserves.</a:t>
            </a:r>
          </a:p>
        </p:txBody>
      </p:sp>
      <p:sp>
        <p:nvSpPr>
          <p:cNvPr id="6" name="text-91">
            <a:extLst xmlns:a="http://schemas.openxmlformats.org/drawingml/2006/main">
              <a:ext uri="{FF2B5EF4-FFF2-40B4-BE49-F238E27FC236}">
                <a16:creationId xmlns:a16="http://schemas.microsoft.com/office/drawing/2014/main" id="{6E3CB421-D8B8-4223-A7AE-8E564217FAD7}"/>
              </a:ext>
            </a:extLst>
          </p:cNvPr>
          <p:cNvSpPr>
            <a:spLocks xmlns:a="http://schemas.openxmlformats.org/drawingml/2006/main" noGrp="1"/>
          </p:cNvSpPr>
          <p:nvPr/>
        </p:nvSpPr>
        <p:spPr>
          <a:xfrm xmlns:a="http://schemas.openxmlformats.org/drawingml/2006/main">
            <a:off x="714375" y="27622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F7A6D"/>
                </a:solidFill>
                <a:latin typeface="Ubuntu"/>
                <a:ea typeface="Ubuntu"/>
                <a:cs typeface="Ubuntu"/>
              </a:defRPr>
            </a:pPr>
            <a:r>
              <a:rPr sz="2250" b="1">
                <a:solidFill>
                  <a:srgbClr val="1F7A6D"/>
                </a:solidFill>
                <a:latin typeface="Ubuntu"/>
                <a:ea typeface="Ubuntu"/>
                <a:cs typeface="Ubuntu"/>
              </a:rPr>
              <a:t>Resort-funded installation</a:t>
            </a:r>
          </a:p>
        </p:txBody>
      </p:sp>
      <p:sp>
        <p:nvSpPr>
          <p:cNvPr id="7" name="text-92">
            <a:extLst xmlns:a="http://schemas.openxmlformats.org/drawingml/2006/main">
              <a:ext uri="{FF2B5EF4-FFF2-40B4-BE49-F238E27FC236}">
                <a16:creationId xmlns:a16="http://schemas.microsoft.com/office/drawing/2014/main" id="{C8162E74-F074-4185-8D39-8EBFEDE8E8E4}"/>
              </a:ext>
            </a:extLst>
          </p:cNvPr>
          <p:cNvSpPr>
            <a:spLocks xmlns:a="http://schemas.openxmlformats.org/drawingml/2006/main" noGrp="1"/>
          </p:cNvSpPr>
          <p:nvPr/>
        </p:nvSpPr>
        <p:spPr>
          <a:xfrm xmlns:a="http://schemas.openxmlformats.org/drawingml/2006/main">
            <a:off x="733425" y="3371850"/>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75" b="1">
                <a:solidFill>
                  <a:srgbClr val="112D35"/>
                </a:solidFill>
                <a:latin typeface="Ubuntu"/>
                <a:ea typeface="Ubuntu"/>
                <a:cs typeface="Ubuntu"/>
              </a:defRPr>
            </a:pPr>
            <a:r>
              <a:rPr sz="3675" b="1">
                <a:solidFill>
                  <a:srgbClr val="112D35"/>
                </a:solidFill>
                <a:latin typeface="Ubuntu"/>
                <a:ea typeface="Ubuntu"/>
                <a:cs typeface="Ubuntu"/>
              </a:rPr>
              <a:t>€463,777</a:t>
            </a:r>
          </a:p>
        </p:txBody>
      </p:sp>
      <p:sp>
        <p:nvSpPr>
          <p:cNvPr id="8" name="text-93">
            <a:extLst xmlns:a="http://schemas.openxmlformats.org/drawingml/2006/main">
              <a:ext uri="{FF2B5EF4-FFF2-40B4-BE49-F238E27FC236}">
                <a16:creationId xmlns:a16="http://schemas.microsoft.com/office/drawing/2014/main" id="{BA613AFF-1734-416C-97B6-B58F3811573B}"/>
              </a:ext>
            </a:extLst>
          </p:cNvPr>
          <p:cNvSpPr>
            <a:spLocks xmlns:a="http://schemas.openxmlformats.org/drawingml/2006/main" noGrp="1"/>
          </p:cNvSpPr>
          <p:nvPr/>
        </p:nvSpPr>
        <p:spPr>
          <a:xfrm xmlns:a="http://schemas.openxmlformats.org/drawingml/2006/main">
            <a:off x="742950" y="4333875"/>
            <a:ext cx="5048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ECOGRID earns 35% target project margin</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€8,000 annual software + maintenance</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Resort retains €45,845 net savings / year</a:t>
            </a:r>
          </a:p>
        </p:txBody>
      </p:sp>
      <p:sp>
        <p:nvSpPr>
          <p:cNvPr id="9" name="text-94">
            <a:extLst xmlns:a="http://schemas.openxmlformats.org/drawingml/2006/main">
              <a:ext uri="{FF2B5EF4-FFF2-40B4-BE49-F238E27FC236}">
                <a16:creationId xmlns:a16="http://schemas.microsoft.com/office/drawing/2014/main" id="{C8566886-0C4F-4D3B-808A-65E9811C081F}"/>
              </a:ext>
            </a:extLst>
          </p:cNvPr>
          <p:cNvSpPr>
            <a:spLocks xmlns:a="http://schemas.openxmlformats.org/drawingml/2006/main" noGrp="1"/>
          </p:cNvSpPr>
          <p:nvPr/>
        </p:nvSpPr>
        <p:spPr>
          <a:xfrm xmlns:a="http://schemas.openxmlformats.org/drawingml/2006/main">
            <a:off x="6457950" y="27622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F7A6D"/>
                </a:solidFill>
                <a:latin typeface="Ubuntu"/>
                <a:ea typeface="Ubuntu"/>
                <a:cs typeface="Ubuntu"/>
              </a:defRPr>
            </a:pPr>
            <a:r>
              <a:rPr sz="2250" b="1">
                <a:solidFill>
                  <a:srgbClr val="1F7A6D"/>
                </a:solidFill>
                <a:latin typeface="Ubuntu"/>
                <a:ea typeface="Ubuntu"/>
                <a:cs typeface="Ubuntu"/>
              </a:rPr>
              <a:t>Separately funded asset</a:t>
            </a:r>
          </a:p>
        </p:txBody>
      </p:sp>
      <p:sp>
        <p:nvSpPr>
          <p:cNvPr id="10" name="text-95">
            <a:extLst xmlns:a="http://schemas.openxmlformats.org/drawingml/2006/main">
              <a:ext uri="{FF2B5EF4-FFF2-40B4-BE49-F238E27FC236}">
                <a16:creationId xmlns:a16="http://schemas.microsoft.com/office/drawing/2014/main" id="{746EFF8B-13EA-4209-95DC-6AAC4FF4B6B9}"/>
              </a:ext>
            </a:extLst>
          </p:cNvPr>
          <p:cNvSpPr>
            <a:spLocks xmlns:a="http://schemas.openxmlformats.org/drawingml/2006/main" noGrp="1"/>
          </p:cNvSpPr>
          <p:nvPr/>
        </p:nvSpPr>
        <p:spPr>
          <a:xfrm xmlns:a="http://schemas.openxmlformats.org/drawingml/2006/main">
            <a:off x="6477000" y="3371850"/>
            <a:ext cx="5010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112D35"/>
                </a:solidFill>
                <a:latin typeface="Ubuntu"/>
                <a:ea typeface="Ubuntu"/>
                <a:cs typeface="Ubuntu"/>
              </a:defRPr>
            </a:pPr>
            <a:r>
              <a:rPr sz="2625" b="1">
                <a:solidFill>
                  <a:srgbClr val="112D35"/>
                </a:solidFill>
                <a:latin typeface="Ubuntu"/>
                <a:ea typeface="Ubuntu"/>
                <a:cs typeface="Ubuntu"/>
              </a:rPr>
              <a:t>Proposed €0 resort plant CAPEX</a:t>
            </a:r>
          </a:p>
        </p:txBody>
      </p:sp>
      <p:sp>
        <p:nvSpPr>
          <p:cNvPr id="11" name="text-96">
            <a:extLst xmlns:a="http://schemas.openxmlformats.org/drawingml/2006/main">
              <a:ext uri="{FF2B5EF4-FFF2-40B4-BE49-F238E27FC236}">
                <a16:creationId xmlns:a16="http://schemas.microsoft.com/office/drawing/2014/main" id="{6DDC241C-5ABA-4ED4-B2C9-1E70940A5016}"/>
              </a:ext>
            </a:extLst>
          </p:cNvPr>
          <p:cNvSpPr>
            <a:spLocks xmlns:a="http://schemas.openxmlformats.org/drawingml/2006/main" noGrp="1"/>
          </p:cNvSpPr>
          <p:nvPr/>
        </p:nvSpPr>
        <p:spPr>
          <a:xfrm xmlns:a="http://schemas.openxmlformats.org/drawingml/2006/main">
            <a:off x="6486525" y="4333875"/>
            <a:ext cx="50387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60% asset-owner / 40% resort savings share</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€32,307 asset cash / year before reserves</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14.4 years simple asset payback</a:t>
            </a:r>
          </a:p>
        </p:txBody>
      </p:sp>
    </p:spTree>
    <p:extLst>
      <p:ext uri="{BB962C8B-B14F-4D97-AF65-F5344CB8AC3E}">
        <p14:creationId xmlns:p14="http://schemas.microsoft.com/office/powerpoint/2010/main" val="728998316"/>
      </p:ext>
    </p:extLst>
  </p:cSld>
</p:sld>
</file>

<file path=ppt/slides/slide10.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1" name="text-97">
            <a:extLst xmlns:a="http://schemas.openxmlformats.org/drawingml/2006/main">
              <a:ext uri="{FF2B5EF4-FFF2-40B4-BE49-F238E27FC236}">
                <a16:creationId xmlns:a16="http://schemas.microsoft.com/office/drawing/2014/main" id="{5632B2EC-D89B-4422-B9D6-9366D4EA48CA}"/>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200 connected sites in three commercial years</a:t>
            </a:r>
          </a:p>
        </p:txBody>
      </p:sp>
      <p:sp>
        <p:nvSpPr>
          <p:cNvPr id="2" name="text-98">
            <a:extLst xmlns:a="http://schemas.openxmlformats.org/drawingml/2006/main">
              <a:ext uri="{FF2B5EF4-FFF2-40B4-BE49-F238E27FC236}">
                <a16:creationId xmlns:a16="http://schemas.microsoft.com/office/drawing/2014/main" id="{7D1FE563-2419-4CE2-B4C0-87920AB6A1FA}"/>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20 / 60 / 120 new installations. An acceleration of the July plan’s 15 / 40 / 80.</a:t>
            </a:r>
          </a:p>
        </p:txBody>
      </p:sp>
      <p:sp>
        <p:nvSpPr>
          <p:cNvPr id="3" name="text-99">
            <a:extLst xmlns:a="http://schemas.openxmlformats.org/drawingml/2006/main">
              <a:ext uri="{FF2B5EF4-FFF2-40B4-BE49-F238E27FC236}">
                <a16:creationId xmlns:a16="http://schemas.microsoft.com/office/drawing/2014/main" id="{FFD220D9-D890-4BB8-9762-48CF608AEC67}"/>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100">
            <a:extLst xmlns:a="http://schemas.openxmlformats.org/drawingml/2006/main">
              <a:ext uri="{FF2B5EF4-FFF2-40B4-BE49-F238E27FC236}">
                <a16:creationId xmlns:a16="http://schemas.microsoft.com/office/drawing/2014/main" id="{C5816027-3859-423A-BB9C-4F0D95B41372}"/>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10</a:t>
            </a:r>
          </a:p>
        </p:txBody>
      </p:sp>
      <p:sp>
        <p:nvSpPr>
          <p:cNvPr id="5" name="text-101">
            <a:extLst xmlns:a="http://schemas.openxmlformats.org/drawingml/2006/main">
              <a:ext uri="{FF2B5EF4-FFF2-40B4-BE49-F238E27FC236}">
                <a16:creationId xmlns:a16="http://schemas.microsoft.com/office/drawing/2014/main" id="{C70F7E8E-4F87-44CC-9AD6-7F29DE7E18CD}"/>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Growth target, not signed pipeline. Direct sales only. Half-year service revenue for new cohorts, no churn.</a:t>
            </a:r>
          </a:p>
        </p:txBody>
      </p:sp>
      <p:graphicFrame>
        <p:nvGraphicFramePr>
          <p:cNvPr id="16" name="Chart"/>
          <p:cNvGraphicFramePr/>
          <p:nvPr/>
        </p:nvGraphicFramePr>
        <p:xfrm>
          <a:off xmlns:a="http://schemas.openxmlformats.org/drawingml/2006/main" x="704850" y="2686050"/>
          <a:ext xmlns:a="http://schemas.openxmlformats.org/drawingml/2006/main" cx="6143625" cy="3028950"/>
        </p:xfrm>
        <a:graphic xmlns:a="http://schemas.openxmlformats.org/drawingml/2006/main">
          <a:graphicData uri="http://schemas.openxmlformats.org/drawingml/2006/chart">
            <c:chart xmlns:r="http://schemas.openxmlformats.org/officeDocument/2006/relationships" xmlns:c="http://schemas.openxmlformats.org/drawingml/2006/chart" r:id="Raadbcb328a1e4da0"/>
          </a:graphicData>
        </a:graphic>
      </p:graphicFrame>
      <p:sp>
        <p:nvSpPr>
          <p:cNvPr id="7" name="text-102">
            <a:extLst xmlns:a="http://schemas.openxmlformats.org/drawingml/2006/main">
              <a:ext uri="{FF2B5EF4-FFF2-40B4-BE49-F238E27FC236}">
                <a16:creationId xmlns:a16="http://schemas.microsoft.com/office/drawing/2014/main" id="{1B6EA3B0-2C9C-40AD-9092-995D2E2F582C}"/>
              </a:ext>
            </a:extLst>
          </p:cNvPr>
          <p:cNvSpPr>
            <a:spLocks xmlns:a="http://schemas.openxmlformats.org/drawingml/2006/main" noGrp="1"/>
          </p:cNvSpPr>
          <p:nvPr/>
        </p:nvSpPr>
        <p:spPr>
          <a:xfrm xmlns:a="http://schemas.openxmlformats.org/drawingml/2006/main">
            <a:off x="7753350" y="287655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125" b="1">
                <a:solidFill>
                  <a:srgbClr val="1F7A6D"/>
                </a:solidFill>
                <a:latin typeface="Ubuntu"/>
                <a:ea typeface="Ubuntu"/>
                <a:cs typeface="Ubuntu"/>
              </a:defRPr>
            </a:pPr>
            <a:r>
              <a:rPr sz="4125" b="1">
                <a:solidFill>
                  <a:srgbClr val="1F7A6D"/>
                </a:solidFill>
                <a:latin typeface="Ubuntu"/>
                <a:ea typeface="Ubuntu"/>
                <a:cs typeface="Ubuntu"/>
              </a:rPr>
              <a:t>€1.71m</a:t>
            </a:r>
          </a:p>
        </p:txBody>
      </p:sp>
      <p:sp>
        <p:nvSpPr>
          <p:cNvPr id="8" name="text-103">
            <a:extLst xmlns:a="http://schemas.openxmlformats.org/drawingml/2006/main">
              <a:ext uri="{FF2B5EF4-FFF2-40B4-BE49-F238E27FC236}">
                <a16:creationId xmlns:a16="http://schemas.microsoft.com/office/drawing/2014/main" id="{75755A6C-3F9E-40D4-AC5A-3FF9D5E9850D}"/>
              </a:ext>
            </a:extLst>
          </p:cNvPr>
          <p:cNvSpPr>
            <a:spLocks xmlns:a="http://schemas.openxmlformats.org/drawingml/2006/main" noGrp="1"/>
          </p:cNvSpPr>
          <p:nvPr/>
        </p:nvSpPr>
        <p:spPr>
          <a:xfrm xmlns:a="http://schemas.openxmlformats.org/drawingml/2006/main">
            <a:off x="7772400" y="3667125"/>
            <a:ext cx="3476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Year-3 software + maintenance run rate</a:t>
            </a:r>
          </a:p>
        </p:txBody>
      </p:sp>
      <p:sp>
        <p:nvSpPr>
          <p:cNvPr id="9" name="text-104">
            <a:extLst xmlns:a="http://schemas.openxmlformats.org/drawingml/2006/main">
              <a:ext uri="{FF2B5EF4-FFF2-40B4-BE49-F238E27FC236}">
                <a16:creationId xmlns:a16="http://schemas.microsoft.com/office/drawing/2014/main" id="{20476044-1939-47C3-8E3D-2260AE382F08}"/>
              </a:ext>
            </a:extLst>
          </p:cNvPr>
          <p:cNvSpPr>
            <a:spLocks xmlns:a="http://schemas.openxmlformats.org/drawingml/2006/main" noGrp="1"/>
          </p:cNvSpPr>
          <p:nvPr/>
        </p:nvSpPr>
        <p:spPr>
          <a:xfrm xmlns:a="http://schemas.openxmlformats.org/drawingml/2006/main">
            <a:off x="7772400" y="4667250"/>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150" b="1">
                <a:solidFill>
                  <a:srgbClr val="112D35"/>
                </a:solidFill>
                <a:latin typeface="Ubuntu"/>
                <a:ea typeface="Ubuntu"/>
                <a:cs typeface="Ubuntu"/>
              </a:defRPr>
            </a:pPr>
            <a:r>
              <a:rPr sz="3150" b="1">
                <a:solidFill>
                  <a:srgbClr val="112D35"/>
                </a:solidFill>
                <a:latin typeface="Ubuntu"/>
                <a:ea typeface="Ubuntu"/>
                <a:cs typeface="Ubuntu"/>
              </a:rPr>
              <a:t>€790.0k</a:t>
            </a:r>
          </a:p>
        </p:txBody>
      </p:sp>
      <p:sp>
        <p:nvSpPr>
          <p:cNvPr id="10" name="text-105">
            <a:extLst xmlns:a="http://schemas.openxmlformats.org/drawingml/2006/main">
              <a:ext uri="{FF2B5EF4-FFF2-40B4-BE49-F238E27FC236}">
                <a16:creationId xmlns:a16="http://schemas.microsoft.com/office/drawing/2014/main" id="{DE76ED62-1684-4E37-909B-568F9D06DA4B}"/>
              </a:ext>
            </a:extLst>
          </p:cNvPr>
          <p:cNvSpPr>
            <a:spLocks xmlns:a="http://schemas.openxmlformats.org/drawingml/2006/main" noGrp="1"/>
          </p:cNvSpPr>
          <p:nvPr/>
        </p:nvSpPr>
        <p:spPr>
          <a:xfrm xmlns:a="http://schemas.openxmlformats.org/drawingml/2006/main">
            <a:off x="7791450" y="5276850"/>
            <a:ext cx="3476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4616A"/>
                </a:solidFill>
                <a:latin typeface="Ubuntu"/>
                <a:ea typeface="Ubuntu"/>
                <a:cs typeface="Ubuntu"/>
              </a:defRPr>
            </a:pPr>
            <a:r>
              <a:rPr sz="1575" b="0">
                <a:solidFill>
                  <a:srgbClr val="44616A"/>
                </a:solidFill>
                <a:latin typeface="Ubuntu"/>
                <a:ea typeface="Ubuntu"/>
                <a:cs typeface="Ubuntu"/>
              </a:rPr>
              <a:t>Software-only run rate within that total</a:t>
            </a:r>
          </a:p>
        </p:txBody>
      </p:sp>
    </p:spTree>
    <p:extLst>
      <p:ext uri="{BB962C8B-B14F-4D97-AF65-F5344CB8AC3E}">
        <p14:creationId xmlns:p14="http://schemas.microsoft.com/office/powerpoint/2010/main" val="66235319"/>
      </p:ext>
    </p:extLst>
  </p:cSld>
</p:sld>
</file>

<file path=ppt/slides/slide11.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7" name="text-106">
            <a:extLst xmlns:a="http://schemas.openxmlformats.org/drawingml/2006/main">
              <a:ext uri="{FF2B5EF4-FFF2-40B4-BE49-F238E27FC236}">
                <a16:creationId xmlns:a16="http://schemas.microsoft.com/office/drawing/2014/main" id="{A37C99D3-2C45-4B00-9F09-C1D25418339A}"/>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Revenue and cost grow with delivered projects</a:t>
            </a:r>
          </a:p>
        </p:txBody>
      </p:sp>
      <p:sp>
        <p:nvSpPr>
          <p:cNvPr id="2" name="text-107">
            <a:extLst xmlns:a="http://schemas.openxmlformats.org/drawingml/2006/main">
              <a:ext uri="{FF2B5EF4-FFF2-40B4-BE49-F238E27FC236}">
                <a16:creationId xmlns:a16="http://schemas.microsoft.com/office/drawing/2014/main" id="{98934995-3DD7-4D90-8002-1D32C8020A0D}"/>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Illustrative operating-company performance. All values in EUR millions.</a:t>
            </a:r>
          </a:p>
        </p:txBody>
      </p:sp>
      <p:sp>
        <p:nvSpPr>
          <p:cNvPr id="3" name="text-108">
            <a:extLst xmlns:a="http://schemas.openxmlformats.org/drawingml/2006/main">
              <a:ext uri="{FF2B5EF4-FFF2-40B4-BE49-F238E27FC236}">
                <a16:creationId xmlns:a16="http://schemas.microsoft.com/office/drawing/2014/main" id="{7BDE2FCA-0CD9-4060-BE67-3F9D7D3C432D}"/>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109">
            <a:extLst xmlns:a="http://schemas.openxmlformats.org/drawingml/2006/main">
              <a:ext uri="{FF2B5EF4-FFF2-40B4-BE49-F238E27FC236}">
                <a16:creationId xmlns:a16="http://schemas.microsoft.com/office/drawing/2014/main" id="{0078859A-85BA-41C4-B2E2-FA472956230A}"/>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11</a:t>
            </a:r>
          </a:p>
        </p:txBody>
      </p:sp>
      <p:sp>
        <p:nvSpPr>
          <p:cNvPr id="5" name="text-110">
            <a:extLst xmlns:a="http://schemas.openxmlformats.org/drawingml/2006/main">
              <a:ext uri="{FF2B5EF4-FFF2-40B4-BE49-F238E27FC236}">
                <a16:creationId xmlns:a16="http://schemas.microsoft.com/office/drawing/2014/main" id="{7E1D38F8-8BE3-48C5-82E6-0B70CF469184}"/>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Targets: 35% works / 65% service gross margin. EBITDA excludes software CAPEX, depreciation, financing and tax.</a:t>
            </a:r>
          </a:p>
        </p:txBody>
      </p:sp>
      <p:graphicFrame>
        <p:nvGraphicFramePr>
          <p:cNvPr id="12" name=""/>
          <p:cNvGraphicFramePr/>
          <p:nvPr/>
        </p:nvGraphicFramePr>
        <p:xfrm>
          <a:off xmlns:a="http://schemas.openxmlformats.org/drawingml/2006/main" x="704850" y="2647950"/>
          <a:ext xmlns:a="http://schemas.openxmlformats.org/drawingml/2006/main" cx="10782300" cy="3057525"/>
        </p:xfrm>
        <a:graphic xmlns:a="http://schemas.openxmlformats.org/drawingml/2006/main">
          <a:graphicData uri="http://schemas.openxmlformats.org/drawingml/2006/table">
            <a:tbl>
              <a:tblPr firstRow="1" bandRow="0"/>
              <a:tblGrid>
                <a:gridCol w="4724400"/>
                <a:gridCol w="2019300"/>
                <a:gridCol w="2019300"/>
                <a:gridCol w="2019300"/>
              </a:tblGrid>
              <a:tr h="436789">
                <a:tc>
                  <a:txBody>
                    <a:bodyPr/>
                    <a:lstStyle/>
                    <a:p>
                      <a:r>
                        <a:rPr sz="1725" b="1">
                          <a:solidFill>
                            <a:srgbClr val="FFFFFF"/>
                          </a:solidFill>
                          <a:latin typeface="Ubuntu"/>
                          <a:ea typeface="Ubuntu"/>
                          <a:cs typeface="Ubuntu"/>
                        </a:rPr>
                        <a:t>EUR millions</a:t>
                      </a:r>
                    </a:p>
                  </a:txBody>
                  <a:tcPr marL="114300" marR="114300" marT="85725" marB="85725" anchor="ctr">
                    <a:solidFill>
                      <a:srgbClr val="1F7A6D"/>
                    </a:solidFill>
                  </a:tcPr>
                </a:tc>
                <a:tc>
                  <a:txBody>
                    <a:bodyPr/>
                    <a:lstStyle/>
                    <a:p>
                      <a:r>
                        <a:rPr sz="1725" b="1">
                          <a:solidFill>
                            <a:srgbClr val="FFFFFF"/>
                          </a:solidFill>
                          <a:latin typeface="Ubuntu"/>
                          <a:ea typeface="Ubuntu"/>
                          <a:cs typeface="Ubuntu"/>
                        </a:rPr>
                        <a:t>2027</a:t>
                      </a:r>
                    </a:p>
                  </a:txBody>
                  <a:tcPr marL="114300" marR="114300" marT="85725" marB="85725" anchor="ctr">
                    <a:solidFill>
                      <a:srgbClr val="1F7A6D"/>
                    </a:solidFill>
                  </a:tcPr>
                </a:tc>
                <a:tc>
                  <a:txBody>
                    <a:bodyPr/>
                    <a:lstStyle/>
                    <a:p>
                      <a:r>
                        <a:rPr sz="1725" b="1">
                          <a:solidFill>
                            <a:srgbClr val="FFFFFF"/>
                          </a:solidFill>
                          <a:latin typeface="Ubuntu"/>
                          <a:ea typeface="Ubuntu"/>
                          <a:cs typeface="Ubuntu"/>
                        </a:rPr>
                        <a:t>2028</a:t>
                      </a:r>
                    </a:p>
                  </a:txBody>
                  <a:tcPr marL="114300" marR="114300" marT="85725" marB="85725" anchor="ctr">
                    <a:solidFill>
                      <a:srgbClr val="1F7A6D"/>
                    </a:solidFill>
                  </a:tcPr>
                </a:tc>
                <a:tc>
                  <a:txBody>
                    <a:bodyPr/>
                    <a:lstStyle/>
                    <a:p>
                      <a:r>
                        <a:rPr sz="1725" b="1">
                          <a:solidFill>
                            <a:srgbClr val="FFFFFF"/>
                          </a:solidFill>
                          <a:latin typeface="Ubuntu"/>
                          <a:ea typeface="Ubuntu"/>
                          <a:cs typeface="Ubuntu"/>
                        </a:rPr>
                        <a:t>2029</a:t>
                      </a:r>
                    </a:p>
                  </a:txBody>
                  <a:tcPr marL="114300" marR="114300" marT="85725" marB="85725" anchor="ctr">
                    <a:solidFill>
                      <a:srgbClr val="1F7A6D"/>
                    </a:solidFill>
                  </a:tcPr>
                </a:tc>
              </a:tr>
              <a:tr h="436789">
                <a:tc>
                  <a:txBody>
                    <a:bodyPr/>
                    <a:lstStyle/>
                    <a:p>
                      <a:r>
                        <a:rPr sz="1725">
                          <a:solidFill>
                            <a:srgbClr val="112D35"/>
                          </a:solidFill>
                          <a:latin typeface="Ubuntu"/>
                          <a:ea typeface="Ubuntu"/>
                          <a:cs typeface="Ubuntu"/>
                        </a:rPr>
                        <a:t>Revenue</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12.34</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37.18</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74.70</a:t>
                      </a:r>
                    </a:p>
                  </a:txBody>
                  <a:tcPr marL="114300" marR="114300" marT="85725" marB="85725" anchor="ctr">
                    <a:solidFill>
                      <a:srgbClr val="F3F3EB"/>
                    </a:solidFill>
                  </a:tcPr>
                </a:tc>
              </a:tr>
              <a:tr h="436789">
                <a:tc>
                  <a:txBody>
                    <a:bodyPr/>
                    <a:lstStyle/>
                    <a:p>
                      <a:r>
                        <a:rPr sz="1725">
                          <a:solidFill>
                            <a:srgbClr val="112D35"/>
                          </a:solidFill>
                          <a:latin typeface="Ubuntu"/>
                          <a:ea typeface="Ubuntu"/>
                          <a:cs typeface="Ubuntu"/>
                        </a:rPr>
                        <a:t>Installation cost of sales</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7.96</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23.89</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47.78</a:t>
                      </a:r>
                    </a:p>
                  </a:txBody>
                  <a:tcPr marL="114300" marR="114300" marT="85725" marB="85725" anchor="ctr">
                    <a:solidFill>
                      <a:srgbClr val="F3F3EB"/>
                    </a:solidFill>
                  </a:tcPr>
                </a:tc>
              </a:tr>
              <a:tr h="436789">
                <a:tc>
                  <a:txBody>
                    <a:bodyPr/>
                    <a:lstStyle/>
                    <a:p>
                      <a:r>
                        <a:rPr sz="1725">
                          <a:solidFill>
                            <a:srgbClr val="112D35"/>
                          </a:solidFill>
                          <a:latin typeface="Ubuntu"/>
                          <a:ea typeface="Ubuntu"/>
                          <a:cs typeface="Ubuntu"/>
                        </a:rPr>
                        <a:t>Service revenue recognised</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0.09</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0.43</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1.20</a:t>
                      </a:r>
                    </a:p>
                  </a:txBody>
                  <a:tcPr marL="114300" marR="114300" marT="85725" marB="85725" anchor="ctr">
                    <a:solidFill>
                      <a:srgbClr val="F3F3EB"/>
                    </a:solidFill>
                  </a:tcPr>
                </a:tc>
              </a:tr>
              <a:tr h="436789">
                <a:tc>
                  <a:txBody>
                    <a:bodyPr/>
                    <a:lstStyle/>
                    <a:p>
                      <a:r>
                        <a:rPr sz="1725">
                          <a:solidFill>
                            <a:srgbClr val="112D35"/>
                          </a:solidFill>
                          <a:latin typeface="Ubuntu"/>
                          <a:ea typeface="Ubuntu"/>
                          <a:cs typeface="Ubuntu"/>
                        </a:rPr>
                        <a:t>Gross profit</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4.34</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13.14</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26.50</a:t>
                      </a:r>
                    </a:p>
                  </a:txBody>
                  <a:tcPr marL="114300" marR="114300" marT="85725" marB="85725" anchor="ctr">
                    <a:solidFill>
                      <a:srgbClr val="F3F3EB"/>
                    </a:solidFill>
                  </a:tcPr>
                </a:tc>
              </a:tr>
              <a:tr h="436789">
                <a:tc>
                  <a:txBody>
                    <a:bodyPr/>
                    <a:lstStyle/>
                    <a:p>
                      <a:r>
                        <a:rPr sz="1725">
                          <a:solidFill>
                            <a:srgbClr val="112D35"/>
                          </a:solidFill>
                          <a:latin typeface="Ubuntu"/>
                          <a:ea typeface="Ubuntu"/>
                          <a:cs typeface="Ubuntu"/>
                        </a:rPr>
                        <a:t>Operating expenses</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0.59</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1.10</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1.80</a:t>
                      </a:r>
                    </a:p>
                  </a:txBody>
                  <a:tcPr marL="114300" marR="114300" marT="85725" marB="85725" anchor="ctr">
                    <a:solidFill>
                      <a:srgbClr val="F3F3EB"/>
                    </a:solidFill>
                  </a:tcPr>
                </a:tc>
              </a:tr>
              <a:tr h="436789">
                <a:tc>
                  <a:txBody>
                    <a:bodyPr/>
                    <a:lstStyle/>
                    <a:p>
                      <a:r>
                        <a:rPr sz="1725">
                          <a:solidFill>
                            <a:srgbClr val="112D35"/>
                          </a:solidFill>
                          <a:latin typeface="Ubuntu"/>
                          <a:ea typeface="Ubuntu"/>
                          <a:cs typeface="Ubuntu"/>
                        </a:rPr>
                        <a:t>Illustrative EBITDA</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3.75</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12.04</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24.70</a:t>
                      </a:r>
                    </a:p>
                  </a:txBody>
                  <a:tcPr marL="114300" marR="114300" marT="85725" marB="85725" anchor="ctr">
                    <a:solidFill>
                      <a:srgbClr val="F3F3EB"/>
                    </a:solidFill>
                  </a:tcPr>
                </a:tc>
              </a:tr>
            </a:tbl>
          </a:graphicData>
        </a:graphic>
      </p:graphicFrame>
    </p:spTree>
    <p:extLst>
      <p:ext uri="{BB962C8B-B14F-4D97-AF65-F5344CB8AC3E}">
        <p14:creationId xmlns:p14="http://schemas.microsoft.com/office/powerpoint/2010/main" val="712552197"/>
      </p:ext>
    </p:extLst>
  </p:cSld>
</p:sld>
</file>

<file path=ppt/slides/slide12.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4" name="text-111">
            <a:extLst xmlns:a="http://schemas.openxmlformats.org/drawingml/2006/main">
              <a:ext uri="{FF2B5EF4-FFF2-40B4-BE49-F238E27FC236}">
                <a16:creationId xmlns:a16="http://schemas.microsoft.com/office/drawing/2014/main" id="{41EADF90-7885-438F-A850-8E0C3D0ED01A}"/>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Delivery capacity is part of the growth plan</a:t>
            </a:r>
          </a:p>
        </p:txBody>
      </p:sp>
      <p:sp>
        <p:nvSpPr>
          <p:cNvPr id="2" name="text-112">
            <a:extLst xmlns:a="http://schemas.openxmlformats.org/drawingml/2006/main">
              <a:ext uri="{FF2B5EF4-FFF2-40B4-BE49-F238E27FC236}">
                <a16:creationId xmlns:a16="http://schemas.microsoft.com/office/drawing/2014/main" id="{19A30C05-5DBD-4F89-A133-6933806DE566}"/>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Supplier and contractor portals turn demand into confirmed delivery slots.</a:t>
            </a:r>
          </a:p>
        </p:txBody>
      </p:sp>
      <p:sp>
        <p:nvSpPr>
          <p:cNvPr id="3" name="text-113">
            <a:extLst xmlns:a="http://schemas.openxmlformats.org/drawingml/2006/main">
              <a:ext uri="{FF2B5EF4-FFF2-40B4-BE49-F238E27FC236}">
                <a16:creationId xmlns:a16="http://schemas.microsoft.com/office/drawing/2014/main" id="{72F36F5E-AABD-401C-B22C-3C486D908968}"/>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114">
            <a:extLst xmlns:a="http://schemas.openxmlformats.org/drawingml/2006/main">
              <a:ext uri="{FF2B5EF4-FFF2-40B4-BE49-F238E27FC236}">
                <a16:creationId xmlns:a16="http://schemas.microsoft.com/office/drawing/2014/main" id="{0DD847B9-C674-4487-8896-B08E8389B28E}"/>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12</a:t>
            </a:r>
          </a:p>
        </p:txBody>
      </p:sp>
      <p:sp>
        <p:nvSpPr>
          <p:cNvPr id="5" name="text-115">
            <a:extLst xmlns:a="http://schemas.openxmlformats.org/drawingml/2006/main">
              <a:ext uri="{FF2B5EF4-FFF2-40B4-BE49-F238E27FC236}">
                <a16:creationId xmlns:a16="http://schemas.microsoft.com/office/drawing/2014/main" id="{9C19CB58-1694-45D2-A929-D1E29A888BAD}"/>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Crew capacity is a planning assumption. Country expansion follows demonstrated delivery and collections.</a:t>
            </a:r>
          </a:p>
        </p:txBody>
      </p:sp>
      <p:sp>
        <p:nvSpPr>
          <p:cNvPr id="6" name="text-116">
            <a:extLst xmlns:a="http://schemas.openxmlformats.org/drawingml/2006/main">
              <a:ext uri="{FF2B5EF4-FFF2-40B4-BE49-F238E27FC236}">
                <a16:creationId xmlns:a16="http://schemas.microsoft.com/office/drawing/2014/main" id="{A3C68122-58E0-4069-98C5-FE997E57BE03}"/>
              </a:ext>
            </a:extLst>
          </p:cNvPr>
          <p:cNvSpPr>
            <a:spLocks xmlns:a="http://schemas.openxmlformats.org/drawingml/2006/main" noGrp="1"/>
          </p:cNvSpPr>
          <p:nvPr/>
        </p:nvSpPr>
        <p:spPr>
          <a:xfrm xmlns:a="http://schemas.openxmlformats.org/drawingml/2006/main">
            <a:off x="723900" y="2857500"/>
            <a:ext cx="335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275" b="1">
                <a:solidFill>
                  <a:srgbClr val="1F7A6D"/>
                </a:solidFill>
                <a:latin typeface="Ubuntu"/>
                <a:ea typeface="Ubuntu"/>
                <a:cs typeface="Ubuntu"/>
              </a:defRPr>
            </a:pPr>
            <a:r>
              <a:rPr sz="4275" b="1">
                <a:solidFill>
                  <a:srgbClr val="1F7A6D"/>
                </a:solidFill>
                <a:latin typeface="Ubuntu"/>
                <a:ea typeface="Ubuntu"/>
                <a:cs typeface="Ubuntu"/>
              </a:rPr>
              <a:t>2 / 6 / 12</a:t>
            </a:r>
          </a:p>
        </p:txBody>
      </p:sp>
      <p:sp>
        <p:nvSpPr>
          <p:cNvPr id="7" name="text-117">
            <a:extLst xmlns:a="http://schemas.openxmlformats.org/drawingml/2006/main">
              <a:ext uri="{FF2B5EF4-FFF2-40B4-BE49-F238E27FC236}">
                <a16:creationId xmlns:a16="http://schemas.microsoft.com/office/drawing/2014/main" id="{0267F1B0-5100-45B1-B09D-6F099BF45212}"/>
              </a:ext>
            </a:extLst>
          </p:cNvPr>
          <p:cNvSpPr>
            <a:spLocks xmlns:a="http://schemas.openxmlformats.org/drawingml/2006/main" noGrp="1"/>
          </p:cNvSpPr>
          <p:nvPr/>
        </p:nvSpPr>
        <p:spPr>
          <a:xfrm xmlns:a="http://schemas.openxmlformats.org/drawingml/2006/main">
            <a:off x="742950" y="379095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Installation crews</a:t>
            </a:r>
          </a:p>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Year 1 / 2 / 3</a:t>
            </a:r>
          </a:p>
        </p:txBody>
      </p:sp>
      <p:sp>
        <p:nvSpPr>
          <p:cNvPr id="8" name="text-118">
            <a:extLst xmlns:a="http://schemas.openxmlformats.org/drawingml/2006/main">
              <a:ext uri="{FF2B5EF4-FFF2-40B4-BE49-F238E27FC236}">
                <a16:creationId xmlns:a16="http://schemas.microsoft.com/office/drawing/2014/main" id="{28C4AC4F-2DE5-444C-AD43-BCD2EB7DCECE}"/>
              </a:ext>
            </a:extLst>
          </p:cNvPr>
          <p:cNvSpPr>
            <a:spLocks xmlns:a="http://schemas.openxmlformats.org/drawingml/2006/main" noGrp="1"/>
          </p:cNvSpPr>
          <p:nvPr/>
        </p:nvSpPr>
        <p:spPr>
          <a:xfrm xmlns:a="http://schemas.openxmlformats.org/drawingml/2006/main">
            <a:off x="4371975" y="2857500"/>
            <a:ext cx="335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275" b="1">
                <a:solidFill>
                  <a:srgbClr val="112D35"/>
                </a:solidFill>
                <a:latin typeface="Ubuntu"/>
                <a:ea typeface="Ubuntu"/>
                <a:cs typeface="Ubuntu"/>
              </a:defRPr>
            </a:pPr>
            <a:r>
              <a:rPr sz="4275" b="1">
                <a:solidFill>
                  <a:srgbClr val="112D35"/>
                </a:solidFill>
                <a:latin typeface="Ubuntu"/>
                <a:ea typeface="Ubuntu"/>
                <a:cs typeface="Ubuntu"/>
              </a:rPr>
              <a:t>10</a:t>
            </a:r>
          </a:p>
        </p:txBody>
      </p:sp>
      <p:sp>
        <p:nvSpPr>
          <p:cNvPr id="9" name="text-119">
            <a:extLst xmlns:a="http://schemas.openxmlformats.org/drawingml/2006/main">
              <a:ext uri="{FF2B5EF4-FFF2-40B4-BE49-F238E27FC236}">
                <a16:creationId xmlns:a16="http://schemas.microsoft.com/office/drawing/2014/main" id="{C49E22CF-0AB4-44F0-BE3E-BBE7CA2E10F3}"/>
              </a:ext>
            </a:extLst>
          </p:cNvPr>
          <p:cNvSpPr>
            <a:spLocks xmlns:a="http://schemas.openxmlformats.org/drawingml/2006/main" noGrp="1"/>
          </p:cNvSpPr>
          <p:nvPr/>
        </p:nvSpPr>
        <p:spPr>
          <a:xfrm xmlns:a="http://schemas.openxmlformats.org/drawingml/2006/main">
            <a:off x="4391025" y="379095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Sites commissioned</a:t>
            </a:r>
          </a:p>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per crew per year</a:t>
            </a:r>
          </a:p>
        </p:txBody>
      </p:sp>
      <p:sp>
        <p:nvSpPr>
          <p:cNvPr id="10" name="text-120">
            <a:extLst xmlns:a="http://schemas.openxmlformats.org/drawingml/2006/main">
              <a:ext uri="{FF2B5EF4-FFF2-40B4-BE49-F238E27FC236}">
                <a16:creationId xmlns:a16="http://schemas.microsoft.com/office/drawing/2014/main" id="{886C477F-62A9-4F4B-A04B-6296ACB58147}"/>
              </a:ext>
            </a:extLst>
          </p:cNvPr>
          <p:cNvSpPr>
            <a:spLocks xmlns:a="http://schemas.openxmlformats.org/drawingml/2006/main" noGrp="1"/>
          </p:cNvSpPr>
          <p:nvPr/>
        </p:nvSpPr>
        <p:spPr>
          <a:xfrm xmlns:a="http://schemas.openxmlformats.org/drawingml/2006/main">
            <a:off x="8020050" y="2857500"/>
            <a:ext cx="335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1">
                <a:solidFill>
                  <a:srgbClr val="112D35"/>
                </a:solidFill>
                <a:latin typeface="Ubuntu"/>
                <a:ea typeface="Ubuntu"/>
                <a:cs typeface="Ubuntu"/>
              </a:defRPr>
            </a:pPr>
            <a:r>
              <a:rPr sz="3000" b="1">
                <a:solidFill>
                  <a:srgbClr val="112D35"/>
                </a:solidFill>
                <a:latin typeface="Ubuntu"/>
                <a:ea typeface="Ubuntu"/>
                <a:cs typeface="Ubuntu"/>
              </a:rPr>
              <a:t>€9k / €6k / €5k</a:t>
            </a:r>
          </a:p>
        </p:txBody>
      </p:sp>
      <p:sp>
        <p:nvSpPr>
          <p:cNvPr id="11" name="text-121">
            <a:extLst xmlns:a="http://schemas.openxmlformats.org/drawingml/2006/main">
              <a:ext uri="{FF2B5EF4-FFF2-40B4-BE49-F238E27FC236}">
                <a16:creationId xmlns:a16="http://schemas.microsoft.com/office/drawing/2014/main" id="{FECB6552-BBE0-4C06-BC32-12A2FAC92129}"/>
              </a:ext>
            </a:extLst>
          </p:cNvPr>
          <p:cNvSpPr>
            <a:spLocks xmlns:a="http://schemas.openxmlformats.org/drawingml/2006/main" noGrp="1"/>
          </p:cNvSpPr>
          <p:nvPr/>
        </p:nvSpPr>
        <p:spPr>
          <a:xfrm xmlns:a="http://schemas.openxmlformats.org/drawingml/2006/main">
            <a:off x="8039100" y="379095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Sales + marketing CAC</a:t>
            </a:r>
          </a:p>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Year 1 / 2 / 3</a:t>
            </a:r>
          </a:p>
        </p:txBody>
      </p:sp>
      <p:sp>
        <p:nvSpPr>
          <p:cNvPr id="12" name="text-122">
            <a:extLst xmlns:a="http://schemas.openxmlformats.org/drawingml/2006/main">
              <a:ext uri="{FF2B5EF4-FFF2-40B4-BE49-F238E27FC236}">
                <a16:creationId xmlns:a16="http://schemas.microsoft.com/office/drawing/2014/main" id="{EFFB4799-DCCF-4F9F-BE9F-46A7F31993DF}"/>
              </a:ext>
            </a:extLst>
          </p:cNvPr>
          <p:cNvSpPr>
            <a:spLocks xmlns:a="http://schemas.openxmlformats.org/drawingml/2006/main" noGrp="1"/>
          </p:cNvSpPr>
          <p:nvPr/>
        </p:nvSpPr>
        <p:spPr>
          <a:xfrm xmlns:a="http://schemas.openxmlformats.org/drawingml/2006/main">
            <a:off x="742950" y="48101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12D35"/>
                </a:solidFill>
                <a:latin typeface="Ubuntu"/>
                <a:ea typeface="Ubuntu"/>
                <a:cs typeface="Ubuntu"/>
              </a:defRPr>
            </a:pPr>
            <a:r>
              <a:rPr sz="2100" b="1">
                <a:solidFill>
                  <a:srgbClr val="112D35"/>
                </a:solidFill>
                <a:latin typeface="Ubuntu"/>
                <a:ea typeface="Ubuntu"/>
                <a:cs typeface="Ubuntu"/>
              </a:rPr>
              <a:t>Launch: Spain, Italy and France</a:t>
            </a:r>
          </a:p>
        </p:txBody>
      </p:sp>
      <p:sp>
        <p:nvSpPr>
          <p:cNvPr id="13" name="text-123">
            <a:extLst xmlns:a="http://schemas.openxmlformats.org/drawingml/2006/main">
              <a:ext uri="{FF2B5EF4-FFF2-40B4-BE49-F238E27FC236}">
                <a16:creationId xmlns:a16="http://schemas.microsoft.com/office/drawing/2014/main" id="{B5E773A1-D374-4AF6-9454-1D0A8EF631A8}"/>
              </a:ext>
            </a:extLst>
          </p:cNvPr>
          <p:cNvSpPr>
            <a:spLocks xmlns:a="http://schemas.openxmlformats.org/drawingml/2006/main" noGrp="1"/>
          </p:cNvSpPr>
          <p:nvPr/>
        </p:nvSpPr>
        <p:spPr>
          <a:xfrm xmlns:a="http://schemas.openxmlformats.org/drawingml/2006/main">
            <a:off x="742950" y="53149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Then Belgium, Netherlands and UK after repeatable site economics</a:t>
            </a:r>
          </a:p>
        </p:txBody>
      </p:sp>
    </p:spTree>
    <p:extLst>
      <p:ext uri="{BB962C8B-B14F-4D97-AF65-F5344CB8AC3E}">
        <p14:creationId xmlns:p14="http://schemas.microsoft.com/office/powerpoint/2010/main" val="1639681679"/>
      </p:ext>
    </p:extLst>
  </p:cSld>
</p:sld>
</file>

<file path=ppt/slides/slide13.xml><?xml version="1.0" encoding="utf-8"?>
<p:sld xmlns:p="http://schemas.openxmlformats.org/presentationml/2006/main">
  <p:cSld>
    <p:bg>
      <p:bgPr>
        <a:solidFill xmlns:a="http://schemas.openxmlformats.org/drawingml/2006/main">
          <a:srgbClr val="071A24"/>
        </a:solidFill>
      </p:bgPr>
    </p:bg>
    <p:spTree>
      <p:nvGrpSpPr>
        <p:cNvPr id="1" name=""/>
        <p:cNvGrpSpPr/>
        <p:nvPr/>
      </p:nvGrpSpPr>
      <p:grpSpPr>
        <a:xfrm xmlns:a="http://schemas.openxmlformats.org/drawingml/2006/main"/>
      </p:grpSpPr>
      <p:sp>
        <p:nvSpPr>
          <p:cNvPr id="19" name="text-124">
            <a:extLst xmlns:a="http://schemas.openxmlformats.org/drawingml/2006/main">
              <a:ext uri="{FF2B5EF4-FFF2-40B4-BE49-F238E27FC236}">
                <a16:creationId xmlns:a16="http://schemas.microsoft.com/office/drawing/2014/main" id="{6EEDC803-564D-4612-B310-E465A81997AD}"/>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FFFFFF"/>
                </a:solidFill>
                <a:latin typeface="Ubuntu"/>
                <a:ea typeface="Ubuntu"/>
                <a:cs typeface="Ubuntu"/>
              </a:defRPr>
            </a:pPr>
            <a:r>
              <a:rPr sz="3900" b="1">
                <a:solidFill>
                  <a:srgbClr val="FFFFFF"/>
                </a:solidFill>
                <a:latin typeface="Ubuntu"/>
                <a:ea typeface="Ubuntu"/>
                <a:cs typeface="Ubuntu"/>
              </a:rPr>
              <a:t>The €700k launch round</a:t>
            </a:r>
          </a:p>
        </p:txBody>
      </p:sp>
      <p:sp>
        <p:nvSpPr>
          <p:cNvPr id="2" name="text-125">
            <a:extLst xmlns:a="http://schemas.openxmlformats.org/drawingml/2006/main">
              <a:ext uri="{FF2B5EF4-FFF2-40B4-BE49-F238E27FC236}">
                <a16:creationId xmlns:a16="http://schemas.microsoft.com/office/drawing/2014/main" id="{5CB1F65A-0DE7-4630-BF1B-87A2C235B91A}"/>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BAD4D2"/>
                </a:solidFill>
                <a:latin typeface="Ubuntu"/>
                <a:ea typeface="Ubuntu"/>
                <a:cs typeface="Ubuntu"/>
              </a:defRPr>
            </a:pPr>
            <a:r>
              <a:rPr sz="1800" b="0">
                <a:solidFill>
                  <a:srgbClr val="BAD4D2"/>
                </a:solidFill>
                <a:latin typeface="Ubuntu"/>
                <a:ea typeface="Ubuntu"/>
                <a:cs typeface="Ubuntu"/>
              </a:rPr>
              <a:t>Build the platform, hire the launch team and secure the commercial engine.</a:t>
            </a:r>
          </a:p>
        </p:txBody>
      </p:sp>
      <p:sp>
        <p:nvSpPr>
          <p:cNvPr id="3" name="text-126">
            <a:extLst xmlns:a="http://schemas.openxmlformats.org/drawingml/2006/main">
              <a:ext uri="{FF2B5EF4-FFF2-40B4-BE49-F238E27FC236}">
                <a16:creationId xmlns:a16="http://schemas.microsoft.com/office/drawing/2014/main" id="{92B1BD57-6800-4913-9914-C3E69A3FD9DE}"/>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BAD4D2"/>
                </a:solidFill>
                <a:latin typeface="Ubuntu"/>
                <a:ea typeface="Ubuntu"/>
                <a:cs typeface="Ubuntu"/>
              </a:defRPr>
            </a:pPr>
            <a:r>
              <a:rPr sz="1125" b="0">
                <a:solidFill>
                  <a:srgbClr val="BAD4D2"/>
                </a:solidFill>
                <a:latin typeface="Ubuntu"/>
                <a:ea typeface="Ubuntu"/>
                <a:cs typeface="Ubuntu"/>
              </a:rPr>
              <a:t>ECOGRID RESORT · Confidential investor proposal · October 2026</a:t>
            </a:r>
          </a:p>
        </p:txBody>
      </p:sp>
      <p:sp>
        <p:nvSpPr>
          <p:cNvPr id="4" name="text-127">
            <a:extLst xmlns:a="http://schemas.openxmlformats.org/drawingml/2006/main">
              <a:ext uri="{FF2B5EF4-FFF2-40B4-BE49-F238E27FC236}">
                <a16:creationId xmlns:a16="http://schemas.microsoft.com/office/drawing/2014/main" id="{D31DF7DF-22D3-4B41-8CDD-64A4B1B47365}"/>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BAD4D2"/>
                </a:solidFill>
                <a:latin typeface="Ubuntu"/>
                <a:ea typeface="Ubuntu"/>
                <a:cs typeface="Ubuntu"/>
              </a:defRPr>
            </a:pPr>
            <a:r>
              <a:rPr sz="1275" b="0">
                <a:solidFill>
                  <a:srgbClr val="BAD4D2"/>
                </a:solidFill>
                <a:latin typeface="Ubuntu"/>
                <a:ea typeface="Ubuntu"/>
                <a:cs typeface="Ubuntu"/>
              </a:rPr>
              <a:t>13</a:t>
            </a:r>
          </a:p>
        </p:txBody>
      </p:sp>
      <p:sp>
        <p:nvSpPr>
          <p:cNvPr id="5" name="text-128">
            <a:extLst xmlns:a="http://schemas.openxmlformats.org/drawingml/2006/main">
              <a:ext uri="{FF2B5EF4-FFF2-40B4-BE49-F238E27FC236}">
                <a16:creationId xmlns:a16="http://schemas.microsoft.com/office/drawing/2014/main" id="{BEA3A451-820E-4740-AC77-372D8163341A}"/>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BAD4D2"/>
                </a:solidFill>
                <a:latin typeface="Ubuntu"/>
                <a:ea typeface="Ubuntu"/>
                <a:cs typeface="Ubuntu"/>
              </a:defRPr>
            </a:pPr>
            <a:r>
              <a:rPr sz="1200" b="0">
                <a:solidFill>
                  <a:srgbClr val="BAD4D2"/>
                </a:solidFill>
                <a:latin typeface="Ubuntu"/>
                <a:ea typeface="Ubuntu"/>
                <a:cs typeface="Ubuntu"/>
              </a:rPr>
              <a:t>Staged customer receipts fund delivery. Financed assets need separate capital. Valuation and investment terms remain open.</a:t>
            </a:r>
          </a:p>
        </p:txBody>
      </p:sp>
      <p:sp>
        <p:nvSpPr>
          <p:cNvPr id="6" name="text-129">
            <a:extLst xmlns:a="http://schemas.openxmlformats.org/drawingml/2006/main">
              <a:ext uri="{FF2B5EF4-FFF2-40B4-BE49-F238E27FC236}">
                <a16:creationId xmlns:a16="http://schemas.microsoft.com/office/drawing/2014/main" id="{951819CA-8E2B-4E82-A5E9-141C1E12D786}"/>
              </a:ext>
            </a:extLst>
          </p:cNvPr>
          <p:cNvSpPr>
            <a:spLocks xmlns:a="http://schemas.openxmlformats.org/drawingml/2006/main" noGrp="1"/>
          </p:cNvSpPr>
          <p:nvPr/>
        </p:nvSpPr>
        <p:spPr>
          <a:xfrm xmlns:a="http://schemas.openxmlformats.org/drawingml/2006/main">
            <a:off x="714375" y="2857500"/>
            <a:ext cx="4333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6825" b="1">
                <a:solidFill>
                  <a:srgbClr val="81E2CF"/>
                </a:solidFill>
                <a:latin typeface="Ubuntu"/>
                <a:ea typeface="Ubuntu"/>
                <a:cs typeface="Ubuntu"/>
              </a:defRPr>
            </a:pPr>
            <a:r>
              <a:rPr sz="6825" b="1">
                <a:solidFill>
                  <a:srgbClr val="81E2CF"/>
                </a:solidFill>
                <a:latin typeface="Ubuntu"/>
                <a:ea typeface="Ubuntu"/>
                <a:cs typeface="Ubuntu"/>
              </a:rPr>
              <a:t>€700k</a:t>
            </a:r>
          </a:p>
        </p:txBody>
      </p:sp>
      <p:sp>
        <p:nvSpPr>
          <p:cNvPr id="7" name="text-130">
            <a:extLst xmlns:a="http://schemas.openxmlformats.org/drawingml/2006/main">
              <a:ext uri="{FF2B5EF4-FFF2-40B4-BE49-F238E27FC236}">
                <a16:creationId xmlns:a16="http://schemas.microsoft.com/office/drawing/2014/main" id="{FDBF77F5-5655-4450-A28D-71CCC3E4DBE9}"/>
              </a:ext>
            </a:extLst>
          </p:cNvPr>
          <p:cNvSpPr>
            <a:spLocks xmlns:a="http://schemas.openxmlformats.org/drawingml/2006/main" noGrp="1"/>
          </p:cNvSpPr>
          <p:nvPr/>
        </p:nvSpPr>
        <p:spPr>
          <a:xfrm xmlns:a="http://schemas.openxmlformats.org/drawingml/2006/main">
            <a:off x="762000" y="420052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FFFFFF"/>
                </a:solidFill>
                <a:latin typeface="Ubuntu"/>
                <a:ea typeface="Ubuntu"/>
                <a:cs typeface="Ubuntu"/>
              </a:defRPr>
            </a:pPr>
            <a:r>
              <a:rPr sz="2025" b="1">
                <a:solidFill>
                  <a:srgbClr val="FFFFFF"/>
                </a:solidFill>
                <a:latin typeface="Ubuntu"/>
                <a:ea typeface="Ubuntu"/>
                <a:cs typeface="Ubuntu"/>
              </a:rPr>
              <a:t>Proposed release gates</a:t>
            </a:r>
          </a:p>
        </p:txBody>
      </p:sp>
      <p:sp>
        <p:nvSpPr>
          <p:cNvPr id="8" name="text-131">
            <a:extLst xmlns:a="http://schemas.openxmlformats.org/drawingml/2006/main">
              <a:ext uri="{FF2B5EF4-FFF2-40B4-BE49-F238E27FC236}">
                <a16:creationId xmlns:a16="http://schemas.microsoft.com/office/drawing/2014/main" id="{2A872510-B6FF-4A1E-A3F1-114091ADE146}"/>
              </a:ext>
            </a:extLst>
          </p:cNvPr>
          <p:cNvSpPr>
            <a:spLocks xmlns:a="http://schemas.openxmlformats.org/drawingml/2006/main" noGrp="1"/>
          </p:cNvSpPr>
          <p:nvPr/>
        </p:nvSpPr>
        <p:spPr>
          <a:xfrm xmlns:a="http://schemas.openxmlformats.org/drawingml/2006/main">
            <a:off x="771525" y="4695825"/>
            <a:ext cx="45053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BAD4D2"/>
                </a:solidFill>
                <a:latin typeface="Ubuntu"/>
                <a:ea typeface="Ubuntu"/>
                <a:cs typeface="Ubuntu"/>
              </a:defRPr>
            </a:pPr>
            <a:r>
              <a:rPr sz="1650" b="0">
                <a:solidFill>
                  <a:srgbClr val="BAD4D2"/>
                </a:solidFill>
                <a:latin typeface="Ubuntu"/>
                <a:ea typeface="Ubuntu"/>
                <a:cs typeface="Ubuntu"/>
              </a:rPr>
              <a:t>Working wizard + cost model</a:t>
            </a:r>
          </a:p>
          <a:p xmlns:a="http://schemas.openxmlformats.org/drawingml/2006/main">
            <a:pPr>
              <a:defRPr sz="1650" b="0">
                <a:solidFill>
                  <a:srgbClr val="BAD4D2"/>
                </a:solidFill>
                <a:latin typeface="Ubuntu"/>
                <a:ea typeface="Ubuntu"/>
                <a:cs typeface="Ubuntu"/>
              </a:defRPr>
            </a:pPr>
            <a:r>
              <a:rPr sz="1650" b="0">
                <a:solidFill>
                  <a:srgbClr val="BAD4D2"/>
                </a:solidFill>
                <a:latin typeface="Ubuntu"/>
                <a:ea typeface="Ubuntu"/>
                <a:cs typeface="Ubuntu"/>
              </a:rPr>
              <a:t>Validated partner rates and capacity</a:t>
            </a:r>
          </a:p>
          <a:p xmlns:a="http://schemas.openxmlformats.org/drawingml/2006/main">
            <a:pPr>
              <a:defRPr sz="1650" b="0">
                <a:solidFill>
                  <a:srgbClr val="BAD4D2"/>
                </a:solidFill>
                <a:latin typeface="Ubuntu"/>
                <a:ea typeface="Ubuntu"/>
                <a:cs typeface="Ubuntu"/>
              </a:defRPr>
            </a:pPr>
            <a:r>
              <a:rPr sz="1650" b="0">
                <a:solidFill>
                  <a:srgbClr val="BAD4D2"/>
                </a:solidFill>
                <a:latin typeface="Ubuntu"/>
                <a:ea typeface="Ubuntu"/>
                <a:cs typeface="Ubuntu"/>
              </a:rPr>
              <a:t>Commissioned sites with measured savings</a:t>
            </a:r>
          </a:p>
        </p:txBody>
      </p:sp>
      <p:sp>
        <p:nvSpPr>
          <p:cNvPr id="9" name="text-132">
            <a:extLst xmlns:a="http://schemas.openxmlformats.org/drawingml/2006/main">
              <a:ext uri="{FF2B5EF4-FFF2-40B4-BE49-F238E27FC236}">
                <a16:creationId xmlns:a16="http://schemas.microsoft.com/office/drawing/2014/main" id="{5778B44C-7738-4797-A977-C9DB3EFD12F1}"/>
              </a:ext>
            </a:extLst>
          </p:cNvPr>
          <p:cNvSpPr>
            <a:spLocks xmlns:a="http://schemas.openxmlformats.org/drawingml/2006/main" noGrp="1"/>
          </p:cNvSpPr>
          <p:nvPr/>
        </p:nvSpPr>
        <p:spPr>
          <a:xfrm xmlns:a="http://schemas.openxmlformats.org/drawingml/2006/main">
            <a:off x="6038850" y="2762250"/>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FFFFF"/>
                </a:solidFill>
                <a:latin typeface="Ubuntu"/>
                <a:ea typeface="Ubuntu"/>
                <a:cs typeface="Ubuntu"/>
              </a:defRPr>
            </a:pPr>
            <a:r>
              <a:rPr sz="1725" b="0">
                <a:solidFill>
                  <a:srgbClr val="FFFFFF"/>
                </a:solidFill>
                <a:latin typeface="Ubuntu"/>
                <a:ea typeface="Ubuntu"/>
                <a:cs typeface="Ubuntu"/>
              </a:rPr>
              <a:t>Software + integrations</a:t>
            </a:r>
          </a:p>
        </p:txBody>
      </p:sp>
      <p:sp>
        <p:nvSpPr>
          <p:cNvPr id="10" name="text-133">
            <a:extLst xmlns:a="http://schemas.openxmlformats.org/drawingml/2006/main">
              <a:ext uri="{FF2B5EF4-FFF2-40B4-BE49-F238E27FC236}">
                <a16:creationId xmlns:a16="http://schemas.microsoft.com/office/drawing/2014/main" id="{625B8320-7F89-41F5-8E5C-8289080E4C8A}"/>
              </a:ext>
            </a:extLst>
          </p:cNvPr>
          <p:cNvSpPr>
            <a:spLocks xmlns:a="http://schemas.openxmlformats.org/drawingml/2006/main" noGrp="1"/>
          </p:cNvSpPr>
          <p:nvPr/>
        </p:nvSpPr>
        <p:spPr>
          <a:xfrm xmlns:a="http://schemas.openxmlformats.org/drawingml/2006/main">
            <a:off x="10287000" y="2762250"/>
            <a:ext cx="1209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81E2CF"/>
                </a:solidFill>
                <a:latin typeface="Ubuntu"/>
                <a:ea typeface="Ubuntu"/>
                <a:cs typeface="Ubuntu"/>
              </a:defRPr>
            </a:pPr>
            <a:r>
              <a:rPr sz="1950" b="1">
                <a:solidFill>
                  <a:srgbClr val="81E2CF"/>
                </a:solidFill>
                <a:latin typeface="Ubuntu"/>
                <a:ea typeface="Ubuntu"/>
                <a:cs typeface="Ubuntu"/>
              </a:rPr>
              <a:t>€250k</a:t>
            </a:r>
          </a:p>
        </p:txBody>
      </p:sp>
      <p:sp>
        <p:nvSpPr>
          <p:cNvPr id="11" name="text-134">
            <a:extLst xmlns:a="http://schemas.openxmlformats.org/drawingml/2006/main">
              <a:ext uri="{FF2B5EF4-FFF2-40B4-BE49-F238E27FC236}">
                <a16:creationId xmlns:a16="http://schemas.microsoft.com/office/drawing/2014/main" id="{06C322C9-3A10-41D9-A89E-EDF9CF93F407}"/>
              </a:ext>
            </a:extLst>
          </p:cNvPr>
          <p:cNvSpPr>
            <a:spLocks xmlns:a="http://schemas.openxmlformats.org/drawingml/2006/main" noGrp="1"/>
          </p:cNvSpPr>
          <p:nvPr/>
        </p:nvSpPr>
        <p:spPr>
          <a:xfrm xmlns:a="http://schemas.openxmlformats.org/drawingml/2006/main">
            <a:off x="6038850" y="3324225"/>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FFFFF"/>
                </a:solidFill>
                <a:latin typeface="Ubuntu"/>
                <a:ea typeface="Ubuntu"/>
                <a:cs typeface="Ubuntu"/>
              </a:defRPr>
            </a:pPr>
            <a:r>
              <a:rPr sz="1725" b="0">
                <a:solidFill>
                  <a:srgbClr val="FFFFFF"/>
                </a:solidFill>
                <a:latin typeface="Ubuntu"/>
                <a:ea typeface="Ubuntu"/>
                <a:cs typeface="Ubuntu"/>
              </a:rPr>
              <a:t>Launch hires + grant capability</a:t>
            </a:r>
          </a:p>
        </p:txBody>
      </p:sp>
      <p:sp>
        <p:nvSpPr>
          <p:cNvPr id="12" name="text-135">
            <a:extLst xmlns:a="http://schemas.openxmlformats.org/drawingml/2006/main">
              <a:ext uri="{FF2B5EF4-FFF2-40B4-BE49-F238E27FC236}">
                <a16:creationId xmlns:a16="http://schemas.microsoft.com/office/drawing/2014/main" id="{BA3982B6-C7DF-43F4-AD1F-F08FE302F960}"/>
              </a:ext>
            </a:extLst>
          </p:cNvPr>
          <p:cNvSpPr>
            <a:spLocks xmlns:a="http://schemas.openxmlformats.org/drawingml/2006/main" noGrp="1"/>
          </p:cNvSpPr>
          <p:nvPr/>
        </p:nvSpPr>
        <p:spPr>
          <a:xfrm xmlns:a="http://schemas.openxmlformats.org/drawingml/2006/main">
            <a:off x="10287000" y="3324225"/>
            <a:ext cx="1209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81E2CF"/>
                </a:solidFill>
                <a:latin typeface="Ubuntu"/>
                <a:ea typeface="Ubuntu"/>
                <a:cs typeface="Ubuntu"/>
              </a:defRPr>
            </a:pPr>
            <a:r>
              <a:rPr sz="1950" b="1">
                <a:solidFill>
                  <a:srgbClr val="81E2CF"/>
                </a:solidFill>
                <a:latin typeface="Ubuntu"/>
                <a:ea typeface="Ubuntu"/>
                <a:cs typeface="Ubuntu"/>
              </a:rPr>
              <a:t>€180k</a:t>
            </a:r>
          </a:p>
        </p:txBody>
      </p:sp>
      <p:sp>
        <p:nvSpPr>
          <p:cNvPr id="13" name="text-136">
            <a:extLst xmlns:a="http://schemas.openxmlformats.org/drawingml/2006/main">
              <a:ext uri="{FF2B5EF4-FFF2-40B4-BE49-F238E27FC236}">
                <a16:creationId xmlns:a16="http://schemas.microsoft.com/office/drawing/2014/main" id="{172B5E33-FFBB-4A9F-93E9-3B6AC621D385}"/>
              </a:ext>
            </a:extLst>
          </p:cNvPr>
          <p:cNvSpPr>
            <a:spLocks xmlns:a="http://schemas.openxmlformats.org/drawingml/2006/main" noGrp="1"/>
          </p:cNvSpPr>
          <p:nvPr/>
        </p:nvSpPr>
        <p:spPr>
          <a:xfrm xmlns:a="http://schemas.openxmlformats.org/drawingml/2006/main">
            <a:off x="6038850" y="3886200"/>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FFFFF"/>
                </a:solidFill>
                <a:latin typeface="Ubuntu"/>
                <a:ea typeface="Ubuntu"/>
                <a:cs typeface="Ubuntu"/>
              </a:defRPr>
            </a:pPr>
            <a:r>
              <a:rPr sz="1725" b="0">
                <a:solidFill>
                  <a:srgbClr val="FFFFFF"/>
                </a:solidFill>
                <a:latin typeface="Ubuntu"/>
                <a:ea typeface="Ubuntu"/>
                <a:cs typeface="Ubuntu"/>
              </a:rPr>
              <a:t>Campaigns + commercial launch</a:t>
            </a:r>
          </a:p>
        </p:txBody>
      </p:sp>
      <p:sp>
        <p:nvSpPr>
          <p:cNvPr id="14" name="text-137">
            <a:extLst xmlns:a="http://schemas.openxmlformats.org/drawingml/2006/main">
              <a:ext uri="{FF2B5EF4-FFF2-40B4-BE49-F238E27FC236}">
                <a16:creationId xmlns:a16="http://schemas.microsoft.com/office/drawing/2014/main" id="{C88A5602-AE02-4B34-BFC3-8A30DF3C0DAC}"/>
              </a:ext>
            </a:extLst>
          </p:cNvPr>
          <p:cNvSpPr>
            <a:spLocks xmlns:a="http://schemas.openxmlformats.org/drawingml/2006/main" noGrp="1"/>
          </p:cNvSpPr>
          <p:nvPr/>
        </p:nvSpPr>
        <p:spPr>
          <a:xfrm xmlns:a="http://schemas.openxmlformats.org/drawingml/2006/main">
            <a:off x="10287000" y="3886200"/>
            <a:ext cx="1209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81E2CF"/>
                </a:solidFill>
                <a:latin typeface="Ubuntu"/>
                <a:ea typeface="Ubuntu"/>
                <a:cs typeface="Ubuntu"/>
              </a:defRPr>
            </a:pPr>
            <a:r>
              <a:rPr sz="1950" b="1">
                <a:solidFill>
                  <a:srgbClr val="81E2CF"/>
                </a:solidFill>
                <a:latin typeface="Ubuntu"/>
                <a:ea typeface="Ubuntu"/>
                <a:cs typeface="Ubuntu"/>
              </a:rPr>
              <a:t>€120k</a:t>
            </a:r>
          </a:p>
        </p:txBody>
      </p:sp>
      <p:sp>
        <p:nvSpPr>
          <p:cNvPr id="15" name="text-138">
            <a:extLst xmlns:a="http://schemas.openxmlformats.org/drawingml/2006/main">
              <a:ext uri="{FF2B5EF4-FFF2-40B4-BE49-F238E27FC236}">
                <a16:creationId xmlns:a16="http://schemas.microsoft.com/office/drawing/2014/main" id="{844AB118-D2D4-4091-A981-D61FF87C840C}"/>
              </a:ext>
            </a:extLst>
          </p:cNvPr>
          <p:cNvSpPr>
            <a:spLocks xmlns:a="http://schemas.openxmlformats.org/drawingml/2006/main" noGrp="1"/>
          </p:cNvSpPr>
          <p:nvPr/>
        </p:nvSpPr>
        <p:spPr>
          <a:xfrm xmlns:a="http://schemas.openxmlformats.org/drawingml/2006/main">
            <a:off x="6038850" y="4448175"/>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FFFFF"/>
                </a:solidFill>
                <a:latin typeface="Ubuntu"/>
                <a:ea typeface="Ubuntu"/>
                <a:cs typeface="Ubuntu"/>
              </a:defRPr>
            </a:pPr>
            <a:r>
              <a:rPr sz="1725" b="0">
                <a:solidFill>
                  <a:srgbClr val="FFFFFF"/>
                </a:solidFill>
                <a:latin typeface="Ubuntu"/>
                <a:ea typeface="Ubuntu"/>
                <a:cs typeface="Ubuntu"/>
              </a:rPr>
              <a:t>Working capital</a:t>
            </a:r>
          </a:p>
        </p:txBody>
      </p:sp>
      <p:sp>
        <p:nvSpPr>
          <p:cNvPr id="16" name="text-139">
            <a:extLst xmlns:a="http://schemas.openxmlformats.org/drawingml/2006/main">
              <a:ext uri="{FF2B5EF4-FFF2-40B4-BE49-F238E27FC236}">
                <a16:creationId xmlns:a16="http://schemas.microsoft.com/office/drawing/2014/main" id="{AEF8B46A-B006-4888-A01E-F40859DD7301}"/>
              </a:ext>
            </a:extLst>
          </p:cNvPr>
          <p:cNvSpPr>
            <a:spLocks xmlns:a="http://schemas.openxmlformats.org/drawingml/2006/main" noGrp="1"/>
          </p:cNvSpPr>
          <p:nvPr/>
        </p:nvSpPr>
        <p:spPr>
          <a:xfrm xmlns:a="http://schemas.openxmlformats.org/drawingml/2006/main">
            <a:off x="10287000" y="4448175"/>
            <a:ext cx="1209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81E2CF"/>
                </a:solidFill>
                <a:latin typeface="Ubuntu"/>
                <a:ea typeface="Ubuntu"/>
                <a:cs typeface="Ubuntu"/>
              </a:defRPr>
            </a:pPr>
            <a:r>
              <a:rPr sz="1950" b="1">
                <a:solidFill>
                  <a:srgbClr val="81E2CF"/>
                </a:solidFill>
                <a:latin typeface="Ubuntu"/>
                <a:ea typeface="Ubuntu"/>
                <a:cs typeface="Ubuntu"/>
              </a:rPr>
              <a:t>€100k</a:t>
            </a:r>
          </a:p>
        </p:txBody>
      </p:sp>
      <p:sp>
        <p:nvSpPr>
          <p:cNvPr id="17" name="text-140">
            <a:extLst xmlns:a="http://schemas.openxmlformats.org/drawingml/2006/main">
              <a:ext uri="{FF2B5EF4-FFF2-40B4-BE49-F238E27FC236}">
                <a16:creationId xmlns:a16="http://schemas.microsoft.com/office/drawing/2014/main" id="{9E911B31-0AA7-4EC4-98A5-5E283CA988F9}"/>
              </a:ext>
            </a:extLst>
          </p:cNvPr>
          <p:cNvSpPr>
            <a:spLocks xmlns:a="http://schemas.openxmlformats.org/drawingml/2006/main" noGrp="1"/>
          </p:cNvSpPr>
          <p:nvPr/>
        </p:nvSpPr>
        <p:spPr>
          <a:xfrm xmlns:a="http://schemas.openxmlformats.org/drawingml/2006/main">
            <a:off x="6038850" y="5010150"/>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FFFFF"/>
                </a:solidFill>
                <a:latin typeface="Ubuntu"/>
                <a:ea typeface="Ubuntu"/>
                <a:cs typeface="Ubuntu"/>
              </a:defRPr>
            </a:pPr>
            <a:r>
              <a:rPr sz="1725" b="0">
                <a:solidFill>
                  <a:srgbClr val="FFFFFF"/>
                </a:solidFill>
                <a:latin typeface="Ubuntu"/>
                <a:ea typeface="Ubuntu"/>
                <a:cs typeface="Ubuntu"/>
              </a:rPr>
              <a:t>Contingency reserve</a:t>
            </a:r>
          </a:p>
        </p:txBody>
      </p:sp>
      <p:sp>
        <p:nvSpPr>
          <p:cNvPr id="18" name="text-141">
            <a:extLst xmlns:a="http://schemas.openxmlformats.org/drawingml/2006/main">
              <a:ext uri="{FF2B5EF4-FFF2-40B4-BE49-F238E27FC236}">
                <a16:creationId xmlns:a16="http://schemas.microsoft.com/office/drawing/2014/main" id="{B82D1593-7F47-462B-B630-94495C32DDAA}"/>
              </a:ext>
            </a:extLst>
          </p:cNvPr>
          <p:cNvSpPr>
            <a:spLocks xmlns:a="http://schemas.openxmlformats.org/drawingml/2006/main" noGrp="1"/>
          </p:cNvSpPr>
          <p:nvPr/>
        </p:nvSpPr>
        <p:spPr>
          <a:xfrm xmlns:a="http://schemas.openxmlformats.org/drawingml/2006/main">
            <a:off x="10287000" y="5010150"/>
            <a:ext cx="1209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81E2CF"/>
                </a:solidFill>
                <a:latin typeface="Ubuntu"/>
                <a:ea typeface="Ubuntu"/>
                <a:cs typeface="Ubuntu"/>
              </a:defRPr>
            </a:pPr>
            <a:r>
              <a:rPr sz="1950" b="1">
                <a:solidFill>
                  <a:srgbClr val="81E2CF"/>
                </a:solidFill>
                <a:latin typeface="Ubuntu"/>
                <a:ea typeface="Ubuntu"/>
                <a:cs typeface="Ubuntu"/>
              </a:rPr>
              <a:t>€50k</a:t>
            </a:r>
          </a:p>
        </p:txBody>
      </p:sp>
    </p:spTree>
    <p:extLst>
      <p:ext uri="{BB962C8B-B14F-4D97-AF65-F5344CB8AC3E}">
        <p14:creationId xmlns:p14="http://schemas.microsoft.com/office/powerpoint/2010/main" val="1117339922"/>
      </p:ext>
    </p:extLst>
  </p:cSld>
</p:sld>
</file>

<file path=ppt/slides/slide14.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7" name="text-142">
            <a:extLst xmlns:a="http://schemas.openxmlformats.org/drawingml/2006/main">
              <a:ext uri="{FF2B5EF4-FFF2-40B4-BE49-F238E27FC236}">
                <a16:creationId xmlns:a16="http://schemas.microsoft.com/office/drawing/2014/main" id="{9B4F2FFD-E85B-499B-A3AD-0A6A68B476E5}"/>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Appendix: acquisition by facility profile</a:t>
            </a:r>
          </a:p>
        </p:txBody>
      </p:sp>
      <p:sp>
        <p:nvSpPr>
          <p:cNvPr id="2" name="text-143">
            <a:extLst xmlns:a="http://schemas.openxmlformats.org/drawingml/2006/main">
              <a:ext uri="{FF2B5EF4-FFF2-40B4-BE49-F238E27FC236}">
                <a16:creationId xmlns:a16="http://schemas.microsoft.com/office/drawing/2014/main" id="{03665EF1-A714-4AD5-9389-3C46C33A8D51}"/>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New commissioned sites by year. Mix remains fixed in the growth-target scenario.</a:t>
            </a:r>
          </a:p>
        </p:txBody>
      </p:sp>
      <p:sp>
        <p:nvSpPr>
          <p:cNvPr id="3" name="text-144">
            <a:extLst xmlns:a="http://schemas.openxmlformats.org/drawingml/2006/main">
              <a:ext uri="{FF2B5EF4-FFF2-40B4-BE49-F238E27FC236}">
                <a16:creationId xmlns:a16="http://schemas.microsoft.com/office/drawing/2014/main" id="{9EAF3AEC-028F-402D-84F9-C52B75FF7046}"/>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145">
            <a:extLst xmlns:a="http://schemas.openxmlformats.org/drawingml/2006/main">
              <a:ext uri="{FF2B5EF4-FFF2-40B4-BE49-F238E27FC236}">
                <a16:creationId xmlns:a16="http://schemas.microsoft.com/office/drawing/2014/main" id="{89B194FB-8C47-43B7-BF61-8D246EF30825}"/>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14</a:t>
            </a:r>
          </a:p>
        </p:txBody>
      </p:sp>
      <p:sp>
        <p:nvSpPr>
          <p:cNvPr id="5" name="text-146">
            <a:extLst xmlns:a="http://schemas.openxmlformats.org/drawingml/2006/main">
              <a:ext uri="{FF2B5EF4-FFF2-40B4-BE49-F238E27FC236}">
                <a16:creationId xmlns:a16="http://schemas.microsoft.com/office/drawing/2014/main" id="{966AD883-5B53-4F0B-BB73-C732C8DBBED3}"/>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Representative pitches: S 100 / M 250 / L 500. Star-specific loads are modelling assumptions.</a:t>
            </a:r>
          </a:p>
        </p:txBody>
      </p:sp>
      <p:graphicFrame>
        <p:nvGraphicFramePr>
          <p:cNvPr id="12" name=""/>
          <p:cNvGraphicFramePr/>
          <p:nvPr/>
        </p:nvGraphicFramePr>
        <p:xfrm>
          <a:off xmlns:a="http://schemas.openxmlformats.org/drawingml/2006/main" x="704850" y="2600325"/>
          <a:ext xmlns:a="http://schemas.openxmlformats.org/drawingml/2006/main" cx="10782300" cy="3152775"/>
        </p:xfrm>
        <a:graphic xmlns:a="http://schemas.openxmlformats.org/drawingml/2006/main">
          <a:graphicData uri="http://schemas.openxmlformats.org/drawingml/2006/table">
            <a:tbl>
              <a:tblPr firstRow="1" bandRow="0"/>
              <a:tblGrid>
                <a:gridCol w="2952750"/>
                <a:gridCol w="3000375"/>
                <a:gridCol w="1609725"/>
                <a:gridCol w="1609725"/>
                <a:gridCol w="1609725"/>
              </a:tblGrid>
              <a:tr h="286616">
                <a:tc>
                  <a:txBody>
                    <a:bodyPr/>
                    <a:lstStyle/>
                    <a:p>
                      <a:r>
                        <a:rPr sz="1500" b="1">
                          <a:solidFill>
                            <a:srgbClr val="FFFFFF"/>
                          </a:solidFill>
                          <a:latin typeface="Ubuntu"/>
                          <a:ea typeface="Ubuntu"/>
                          <a:cs typeface="Ubuntu"/>
                        </a:rPr>
                        <a:t>Profile</a:t>
                      </a:r>
                    </a:p>
                  </a:txBody>
                  <a:tcPr marL="114300" marR="114300" marT="85725" marB="85725" anchor="ctr">
                    <a:solidFill>
                      <a:srgbClr val="1F7A6D"/>
                    </a:solidFill>
                  </a:tcPr>
                </a:tc>
                <a:tc>
                  <a:txBody>
                    <a:bodyPr/>
                    <a:lstStyle/>
                    <a:p>
                      <a:r>
                        <a:rPr sz="1500" b="1">
                          <a:solidFill>
                            <a:srgbClr val="FFFFFF"/>
                          </a:solidFill>
                          <a:latin typeface="Ubuntu"/>
                          <a:ea typeface="Ubuntu"/>
                          <a:cs typeface="Ubuntu"/>
                        </a:rPr>
                        <a:t>Demand MWh / yr</a:t>
                      </a:r>
                    </a:p>
                  </a:txBody>
                  <a:tcPr marL="114300" marR="114300" marT="85725" marB="85725" anchor="ctr">
                    <a:solidFill>
                      <a:srgbClr val="1F7A6D"/>
                    </a:solidFill>
                  </a:tcPr>
                </a:tc>
                <a:tc>
                  <a:txBody>
                    <a:bodyPr/>
                    <a:lstStyle/>
                    <a:p>
                      <a:r>
                        <a:rPr sz="1500" b="1">
                          <a:solidFill>
                            <a:srgbClr val="FFFFFF"/>
                          </a:solidFill>
                          <a:latin typeface="Ubuntu"/>
                          <a:ea typeface="Ubuntu"/>
                          <a:cs typeface="Ubuntu"/>
                        </a:rPr>
                        <a:t>2027</a:t>
                      </a:r>
                    </a:p>
                  </a:txBody>
                  <a:tcPr marL="114300" marR="114300" marT="85725" marB="85725" anchor="ctr">
                    <a:solidFill>
                      <a:srgbClr val="1F7A6D"/>
                    </a:solidFill>
                  </a:tcPr>
                </a:tc>
                <a:tc>
                  <a:txBody>
                    <a:bodyPr/>
                    <a:lstStyle/>
                    <a:p>
                      <a:r>
                        <a:rPr sz="1500" b="1">
                          <a:solidFill>
                            <a:srgbClr val="FFFFFF"/>
                          </a:solidFill>
                          <a:latin typeface="Ubuntu"/>
                          <a:ea typeface="Ubuntu"/>
                          <a:cs typeface="Ubuntu"/>
                        </a:rPr>
                        <a:t>2028</a:t>
                      </a:r>
                    </a:p>
                  </a:txBody>
                  <a:tcPr marL="114300" marR="114300" marT="85725" marB="85725" anchor="ctr">
                    <a:solidFill>
                      <a:srgbClr val="1F7A6D"/>
                    </a:solidFill>
                  </a:tcPr>
                </a:tc>
                <a:tc>
                  <a:txBody>
                    <a:bodyPr/>
                    <a:lstStyle/>
                    <a:p>
                      <a:r>
                        <a:rPr sz="1500" b="1">
                          <a:solidFill>
                            <a:srgbClr val="FFFFFF"/>
                          </a:solidFill>
                          <a:latin typeface="Ubuntu"/>
                          <a:ea typeface="Ubuntu"/>
                          <a:cs typeface="Ubuntu"/>
                        </a:rPr>
                        <a:t>2029</a:t>
                      </a:r>
                    </a:p>
                  </a:txBody>
                  <a:tcPr marL="114300" marR="114300" marT="85725" marB="85725" anchor="ctr">
                    <a:solidFill>
                      <a:srgbClr val="1F7A6D"/>
                    </a:solidFill>
                  </a:tcPr>
                </a:tc>
              </a:tr>
              <a:tr h="286616">
                <a:tc>
                  <a:txBody>
                    <a:bodyPr/>
                    <a:lstStyle/>
                    <a:p>
                      <a:r>
                        <a:rPr sz="1500">
                          <a:solidFill>
                            <a:srgbClr val="112D35"/>
                          </a:solidFill>
                          <a:latin typeface="Ubuntu"/>
                          <a:ea typeface="Ubuntu"/>
                          <a:cs typeface="Ubuntu"/>
                        </a:rPr>
                        <a:t>3★ Small</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75</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3</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4★ Small</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95</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2</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12</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5★ Small</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130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3</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3★ Medium</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330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2</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12</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4★ Medium</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445</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5</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15</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30</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5★ Medium</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600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4</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12</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24</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3★ Large</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900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3</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4★ Large</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1195</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2</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12</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5★ Large</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1500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2</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12</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Total new sites</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20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120</a:t>
                      </a:r>
                    </a:p>
                  </a:txBody>
                  <a:tcPr marL="114300" marR="114300" marT="85725" marB="85725" anchor="ctr">
                    <a:solidFill>
                      <a:srgbClr val="F3F3EB"/>
                    </a:solidFill>
                  </a:tcPr>
                </a:tc>
              </a:tr>
            </a:tbl>
          </a:graphicData>
        </a:graphic>
      </p:graphicFrame>
    </p:spTree>
    <p:extLst>
      <p:ext uri="{BB962C8B-B14F-4D97-AF65-F5344CB8AC3E}">
        <p14:creationId xmlns:p14="http://schemas.microsoft.com/office/powerpoint/2010/main" val="429772149"/>
      </p:ext>
    </p:extLst>
  </p:cSld>
</p:sld>
</file>

<file path=ppt/slides/slide15.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1" name="text-147">
            <a:extLst xmlns:a="http://schemas.openxmlformats.org/drawingml/2006/main">
              <a:ext uri="{FF2B5EF4-FFF2-40B4-BE49-F238E27FC236}">
                <a16:creationId xmlns:a16="http://schemas.microsoft.com/office/drawing/2014/main" id="{612F5156-9279-4588-A600-4ED85122AE51}"/>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Appendix: assumptions and package boundaries</a:t>
            </a:r>
          </a:p>
        </p:txBody>
      </p:sp>
      <p:sp>
        <p:nvSpPr>
          <p:cNvPr id="2" name="text-148">
            <a:extLst xmlns:a="http://schemas.openxmlformats.org/drawingml/2006/main">
              <a:ext uri="{FF2B5EF4-FFF2-40B4-BE49-F238E27FC236}">
                <a16:creationId xmlns:a16="http://schemas.microsoft.com/office/drawing/2014/main" id="{35645AE0-7C6C-4ED7-A55D-349AA001969D}"/>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New solar-first economics are distinct from the earlier full-microgrid packages.</a:t>
            </a:r>
          </a:p>
        </p:txBody>
      </p:sp>
      <p:sp>
        <p:nvSpPr>
          <p:cNvPr id="3" name="text-149">
            <a:extLst xmlns:a="http://schemas.openxmlformats.org/drawingml/2006/main">
              <a:ext uri="{FF2B5EF4-FFF2-40B4-BE49-F238E27FC236}">
                <a16:creationId xmlns:a16="http://schemas.microsoft.com/office/drawing/2014/main" id="{0435401E-4707-4DD7-B8E7-E3322F0E26B6}"/>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150">
            <a:extLst xmlns:a="http://schemas.openxmlformats.org/drawingml/2006/main">
              <a:ext uri="{FF2B5EF4-FFF2-40B4-BE49-F238E27FC236}">
                <a16:creationId xmlns:a16="http://schemas.microsoft.com/office/drawing/2014/main" id="{18F7C3EB-0F02-4138-AA2E-1A24EAB33E48}"/>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15</a:t>
            </a:r>
          </a:p>
        </p:txBody>
      </p:sp>
      <p:sp>
        <p:nvSpPr>
          <p:cNvPr id="5" name="text-151">
            <a:extLst xmlns:a="http://schemas.openxmlformats.org/drawingml/2006/main">
              <a:ext uri="{FF2B5EF4-FFF2-40B4-BE49-F238E27FC236}">
                <a16:creationId xmlns:a16="http://schemas.microsoft.com/office/drawing/2014/main" id="{E5FCE823-2376-444C-B95D-1874321EBC55}"/>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No granted aid, export revenue, EV income or flexibility revenue. Simple payback is not IRR.</a:t>
            </a:r>
          </a:p>
        </p:txBody>
      </p:sp>
      <p:sp>
        <p:nvSpPr>
          <p:cNvPr id="6" name="text-152">
            <a:extLst xmlns:a="http://schemas.openxmlformats.org/drawingml/2006/main">
              <a:ext uri="{FF2B5EF4-FFF2-40B4-BE49-F238E27FC236}">
                <a16:creationId xmlns:a16="http://schemas.microsoft.com/office/drawing/2014/main" id="{92E5EBAE-DB94-4E39-ADBB-5640BE31DD66}"/>
              </a:ext>
            </a:extLst>
          </p:cNvPr>
          <p:cNvSpPr>
            <a:spLocks xmlns:a="http://schemas.openxmlformats.org/drawingml/2006/main" noGrp="1"/>
          </p:cNvSpPr>
          <p:nvPr/>
        </p:nvSpPr>
        <p:spPr>
          <a:xfrm xmlns:a="http://schemas.openxmlformats.org/drawingml/2006/main">
            <a:off x="714375" y="26955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F7A6D"/>
                </a:solidFill>
                <a:latin typeface="Ubuntu"/>
                <a:ea typeface="Ubuntu"/>
                <a:cs typeface="Ubuntu"/>
              </a:defRPr>
            </a:pPr>
            <a:r>
              <a:rPr sz="2100" b="1">
                <a:solidFill>
                  <a:srgbClr val="1F7A6D"/>
                </a:solidFill>
                <a:latin typeface="Ubuntu"/>
                <a:ea typeface="Ubuntu"/>
                <a:cs typeface="Ubuntu"/>
              </a:rPr>
              <a:t>Documented planning inputs</a:t>
            </a:r>
          </a:p>
        </p:txBody>
      </p:sp>
      <p:sp>
        <p:nvSpPr>
          <p:cNvPr id="7" name="text-153">
            <a:extLst xmlns:a="http://schemas.openxmlformats.org/drawingml/2006/main">
              <a:ext uri="{FF2B5EF4-FFF2-40B4-BE49-F238E27FC236}">
                <a16:creationId xmlns:a16="http://schemas.microsoft.com/office/drawing/2014/main" id="{EC34B726-A3EC-4406-A24D-2B0E353B87DC}"/>
              </a:ext>
            </a:extLst>
          </p:cNvPr>
          <p:cNvSpPr>
            <a:spLocks xmlns:a="http://schemas.openxmlformats.org/drawingml/2006/main" noGrp="1"/>
          </p:cNvSpPr>
          <p:nvPr/>
        </p:nvSpPr>
        <p:spPr>
          <a:xfrm xmlns:a="http://schemas.openxmlformats.org/drawingml/2006/main">
            <a:off x="733425" y="3295650"/>
            <a:ext cx="512445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S 50–150 / M 150–350 / L 350–700 pitches</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1,400 kWh/kWp Southern Europe reference</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35% target works gross margin</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€250k software CAPEX + €590k year-1 OPEX</a:t>
            </a:r>
          </a:p>
        </p:txBody>
      </p:sp>
      <p:sp>
        <p:nvSpPr>
          <p:cNvPr id="8" name="text-154">
            <a:extLst xmlns:a="http://schemas.openxmlformats.org/drawingml/2006/main">
              <a:ext uri="{FF2B5EF4-FFF2-40B4-BE49-F238E27FC236}">
                <a16:creationId xmlns:a16="http://schemas.microsoft.com/office/drawing/2014/main" id="{5997B41B-18EA-46FA-9D81-A847B0A170A2}"/>
              </a:ext>
            </a:extLst>
          </p:cNvPr>
          <p:cNvSpPr>
            <a:spLocks xmlns:a="http://schemas.openxmlformats.org/drawingml/2006/main" noGrp="1"/>
          </p:cNvSpPr>
          <p:nvPr/>
        </p:nvSpPr>
        <p:spPr>
          <a:xfrm xmlns:a="http://schemas.openxmlformats.org/drawingml/2006/main">
            <a:off x="742950" y="5038725"/>
            <a:ext cx="5105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4616A"/>
                </a:solidFill>
                <a:latin typeface="Ubuntu"/>
                <a:ea typeface="Ubuntu"/>
                <a:cs typeface="Ubuntu"/>
              </a:defRPr>
            </a:pPr>
            <a:r>
              <a:rPr sz="1500" b="0">
                <a:solidFill>
                  <a:srgbClr val="44616A"/>
                </a:solidFill>
                <a:latin typeface="Ubuntu"/>
                <a:ea typeface="Ubuntu"/>
                <a:cs typeface="Ubuntu"/>
              </a:rPr>
              <a:t>Earlier full packages: S €0.20–0.35m,</a:t>
            </a:r>
          </a:p>
          <a:p xmlns:a="http://schemas.openxmlformats.org/drawingml/2006/main">
            <a:pPr>
              <a:defRPr sz="1500" b="0">
                <a:solidFill>
                  <a:srgbClr val="44616A"/>
                </a:solidFill>
                <a:latin typeface="Ubuntu"/>
                <a:ea typeface="Ubuntu"/>
                <a:cs typeface="Ubuntu"/>
              </a:defRPr>
            </a:pPr>
            <a:r>
              <a:rPr sz="1500" b="0">
                <a:solidFill>
                  <a:srgbClr val="44616A"/>
                </a:solidFill>
                <a:latin typeface="Ubuntu"/>
                <a:ea typeface="Ubuntu"/>
                <a:cs typeface="Ubuntu"/>
              </a:rPr>
              <a:t>M €0.9–1.2m, L €2.1–2.7m, with larger</a:t>
            </a:r>
          </a:p>
          <a:p xmlns:a="http://schemas.openxmlformats.org/drawingml/2006/main">
            <a:pPr>
              <a:defRPr sz="1500" b="0">
                <a:solidFill>
                  <a:srgbClr val="44616A"/>
                </a:solidFill>
                <a:latin typeface="Ubuntu"/>
                <a:ea typeface="Ubuntu"/>
                <a:cs typeface="Ubuntu"/>
              </a:defRPr>
            </a:pPr>
            <a:r>
              <a:rPr sz="1500" b="0">
                <a:solidFill>
                  <a:srgbClr val="44616A"/>
                </a:solidFill>
                <a:latin typeface="Ubuntu"/>
                <a:ea typeface="Ubuntu"/>
                <a:cs typeface="Ubuntu"/>
              </a:rPr>
              <a:t>batteries and EV equipment.</a:t>
            </a:r>
          </a:p>
        </p:txBody>
      </p:sp>
      <p:sp>
        <p:nvSpPr>
          <p:cNvPr id="9" name="text-155">
            <a:extLst xmlns:a="http://schemas.openxmlformats.org/drawingml/2006/main">
              <a:ext uri="{FF2B5EF4-FFF2-40B4-BE49-F238E27FC236}">
                <a16:creationId xmlns:a16="http://schemas.microsoft.com/office/drawing/2014/main" id="{93825431-F03E-49E5-B64E-FDF9F7B779A8}"/>
              </a:ext>
            </a:extLst>
          </p:cNvPr>
          <p:cNvSpPr>
            <a:spLocks xmlns:a="http://schemas.openxmlformats.org/drawingml/2006/main" noGrp="1"/>
          </p:cNvSpPr>
          <p:nvPr/>
        </p:nvSpPr>
        <p:spPr>
          <a:xfrm xmlns:a="http://schemas.openxmlformats.org/drawingml/2006/main">
            <a:off x="6486525" y="2695575"/>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F7A6D"/>
                </a:solidFill>
                <a:latin typeface="Ubuntu"/>
                <a:ea typeface="Ubuntu"/>
                <a:cs typeface="Ubuntu"/>
              </a:defRPr>
            </a:pPr>
            <a:r>
              <a:rPr sz="2100" b="1">
                <a:solidFill>
                  <a:srgbClr val="1F7A6D"/>
                </a:solidFill>
                <a:latin typeface="Ubuntu"/>
                <a:ea typeface="Ubuntu"/>
                <a:cs typeface="Ubuntu"/>
              </a:rPr>
              <a:t>New budget hypotheses</a:t>
            </a:r>
          </a:p>
        </p:txBody>
      </p:sp>
      <p:sp>
        <p:nvSpPr>
          <p:cNvPr id="10" name="text-156">
            <a:extLst xmlns:a="http://schemas.openxmlformats.org/drawingml/2006/main">
              <a:ext uri="{FF2B5EF4-FFF2-40B4-BE49-F238E27FC236}">
                <a16:creationId xmlns:a16="http://schemas.microsoft.com/office/drawing/2014/main" id="{592E5B5C-B0F0-4EE0-A310-92707179FD6A}"/>
              </a:ext>
            </a:extLst>
          </p:cNvPr>
          <p:cNvSpPr>
            <a:spLocks xmlns:a="http://schemas.openxmlformats.org/drawingml/2006/main" noGrp="1"/>
          </p:cNvSpPr>
          <p:nvPr/>
        </p:nvSpPr>
        <p:spPr>
          <a:xfrm xmlns:a="http://schemas.openxmlformats.org/drawingml/2006/main">
            <a:off x="6496050" y="3286125"/>
            <a:ext cx="5019675"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55% bill offset / 85% PV self-use</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€900/kWp PV / €300/kWh battery</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€180/m² carport / 10% contingency</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Limited M/L storage. No S battery.</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Software €2.5k / €4k / €5k per year</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Maintenance €2k / €4k / €8k per year</a:t>
            </a:r>
          </a:p>
        </p:txBody>
      </p:sp>
    </p:spTree>
    <p:extLst>
      <p:ext uri="{BB962C8B-B14F-4D97-AF65-F5344CB8AC3E}">
        <p14:creationId xmlns:p14="http://schemas.microsoft.com/office/powerpoint/2010/main" val="1067230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2026-10-04T17:10:00.3030000Z</dcterms:created>
  <dcterms:modified xsi:type="dcterms:W3CDTF">2026-10-04T17:10:00.3030000Z</dcterms:modified>
</coreProperties>
</file>