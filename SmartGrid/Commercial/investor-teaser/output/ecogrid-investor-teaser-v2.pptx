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e6edc4bc544abe" /><Relationship Type="http://schemas.openxmlformats.org/officeDocument/2006/relationships/extended-properties" Target="/docProps/app.xml" Id="Ra149113b62fc4bc4" /><Relationship Type="http://schemas.openxmlformats.org/officeDocument/2006/relationships/officeDocument" Target="/ppt/presentation.xml" Id="Rb43f081a0e8747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01d41859c84daf"/>
  </p:sldMasterIdLst>
  <p:notesMasterIdLst>
    <p:notesMasterId xmlns:r="http://schemas.openxmlformats.org/officeDocument/2006/relationships" r:id="R5bc2ba9b770149c7"/>
  </p:notesMasterIdLst>
  <p:sldIdLst>
    <p:sldId xmlns:r="http://schemas.openxmlformats.org/officeDocument/2006/relationships" id="256" r:id="R6e51a237b359429a"/>
    <p:sldId xmlns:r="http://schemas.openxmlformats.org/officeDocument/2006/relationships" id="257" r:id="R03f09f0069a14319"/>
    <p:sldId xmlns:r="http://schemas.openxmlformats.org/officeDocument/2006/relationships" id="258" r:id="Rbd4a5a2d2ec84bda"/>
    <p:sldId xmlns:r="http://schemas.openxmlformats.org/officeDocument/2006/relationships" id="259" r:id="R5c7b245b41584681"/>
    <p:sldId xmlns:r="http://schemas.openxmlformats.org/officeDocument/2006/relationships" id="260" r:id="Ra7c4d4cba5d248f9"/>
    <p:sldId xmlns:r="http://schemas.openxmlformats.org/officeDocument/2006/relationships" id="261" r:id="R36550ad728144d87"/>
    <p:sldId xmlns:r="http://schemas.openxmlformats.org/officeDocument/2006/relationships" id="262" r:id="Rf4a4439cd6a84f4a"/>
    <p:sldId xmlns:r="http://schemas.openxmlformats.org/officeDocument/2006/relationships" id="263" r:id="R90852e6cbbf84292"/>
    <p:sldId xmlns:r="http://schemas.openxmlformats.org/officeDocument/2006/relationships" id="264" r:id="R95697c246cfc4066"/>
    <p:sldId xmlns:r="http://schemas.openxmlformats.org/officeDocument/2006/relationships" id="265" r:id="R4a8c265347444a78"/>
    <p:sldId xmlns:r="http://schemas.openxmlformats.org/officeDocument/2006/relationships" id="266" r:id="R13c0cdb71a3a4565"/>
    <p:sldId xmlns:r="http://schemas.openxmlformats.org/officeDocument/2006/relationships" id="267" r:id="R87993facd9fa4363"/>
    <p:sldId xmlns:r="http://schemas.openxmlformats.org/officeDocument/2006/relationships" id="268" r:id="R80c1629f6f884b0a"/>
    <p:sldId xmlns:r="http://schemas.openxmlformats.org/officeDocument/2006/relationships" id="269" r:id="R7260b80f1d484686"/>
    <p:sldId xmlns:r="http://schemas.openxmlformats.org/officeDocument/2006/relationships" id="270" r:id="R9bf5269edf2d41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baa9c09ffa494f" /><Relationship Type="http://schemas.openxmlformats.org/officeDocument/2006/relationships/slideMaster" Target="/ppt/slideMasters/slideMaster1.xml" Id="R1301d41859c84daf" /><Relationship Type="http://schemas.openxmlformats.org/officeDocument/2006/relationships/notesMaster" Target="/ppt/notesMasters/notesMaster1.xml" Id="R5bc2ba9b770149c7" /><Relationship Type="http://schemas.openxmlformats.org/officeDocument/2006/relationships/presProps" Target="/ppt/presProps.xml" Id="R730df88ba68f4e2d" /><Relationship Type="http://schemas.openxmlformats.org/officeDocument/2006/relationships/tableStyles" Target="/ppt/tableStyles.xml" Id="R4839631b1b9940ef" /><Relationship Type="http://schemas.openxmlformats.org/officeDocument/2006/relationships/slide" Target="/ppt/slides/slide1.xml" Id="R6e51a237b359429a" /><Relationship Type="http://schemas.openxmlformats.org/officeDocument/2006/relationships/slide" Target="/ppt/slides/slide2.xml" Id="R03f09f0069a14319" /><Relationship Type="http://schemas.openxmlformats.org/officeDocument/2006/relationships/slide" Target="/ppt/slides/slide3.xml" Id="Rbd4a5a2d2ec84bda" /><Relationship Type="http://schemas.openxmlformats.org/officeDocument/2006/relationships/slide" Target="/ppt/slides/slide4.xml" Id="R5c7b245b41584681" /><Relationship Type="http://schemas.openxmlformats.org/officeDocument/2006/relationships/slide" Target="/ppt/slides/slide5.xml" Id="Ra7c4d4cba5d248f9" /><Relationship Type="http://schemas.openxmlformats.org/officeDocument/2006/relationships/slide" Target="/ppt/slides/slide6.xml" Id="R36550ad728144d87" /><Relationship Type="http://schemas.openxmlformats.org/officeDocument/2006/relationships/slide" Target="/ppt/slides/slide7.xml" Id="Rf4a4439cd6a84f4a" /><Relationship Type="http://schemas.openxmlformats.org/officeDocument/2006/relationships/slide" Target="/ppt/slides/slide8.xml" Id="R90852e6cbbf84292" /><Relationship Type="http://schemas.openxmlformats.org/officeDocument/2006/relationships/slide" Target="/ppt/slides/slide9.xml" Id="R95697c246cfc4066" /><Relationship Type="http://schemas.openxmlformats.org/officeDocument/2006/relationships/slide" Target="/ppt/slides/slide10.xml" Id="R4a8c265347444a78" /><Relationship Type="http://schemas.openxmlformats.org/officeDocument/2006/relationships/slide" Target="/ppt/slides/slide11.xml" Id="R13c0cdb71a3a4565" /><Relationship Type="http://schemas.openxmlformats.org/officeDocument/2006/relationships/slide" Target="/ppt/slides/slide12.xml" Id="R87993facd9fa4363" /><Relationship Type="http://schemas.openxmlformats.org/officeDocument/2006/relationships/slide" Target="/ppt/slides/slide13.xml" Id="R80c1629f6f884b0a" /><Relationship Type="http://schemas.openxmlformats.org/officeDocument/2006/relationships/slide" Target="/ppt/slides/slide14.xml" Id="R7260b80f1d484686" /><Relationship Type="http://schemas.openxmlformats.org/officeDocument/2006/relationships/slide" Target="/ppt/slides/slide15.xml" Id="R9bf5269edf2d41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986e0cf8ef45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b23fa75df34383" /><Relationship Type="http://schemas.openxmlformats.org/officeDocument/2006/relationships/notesMaster" Target="/ppt/notesMasters/notesMaster1.xml" Id="R3bf4188f10344d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46d6f760ef41df" /><Relationship Type="http://schemas.openxmlformats.org/officeDocument/2006/relationships/notesMaster" Target="/ppt/notesMasters/notesMaster1.xml" Id="R8a4e38c8c3264e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3fe012b11e4960" /><Relationship Type="http://schemas.openxmlformats.org/officeDocument/2006/relationships/notesMaster" Target="/ppt/notesMasters/notesMaster1.xml" Id="R0c447d73551144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785717ffca4cd2" /><Relationship Type="http://schemas.openxmlformats.org/officeDocument/2006/relationships/notesMaster" Target="/ppt/notesMasters/notesMaster1.xml" Id="R657315b044bb42c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12ca20f97a434e" /><Relationship Type="http://schemas.openxmlformats.org/officeDocument/2006/relationships/notesMaster" Target="/ppt/notesMasters/notesMaster1.xml" Id="R4171ef98873441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d29c5f9d5849c8" /><Relationship Type="http://schemas.openxmlformats.org/officeDocument/2006/relationships/notesMaster" Target="/ppt/notesMasters/notesMaster1.xml" Id="R9f102ecefd33408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4df6bd851b40b7" /><Relationship Type="http://schemas.openxmlformats.org/officeDocument/2006/relationships/notesMaster" Target="/ppt/notesMasters/notesMaster1.xml" Id="Rb2cc55ce2e9e4a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77314b8a5184756" /><Relationship Type="http://schemas.openxmlformats.org/officeDocument/2006/relationships/notesMaster" Target="/ppt/notesMasters/notesMaster1.xml" Id="R18636fdb21da44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184b2d86d974b45" /><Relationship Type="http://schemas.openxmlformats.org/officeDocument/2006/relationships/notesMaster" Target="/ppt/notesMasters/notesMaster1.xml" Id="R85abb9b1417940b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a9b894cda164d71" /><Relationship Type="http://schemas.openxmlformats.org/officeDocument/2006/relationships/notesMaster" Target="/ppt/notesMasters/notesMaster1.xml" Id="R6367a9801128449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35399df83564032" /><Relationship Type="http://schemas.openxmlformats.org/officeDocument/2006/relationships/notesMaster" Target="/ppt/notesMasters/notesMaster1.xml" Id="Ra8a053016106480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1e0a17ce9704649" /><Relationship Type="http://schemas.openxmlformats.org/officeDocument/2006/relationships/notesMaster" Target="/ppt/notesMasters/notesMaster1.xml" Id="Rfc8b442456b74f9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d3cb6579efd471e" /><Relationship Type="http://schemas.openxmlformats.org/officeDocument/2006/relationships/notesMaster" Target="/ppt/notesMasters/notesMaster1.xml" Id="Rdefeec5892c5415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7ef41440f92413f" /><Relationship Type="http://schemas.openxmlformats.org/officeDocument/2006/relationships/notesMaster" Target="/ppt/notesMasters/notesMaster1.xml" Id="R32d1a343564740f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a000774c4c84d73" /><Relationship Type="http://schemas.openxmlformats.org/officeDocument/2006/relationships/notesMaster" Target="/ppt/notesMasters/notesMaster1.xml" Id="Ra0cf69a39e0042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Founder brief and confirmed €700k ask, 4 October 2026. Both models, with direct sales leading. Concept visual generated with OpenAI image generation for this presentation. All commercial projections are proposed scenarios.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five-part offer follows the user’s current brief. Product capability is planned scope, not a claim that production modules are deployed. Completion is a lead-interest signal. Technical and commercial qualification remain necessary.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SmartGrid/Commercial/notes_segmentation_energie_2026-06-12.md; BP/BP_interview_notes.md; BP/ECOGRID_Business_Plan_EN.docx; Investor_Package_2026-07/English/ECOGRID_RESORT_Investment_Memorandum_EN.html. New package rates and rollout assumptions: investor-teaser/scenario-data.json and assumptions-and-sources.md. All values are planning hypotheses unless explicitly identified as documented inputs. Campaign universe is a planning target, not a verified market census. 10% completion-to-install conversion, 20% completion-to-audit and 50% audit-to-install. Signed and commissioned counts are equal in this scenario. Acquisition cost includes €90k marketing and €90k sales expense.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SmartGrid/Commercial/notes_segmentation_energie_2026-06-12.md; BP/BP_interview_notes.md; BP/ECOGRID_Business_Plan_EN.docx; Investor_Package_2026-07/English/ECOGRID_RESORT_Investment_Memorandum_EN.html. New package rates and rollout assumptions: investor-teaser/scenario-data.json and assumptions-and-sources.md. All values are planning hypotheses unless explicitly identified as documented inputs.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SmartGrid/Commercial/notes_segmentation_energie_2026-06-12.md; BP/BP_interview_notes.md; BP/ECOGRID_Business_Plan_EN.docx; Investor_Package_2026-07/English/ECOGRID_RESORT_Investment_Memorandum_EN.html. New package rates and rollout assumptions: investor-teaser/scenario-data.json and assumptions-and-sources.md. All values are planning hypotheses unless explicitly identified as documented inputs.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SmartGrid/Commercial/notes_segmentation_energie_2026-06-12.md; BP/BP_interview_notes.md; BP/ECOGRID_Business_Plan_EN.docx; Investor_Package_2026-07/English/ECOGRID_RESORT_Investment_Memorandum_EN.html. New package rates and rollout assumptions: investor-teaser/scenario-data.json and assumptions-and-sources.md. All values are planning hypotheses unless explicitly identified as documented inputs.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sources reviewed 4 October 2026: IDAE RD477 programme https://www.idae.es/ayudas-y-financiacion/para-energias-renovables-en-autoconsumo-almacenamiento-y-termicas-sector/incentivos-autoconsumo-y-almacenamiento-con-fuentes-de-energias-renovables-rd-4772021 (programme ended 31 Dec 2023); https://www.ademe.fr/nos-missions/financement/; GSE https://assistenza.clienti.gse.it/csm/it/differenze-tra-configurazioni-di-autoconsumo?id=faq&amp;sys_id=8d36cf8ec34246143fd7bffb05013182; https://energie.wallonie.be/home/soutiens-financiers/entreprises/audits-et-etudes-amureba/amureba-pour-les-entreprises.html; https://www.vlaio.be/nl/subsidies-financiering/subsidiedatabank/maatregelen/zonnepanelen-steun; https://english.rvo.nl/subsidies-financiering/sde; https://www.ofgem.gov.uk/environmental-and-social-schemes/smart-export-guarantee-seg/electricity-suppliers; https://cinea.ec.europa.eu/programmes/life/clean-energy-transition_en; https://green-forum.ec.europa.eu/green-business/eu-ecolabel/product-groups-and-criteria/tourist-accommodation_en. No blanket grants promised. Ecolabel eligibility does not itself confer grant entitlement.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energy demonstration. Noon balance: 150 kW solar = 95 kW site + 35 kW charging + 20 kW export. Evening 20 kW solar + 60 kW battery = 80 kW site. Not a battery sizing or state-of-charge simulation. No export or flexibility income in forecasts. Founder brief defines planned inverter/battery integration.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SmartGrid/Commercial/notes_segmentation_energie_2026-06-12.md; BP/BP_interview_notes.md; BP/ECOGRID_Business_Plan_EN.docx; Investor_Package_2026-07/English/ECOGRID_RESORT_Investment_Memorandum_EN.html. New package rates and rollout assumptions: investor-teaser/scenario-data.json and assumptions-and-sources.md. All values are planning hypotheses unless explicitly identified as documented inputs. The reference case asset payback exceeds the earlier 15-year contract assumption, so the financed route requires a different structure before approval. Financed comparison uses the quoted client installation price as SPV capital invested, including EPC margin. Maintenance is borne by asset owner. Asset-owner cash deducts maintenance and excludes software revenue, which belongs to ECOGRID. Resort cash after software equals 40% of gross energy savings less software. No grant assumed. Simple payback does not prove a financeable return within the contract term. No financed installations in opco forecasts.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SmartGrid/Commercial/notes_segmentation_energie_2026-06-12.md; BP/BP_interview_notes.md; BP/ECOGRID_Business_Plan_EN.docx; Investor_Package_2026-07/English/ECOGRID_RESORT_Investment_Memorandum_EN.html. New package rates and rollout assumptions: investor-teaser/scenario-data.json and assumptions-and-sources.md. All values are planning hypotheses unless explicitly identified as documented inputs.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SmartGrid/Commercial/notes_segmentation_energie_2026-06-12.md; BP/BP_interview_notes.md; BP/ECOGRID_Business_Plan_EN.docx; Investor_Package_2026-07/English/ECOGRID_RESORT_Investment_Memorandum_EN.html. New package rates and rollout assumptions: investor-teaser/scenario-data.json and assumptions-and-sources.md. All values are planning hypotheses unless explicitly identified as documented inputs. Forecast formulas: works revenue = new sites × weighted quoted price. Works COGS = new sites × weighted delivery cost. Service revenue = (opening sites + 50% of new sites) × weighted annual fees. Service COGS = 35% of service revenue. Gross profit = works revenue minus works COGS plus 65% of service revenue. OPEX = €590k / €1.1m / €1.8m. Software development €250k remains outside EBITDA. Very high EBITDA depends on unvalidated 35% project margin and conversion. No asset or grant revenues.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Founder geography sequence. Proposed delivery capacity 20/60/120 sites divided by 10 per crew per year. Confirm contractor coverage and two approved alternatives for each critical region. Sales + marketing expense €180k/€360k/€600k, included in OPEX rather than charged twice. Schedule installation around seasonal demand.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Confirmed founder ask €700,000. Proposed allocation sums exactly €700,000. €250k software development from June interview. The €300k team+campaign allocation covers about six months of €590k annual OPEX; subsequent expenses rely on collected project margin. €100k working capital and €50k reserve. Negotiate 40% client order / 50% before delivery / 10% acceptance versus supplier payment milestones. Four concurrent average projects and 90% supplier prepayment imply roughly €453k initial bridge need, above the allocation. A monthly cash plan and finance facility may be required. Allocation is not additional to P&amp;L OPEX.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SmartGrid/Commercial/notes_segmentation_energie_2026-06-12.md; BP/BP_interview_notes.md; BP/ECOGRID_Business_Plan_EN.docx; Investor_Package_2026-07/English/ECOGRID_RESORT_Investment_Memorandum_EN.html. New package rates and rollout assumptions: investor-teaser/scenario-data.json and assumptions-and-sources.md. All values are planning hypotheses unless explicitly identified as documented inputs.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SmartGrid/Commercial/notes_segmentation_energie_2026-06-12.md; BP/BP_interview_notes.md; BP/ECOGRID_Business_Plan_EN.docx; Investor_Package_2026-07/English/ECOGRID_RESORT_Investment_Memorandum_EN.html. New package rates and rollout assumptions: investor-teaser/scenario-data.json and assumptions-and-sources.md. All values are planning hypotheses unless explicitly identified as documented inputs.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4e23ffb7da40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309e31e5de4956" /><Relationship Type="http://schemas.openxmlformats.org/officeDocument/2006/relationships/slideLayout" Target="/ppt/slideLayouts/slideLayout1.xml" Id="R4478b6c0de6d48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78b6c0de6d48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454cf297a448d0" /><Relationship Type="http://schemas.openxmlformats.org/officeDocument/2006/relationships/image" Target="/ppt/media/image.png" Id="R825402d87bc34093" /><Relationship Type="http://schemas.openxmlformats.org/officeDocument/2006/relationships/notesSlide" Target="/ppt/notesSlides/notesSlide1.xml" Id="R38b2157315ae4c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97602b446a4cf1" /><Relationship Type="http://schemas.openxmlformats.org/officeDocument/2006/relationships/notesSlide" Target="/ppt/notesSlides/notesSlide2.xml" Id="Rcf7db023d2e04f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ac1bd149b141fc" /><Relationship Type="http://schemas.openxmlformats.org/officeDocument/2006/relationships/notesSlide" Target="/ppt/notesSlides/notesSlide3.xml" Id="R3b9f7f9fe6704f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40535981b64322" /><Relationship Type="http://schemas.openxmlformats.org/officeDocument/2006/relationships/notesSlide" Target="/ppt/notesSlides/notesSlide4.xml" Id="R64344fdb191042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551982a8da4e46" /><Relationship Type="http://schemas.openxmlformats.org/officeDocument/2006/relationships/notesSlide" Target="/ppt/notesSlides/notesSlide5.xml" Id="R1b96566b54a543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bbb0707a404def" /><Relationship Type="http://schemas.openxmlformats.org/officeDocument/2006/relationships/notesSlide" Target="/ppt/notesSlides/notesSlide6.xml" Id="R0ec00e5996404b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deee9ca6f645ca" /><Relationship Type="http://schemas.openxmlformats.org/officeDocument/2006/relationships/notesSlide" Target="/ppt/notesSlides/notesSlide7.xml" Id="Ra854349bbabd4f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de31f9375342fb" /><Relationship Type="http://schemas.openxmlformats.org/officeDocument/2006/relationships/chart" Target="/ppt/slides/charts/chart1.xml" Id="Rd4ff8dcef36848f7" /><Relationship Type="http://schemas.openxmlformats.org/officeDocument/2006/relationships/notesSlide" Target="/ppt/notesSlides/notesSlide8.xml" Id="Rb5fdadd9d49e49d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deb690e5564da5" /><Relationship Type="http://schemas.openxmlformats.org/officeDocument/2006/relationships/notesSlide" Target="/ppt/notesSlides/notesSlide9.xml" Id="R575eef5fe6d44d4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3562cb4220471d" /><Relationship Type="http://schemas.openxmlformats.org/officeDocument/2006/relationships/chart" Target="/ppt/slides/charts/chart2.xml" Id="R7119c311b08e495f" /><Relationship Type="http://schemas.openxmlformats.org/officeDocument/2006/relationships/notesSlide" Target="/ppt/notesSlides/notesSlide10.xml" Id="Rb6c547a631ec4da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5a4d8a32ea424e" /><Relationship Type="http://schemas.openxmlformats.org/officeDocument/2006/relationships/notesSlide" Target="/ppt/notesSlides/notesSlide11.xml" Id="R6fcf7ee79f6f41c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5a2523dbb74b8e" /><Relationship Type="http://schemas.openxmlformats.org/officeDocument/2006/relationships/notesSlide" Target="/ppt/notesSlides/notesSlide12.xml" Id="Rfebe374d6f804ce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b9a4f258314482" /><Relationship Type="http://schemas.openxmlformats.org/officeDocument/2006/relationships/notesSlide" Target="/ppt/notesSlides/notesSlide13.xml" Id="Rb64081f01a5c4ea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d9315eaeed4eb1" /><Relationship Type="http://schemas.openxmlformats.org/officeDocument/2006/relationships/notesSlide" Target="/ppt/notesSlides/notesSlide14.xml" Id="Raf7fe33ce07f480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a9938aac464cd4" /><Relationship Type="http://schemas.openxmlformats.org/officeDocument/2006/relationships/notesSlide" Target="/ppt/notesSlides/notesSlide15.xml" Id="R25790f0f5882425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Solar production</c:v>
          </c:tx>
          <c:spPr>
            <a:ln xmlns:a="http://schemas.openxmlformats.org/drawingml/2006/main" w="38100">
              <a:solidFill>
                <a:srgbClr val="1F7A6D"/>
              </a:solidFill>
            </a:ln>
          </c:spPr>
          <c:marker>
            <c:symbol val="none"/>
          </c:marker>
          <c:cat>
            <c:strRef>
              <c:f>'Chart Data'!$A$2:$A$6</c:f>
              <c:strCache>
                <c:ptCount val="5"/>
                <c:pt idx="0">
                  <c:v>06:00</c:v>
                </c:pt>
                <c:pt idx="1">
                  <c:v>09:00</c:v>
                </c:pt>
                <c:pt idx="2">
                  <c:v>12:00</c:v>
                </c:pt>
                <c:pt idx="3">
                  <c:v>18:00</c:v>
                </c:pt>
                <c:pt idx="4">
                  <c:v>23:00</c:v>
                </c:pt>
              </c:strCache>
            </c:strRef>
          </c:cat>
          <c:val>
            <c:numRef>
              <c:f>'Chart Data'!$B$2:$B$6</c:f>
              <c:numCache>
                <c:formatCode>0" kW"</c:formatCode>
                <c:ptCount val="5"/>
                <c:pt idx="0">
                  <c:v>0</c:v>
                </c:pt>
                <c:pt idx="1">
                  <c:v>80</c:v>
                </c:pt>
                <c:pt idx="2">
                  <c:v>150</c:v>
                </c:pt>
                <c:pt idx="3">
                  <c:v>20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v>Site consumption</c:v>
          </c:tx>
          <c:spPr>
            <a:ln xmlns:a="http://schemas.openxmlformats.org/drawingml/2006/main" w="38100">
              <a:solidFill>
                <a:srgbClr val="F4B740"/>
              </a:solidFill>
            </a:ln>
          </c:spPr>
          <c:marker>
            <c:symbol val="none"/>
          </c:marker>
          <c:cat>
            <c:strRef>
              <c:f>'Chart Data'!$C$2:$C$6</c:f>
              <c:strCache>
                <c:ptCount val="5"/>
                <c:pt idx="0">
                  <c:v>06:00</c:v>
                </c:pt>
                <c:pt idx="1">
                  <c:v>09:00</c:v>
                </c:pt>
                <c:pt idx="2">
                  <c:v>12:00</c:v>
                </c:pt>
                <c:pt idx="3">
                  <c:v>18:00</c:v>
                </c:pt>
                <c:pt idx="4">
                  <c:v>23:00</c:v>
                </c:pt>
              </c:strCache>
            </c:strRef>
          </c:cat>
          <c:val>
            <c:numRef>
              <c:f>'Chart Data'!$D$2:$D$6</c:f>
              <c:numCache>
                <c:formatCode>0" kW"</c:formatCode>
                <c:ptCount val="5"/>
                <c:pt idx="0">
                  <c:v>35</c:v>
                </c:pt>
                <c:pt idx="1">
                  <c:v>65</c:v>
                </c:pt>
                <c:pt idx="2">
                  <c:v>95</c:v>
                </c:pt>
                <c:pt idx="3">
                  <c:v>80</c:v>
                </c:pt>
                <c:pt idx="4">
                  <c:v>45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Ubuntu"/>
                  <a:ea typeface="Ubuntu"/>
                  <a:cs typeface="Ubuntu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</a:p>
        </c:txPr>
        <c:crossAx val="48672768"/>
      </c:catAx>
      <c:valAx>
        <c:axId val="48672768"/>
        <c:scaling>
          <c:orientation val="minMax"/>
          <c:max val="1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6D3CF"/>
              </a:solidFill>
            </a:ln>
          </c:spPr>
        </c:majorGridlines>
        <c:numFmt formatCode="0&quot; kW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</a:p>
        </c:txPr>
        <c:crossAx val="48650112"/>
        <c:crossBetween val="between"/>
        <c:majorUnit val="40"/>
      </c:valAx>
      <c:spPr>
        <a:solidFill xmlns:a="http://schemas.openxmlformats.org/drawingml/2006/main">
          <a:srgbClr val="F3F3EB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112D35"/>
              </a:solidFill>
              <a:latin typeface="Ubuntu"/>
              <a:ea typeface="Ubuntu"/>
              <a:cs typeface="Ubuntu"/>
            </a:defRPr>
          </a:pPr>
        </a:p>
      </c:txPr>
    </c:legend>
    <c:plotVisOnly val="1"/>
  </c:chart>
  <c:spPr>
    <a:solidFill xmlns:a="http://schemas.openxmlformats.org/drawingml/2006/main">
      <a:srgbClr val="F3F3EB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Cumulative sites</c:v>
          </c:tx>
          <c:spPr>
            <a:solidFill xmlns:a="http://schemas.openxmlformats.org/drawingml/2006/main">
              <a:srgbClr val="1F7A6D"/>
            </a:solidFill>
          </c:spPr>
          <c:cat>
            <c:numRef>
              <c:f>'Chart Data'!$A$2:$A$4</c:f>
              <c:numCache>
                <c:formatCode>General</c:formatCode>
                <c:ptCount val="3"/>
                <c:pt idx="0">
                  <c:v>2027</c:v>
                </c:pt>
                <c:pt idx="1">
                  <c:v>2028</c:v>
                </c:pt>
                <c:pt idx="2">
                  <c:v>2029</c:v>
                </c:pt>
              </c:numCache>
            </c:num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20</c:v>
                </c:pt>
                <c:pt idx="1">
                  <c:v>80</c:v>
                </c:pt>
                <c:pt idx="2">
                  <c:v>200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112D35"/>
                  </a:solidFill>
                  <a:latin typeface="Ubuntu"/>
                  <a:ea typeface="Ubuntu"/>
                  <a:cs typeface="Ubuntu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</a:p>
        </c:txPr>
        <c:crossAx val="48672768"/>
      </c:catAx>
      <c:valAx>
        <c:axId val="48672768"/>
        <c:scaling>
          <c:orientation val="minMax"/>
          <c:max val="2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6D3CF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</a:p>
        </c:txPr>
        <c:crossAx val="48650112"/>
        <c:crossBetween val="between"/>
        <c:majorUnit val="60"/>
      </c:valAx>
      <c:spPr>
        <a:solidFill xmlns:a="http://schemas.openxmlformats.org/drawingml/2006/main">
          <a:srgbClr val="F3F3EB"/>
        </a:solidFill>
      </c:spPr>
    </c:plotArea>
    <c:plotVisOnly val="1"/>
  </c:chart>
  <c:spPr>
    <a:solidFill xmlns:a="http://schemas.openxmlformats.org/drawingml/2006/main">
      <a:srgbClr val="F3F3EB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5402d87bc34093"/>
          <a:srcRect xmlns:a="http://schemas.openxmlformats.org/drawingml/2006/main" l="22446" t="0" r="224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76875" y="0"/>
            <a:ext cx="671512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3F24C92-BC9D-4695-A13B-B05FE276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57250"/>
            <a:ext cx="46196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Ubuntu"/>
                <a:ea typeface="Ubuntu"/>
                <a:cs typeface="Ubuntu"/>
              </a:defRPr>
            </a:pPr>
            <a:r>
              <a:rPr sz="4650" b="1">
                <a:solidFill>
                  <a:srgbClr val="FFFFFF"/>
                </a:solidFill>
                <a:latin typeface="Ubuntu"/>
                <a:ea typeface="Ubuntu"/>
                <a:cs typeface="Ubuntu"/>
              </a:rPr>
              <a:t>ECOGRID</a:t>
            </a:r>
          </a:p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Ubuntu"/>
                <a:ea typeface="Ubuntu"/>
                <a:cs typeface="Ubuntu"/>
              </a:defRPr>
            </a:pPr>
            <a:r>
              <a:rPr sz="4650" b="1">
                <a:solidFill>
                  <a:srgbClr val="FFFFFF"/>
                </a:solidFill>
                <a:latin typeface="Ubuntu"/>
                <a:ea typeface="Ubuntu"/>
                <a:cs typeface="Ubuntu"/>
              </a:rPr>
              <a:t>RESORT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B3B3D27-F32C-4F25-ADAB-69EF750C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81300"/>
            <a:ext cx="46958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81E2CF"/>
                </a:solidFill>
                <a:latin typeface="Ubuntu"/>
                <a:ea typeface="Ubuntu"/>
                <a:cs typeface="Ubuntu"/>
              </a:defRPr>
            </a:pPr>
            <a:r>
              <a:rPr sz="3525" b="1">
                <a:solidFill>
                  <a:srgbClr val="81E2CF"/>
                </a:solidFill>
                <a:latin typeface="Ubuntu"/>
                <a:ea typeface="Ubuntu"/>
                <a:cs typeface="Ubuntu"/>
              </a:rPr>
              <a:t>Outdoor hospitality.</a:t>
            </a:r>
          </a:p>
          <a:p xmlns:a="http://schemas.openxmlformats.org/drawingml/2006/main">
            <a:pPr>
              <a:defRPr sz="3525" b="1">
                <a:solidFill>
                  <a:srgbClr val="81E2CF"/>
                </a:solidFill>
                <a:latin typeface="Ubuntu"/>
                <a:ea typeface="Ubuntu"/>
                <a:cs typeface="Ubuntu"/>
              </a:defRPr>
            </a:pPr>
            <a:r>
              <a:rPr sz="3525" b="1">
                <a:solidFill>
                  <a:srgbClr val="81E2CF"/>
                </a:solidFill>
                <a:latin typeface="Ubuntu"/>
                <a:ea typeface="Ubuntu"/>
                <a:cs typeface="Ubuntu"/>
              </a:rPr>
              <a:t>Powered smarter.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FFB90AE-082C-4B1F-8EF4-AE01BF6A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362450"/>
            <a:ext cx="4667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1EFEB"/>
                </a:solidFill>
                <a:latin typeface="Ubuntu"/>
                <a:ea typeface="Ubuntu"/>
                <a:cs typeface="Ubuntu"/>
              </a:defRPr>
            </a:pPr>
            <a:r>
              <a:rPr sz="1875" b="0">
                <a:solidFill>
                  <a:srgbClr val="E1EFEB"/>
                </a:solidFill>
                <a:latin typeface="Ubuntu"/>
                <a:ea typeface="Ubuntu"/>
                <a:cs typeface="Ubuntu"/>
              </a:rPr>
              <a:t>Solar installations, funding support</a:t>
            </a:r>
          </a:p>
          <a:p xmlns:a="http://schemas.openxmlformats.org/drawingml/2006/main">
            <a:pPr>
              <a:defRPr sz="1875" b="0">
                <a:solidFill>
                  <a:srgbClr val="E1EFEB"/>
                </a:solidFill>
                <a:latin typeface="Ubuntu"/>
                <a:ea typeface="Ubuntu"/>
                <a:cs typeface="Ubuntu"/>
              </a:defRPr>
            </a:pPr>
            <a:r>
              <a:rPr sz="1875" b="0">
                <a:solidFill>
                  <a:srgbClr val="E1EFEB"/>
                </a:solidFill>
                <a:latin typeface="Ubuntu"/>
                <a:ea typeface="Ubuntu"/>
                <a:cs typeface="Ubuntu"/>
              </a:rPr>
              <a:t>and energy control for campsites</a:t>
            </a:r>
          </a:p>
          <a:p xmlns:a="http://schemas.openxmlformats.org/drawingml/2006/main">
            <a:pPr>
              <a:defRPr sz="1875" b="0">
                <a:solidFill>
                  <a:srgbClr val="E1EFEB"/>
                </a:solidFill>
                <a:latin typeface="Ubuntu"/>
                <a:ea typeface="Ubuntu"/>
                <a:cs typeface="Ubuntu"/>
              </a:defRPr>
            </a:pPr>
            <a:r>
              <a:rPr sz="1875" b="0">
                <a:solidFill>
                  <a:srgbClr val="E1EFEB"/>
                </a:solidFill>
                <a:latin typeface="Ubuntu"/>
                <a:ea typeface="Ubuntu"/>
                <a:cs typeface="Ubuntu"/>
              </a:rPr>
              <a:t>and holiday resorts.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432AAC7-6459-41BD-9260-6F189012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0"/>
            <a:ext cx="4648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Ubuntu"/>
                <a:ea typeface="Ubuntu"/>
                <a:cs typeface="Ubuntu"/>
              </a:defRPr>
            </a:pPr>
            <a:r>
              <a:rPr sz="2175" b="1">
                <a:solidFill>
                  <a:srgbClr val="FFFFFF"/>
                </a:solidFill>
                <a:latin typeface="Ubuntu"/>
                <a:ea typeface="Ubuntu"/>
                <a:cs typeface="Ubuntu"/>
              </a:rPr>
              <a:t>€700,000 launch round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A5CA15F-FD95-43E9-8B1B-545996C5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00800"/>
            <a:ext cx="457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AD4D2"/>
                </a:solidFill>
                <a:latin typeface="Ubuntu"/>
                <a:ea typeface="Ubuntu"/>
                <a:cs typeface="Ubuntu"/>
              </a:defRPr>
            </a:pPr>
            <a:r>
              <a:rPr sz="1200" b="0">
                <a:solidFill>
                  <a:srgbClr val="BAD4D2"/>
                </a:solidFill>
                <a:latin typeface="Ubuntu"/>
                <a:ea typeface="Ubuntu"/>
                <a:cs typeface="Ubuntu"/>
              </a:rPr>
              <a:t>Confidential · October 2026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A390EB37-AA24-42A5-A16F-8FBA4512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6477000"/>
            <a:ext cx="3562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FFFFFF"/>
                </a:solidFill>
                <a:latin typeface="Ubuntu"/>
                <a:ea typeface="Ubuntu"/>
                <a:cs typeface="Ubuntu"/>
              </a:defRPr>
            </a:pPr>
            <a:r>
              <a:rPr sz="900" b="0">
                <a:solidFill>
                  <a:srgbClr val="FFFFFF"/>
                </a:solidFill>
                <a:latin typeface="Ubuntu"/>
                <a:ea typeface="Ubuntu"/>
                <a:cs typeface="Ubuntu"/>
              </a:rPr>
              <a:t>AI-generated concept visualization</a:t>
            </a:r>
          </a:p>
        </p:txBody>
      </p:sp>
    </p:spTree>
    <p:extLst>
      <p:ext uri="{BB962C8B-B14F-4D97-AF65-F5344CB8AC3E}">
        <p14:creationId xmlns:p14="http://schemas.microsoft.com/office/powerpoint/2010/main" val="1042842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7">
            <a:extLst xmlns:a="http://schemas.openxmlformats.org/drawingml/2006/main">
              <a:ext uri="{FF2B5EF4-FFF2-40B4-BE49-F238E27FC236}">
                <a16:creationId xmlns:a16="http://schemas.microsoft.com/office/drawing/2014/main" id="{828D4E7F-3F01-41C8-A0FE-568FEDE5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10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3900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Five parts of one offer</a:t>
            </a:r>
          </a:p>
        </p:txBody>
      </p:sp>
      <p:sp>
        <p:nvSpPr>
          <p:cNvPr id="2" name="text-8">
            <a:extLst xmlns:a="http://schemas.openxmlformats.org/drawingml/2006/main">
              <a:ext uri="{FF2B5EF4-FFF2-40B4-BE49-F238E27FC236}">
                <a16:creationId xmlns:a16="http://schemas.microsoft.com/office/drawing/2014/main" id="{3D2ED2F9-2523-4FB6-AEF1-EC0D8831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A shared back office connects acquisition, funding, engineering, delivery and operation.</a:t>
            </a:r>
          </a:p>
        </p:txBody>
      </p:sp>
      <p:sp>
        <p:nvSpPr>
          <p:cNvPr id="3" name="text-9">
            <a:extLst xmlns:a="http://schemas.openxmlformats.org/drawingml/2006/main">
              <a:ext uri="{FF2B5EF4-FFF2-40B4-BE49-F238E27FC236}">
                <a16:creationId xmlns:a16="http://schemas.microsoft.com/office/drawing/2014/main" id="{9670B97C-022F-4995-A8BC-9758D94F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12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ECOGRID RESORT · Confidential investor proposal · October 2026</a:t>
            </a:r>
          </a:p>
        </p:txBody>
      </p:sp>
      <p:sp>
        <p:nvSpPr>
          <p:cNvPr id="4" name="text-10">
            <a:extLst xmlns:a="http://schemas.openxmlformats.org/drawingml/2006/main">
              <a:ext uri="{FF2B5EF4-FFF2-40B4-BE49-F238E27FC236}">
                <a16:creationId xmlns:a16="http://schemas.microsoft.com/office/drawing/2014/main" id="{BCF2263B-9125-4A8E-90E8-F58255A8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27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02</a:t>
            </a:r>
          </a:p>
        </p:txBody>
      </p:sp>
      <p:sp>
        <p:nvSpPr>
          <p:cNvPr id="5" name="text-11">
            <a:extLst xmlns:a="http://schemas.openxmlformats.org/drawingml/2006/main">
              <a:ext uri="{FF2B5EF4-FFF2-40B4-BE49-F238E27FC236}">
                <a16:creationId xmlns:a16="http://schemas.microsoft.com/office/drawing/2014/main" id="{D9DCB985-C1E8-490A-BFDE-4052ED8E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95575"/>
            <a:ext cx="361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F7A6D"/>
                </a:solidFill>
                <a:latin typeface="Ubuntu"/>
                <a:ea typeface="Ubuntu"/>
                <a:cs typeface="Ubuntu"/>
              </a:defRPr>
            </a:pPr>
            <a:r>
              <a:rPr sz="1950" b="1">
                <a:solidFill>
                  <a:srgbClr val="1F7A6D"/>
                </a:solidFill>
                <a:latin typeface="Ubuntu"/>
                <a:ea typeface="Ubuntu"/>
                <a:cs typeface="Ubuntu"/>
              </a:rPr>
              <a:t>1</a:t>
            </a:r>
          </a:p>
        </p:txBody>
      </p:sp>
      <p:sp>
        <p:nvSpPr>
          <p:cNvPr id="6" name="text-12">
            <a:extLst xmlns:a="http://schemas.openxmlformats.org/drawingml/2006/main">
              <a:ext uri="{FF2B5EF4-FFF2-40B4-BE49-F238E27FC236}">
                <a16:creationId xmlns:a16="http://schemas.microsoft.com/office/drawing/2014/main" id="{EA3DAC4A-7CFB-4AAD-97AD-A8FBC7B6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955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875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CampaignBuilder + wizard</a:t>
            </a:r>
          </a:p>
        </p:txBody>
      </p:sp>
      <p:sp>
        <p:nvSpPr>
          <p:cNvPr id="7" name="text-13">
            <a:extLst xmlns:a="http://schemas.openxmlformats.org/drawingml/2006/main">
              <a:ext uri="{FF2B5EF4-FFF2-40B4-BE49-F238E27FC236}">
                <a16:creationId xmlns:a16="http://schemas.microsoft.com/office/drawing/2014/main" id="{C8449C24-430A-4BF8-997F-718D9898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95575"/>
            <a:ext cx="5543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57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Complete site data and purchasing intent before technical review.</a:t>
            </a:r>
          </a:p>
        </p:txBody>
      </p:sp>
      <p:sp>
        <p:nvSpPr>
          <p:cNvPr id="8" name="text-14">
            <a:extLst xmlns:a="http://schemas.openxmlformats.org/drawingml/2006/main">
              <a:ext uri="{FF2B5EF4-FFF2-40B4-BE49-F238E27FC236}">
                <a16:creationId xmlns:a16="http://schemas.microsoft.com/office/drawing/2014/main" id="{8FF608B4-F45B-4434-8041-8640BA34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361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F7A6D"/>
                </a:solidFill>
                <a:latin typeface="Ubuntu"/>
                <a:ea typeface="Ubuntu"/>
                <a:cs typeface="Ubuntu"/>
              </a:defRPr>
            </a:pPr>
            <a:r>
              <a:rPr sz="1950" b="1">
                <a:solidFill>
                  <a:srgbClr val="1F7A6D"/>
                </a:solidFill>
                <a:latin typeface="Ubuntu"/>
                <a:ea typeface="Ubuntu"/>
                <a:cs typeface="Ubuntu"/>
              </a:rPr>
              <a:t>2</a:t>
            </a:r>
          </a:p>
        </p:txBody>
      </p:sp>
      <p:sp>
        <p:nvSpPr>
          <p:cNvPr id="9" name="text-15">
            <a:extLst xmlns:a="http://schemas.openxmlformats.org/drawingml/2006/main">
              <a:ext uri="{FF2B5EF4-FFF2-40B4-BE49-F238E27FC236}">
                <a16:creationId xmlns:a16="http://schemas.microsoft.com/office/drawing/2014/main" id="{CE546174-A2F8-4FE8-869F-2D05AA92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766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875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Grant team + back office</a:t>
            </a:r>
          </a:p>
        </p:txBody>
      </p:sp>
      <p:sp>
        <p:nvSpPr>
          <p:cNvPr id="10" name="text-16">
            <a:extLst xmlns:a="http://schemas.openxmlformats.org/drawingml/2006/main">
              <a:ext uri="{FF2B5EF4-FFF2-40B4-BE49-F238E27FC236}">
                <a16:creationId xmlns:a16="http://schemas.microsoft.com/office/drawing/2014/main" id="{5F06EE47-EC1D-4A73-A550-FC6BC9BA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76600"/>
            <a:ext cx="5543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57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Screen support, prepare applications and track eco-label evidence.</a:t>
            </a:r>
          </a:p>
        </p:txBody>
      </p:sp>
      <p:sp>
        <p:nvSpPr>
          <p:cNvPr id="11" name="text-17">
            <a:extLst xmlns:a="http://schemas.openxmlformats.org/drawingml/2006/main">
              <a:ext uri="{FF2B5EF4-FFF2-40B4-BE49-F238E27FC236}">
                <a16:creationId xmlns:a16="http://schemas.microsoft.com/office/drawing/2014/main" id="{FAFC2085-0435-44DA-A88B-4B54522F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361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F7A6D"/>
                </a:solidFill>
                <a:latin typeface="Ubuntu"/>
                <a:ea typeface="Ubuntu"/>
                <a:cs typeface="Ubuntu"/>
              </a:defRPr>
            </a:pPr>
            <a:r>
              <a:rPr sz="1950" b="1">
                <a:solidFill>
                  <a:srgbClr val="1F7A6D"/>
                </a:solidFill>
                <a:latin typeface="Ubuntu"/>
                <a:ea typeface="Ubuntu"/>
                <a:cs typeface="Ubuntu"/>
              </a:rPr>
              <a:t>3</a:t>
            </a:r>
          </a:p>
        </p:txBody>
      </p:sp>
      <p:sp>
        <p:nvSpPr>
          <p:cNvPr id="12" name="text-18">
            <a:extLst xmlns:a="http://schemas.openxmlformats.org/drawingml/2006/main">
              <a:ext uri="{FF2B5EF4-FFF2-40B4-BE49-F238E27FC236}">
                <a16:creationId xmlns:a16="http://schemas.microsoft.com/office/drawing/2014/main" id="{A6EE00EE-CE7B-4B13-A3BD-6B97330E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5762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875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Engineering + cost model</a:t>
            </a:r>
          </a:p>
        </p:txBody>
      </p:sp>
      <p:sp>
        <p:nvSpPr>
          <p:cNvPr id="13" name="text-19">
            <a:extLst xmlns:a="http://schemas.openxmlformats.org/drawingml/2006/main">
              <a:ext uri="{FF2B5EF4-FFF2-40B4-BE49-F238E27FC236}">
                <a16:creationId xmlns:a16="http://schemas.microsoft.com/office/drawing/2014/main" id="{F4757A3A-2888-421C-87BB-8EAB5092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57625"/>
            <a:ext cx="5543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57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Size PV and storage. Price carports by square metre. Validate quotes.</a:t>
            </a:r>
          </a:p>
        </p:txBody>
      </p:sp>
      <p:sp>
        <p:nvSpPr>
          <p:cNvPr id="14" name="text-20">
            <a:extLst xmlns:a="http://schemas.openxmlformats.org/drawingml/2006/main">
              <a:ext uri="{FF2B5EF4-FFF2-40B4-BE49-F238E27FC236}">
                <a16:creationId xmlns:a16="http://schemas.microsoft.com/office/drawing/2014/main" id="{20A1795A-7FBA-45D0-B2C4-AB3E07DD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361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F7A6D"/>
                </a:solidFill>
                <a:latin typeface="Ubuntu"/>
                <a:ea typeface="Ubuntu"/>
                <a:cs typeface="Ubuntu"/>
              </a:defRPr>
            </a:pPr>
            <a:r>
              <a:rPr sz="1950" b="1">
                <a:solidFill>
                  <a:srgbClr val="1F7A6D"/>
                </a:solidFill>
                <a:latin typeface="Ubuntu"/>
                <a:ea typeface="Ubuntu"/>
                <a:cs typeface="Ubuntu"/>
              </a:rPr>
              <a:t>4</a:t>
            </a:r>
          </a:p>
        </p:txBody>
      </p:sp>
      <p:sp>
        <p:nvSpPr>
          <p:cNvPr id="15" name="text-21">
            <a:extLst xmlns:a="http://schemas.openxmlformats.org/drawingml/2006/main">
              <a:ext uri="{FF2B5EF4-FFF2-40B4-BE49-F238E27FC236}">
                <a16:creationId xmlns:a16="http://schemas.microsoft.com/office/drawing/2014/main" id="{C16E3CEA-E1B3-48B3-B20A-44245995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386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875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Supplier + contractor portals</a:t>
            </a:r>
          </a:p>
        </p:txBody>
      </p:sp>
      <p:sp>
        <p:nvSpPr>
          <p:cNvPr id="16" name="text-22">
            <a:extLst xmlns:a="http://schemas.openxmlformats.org/drawingml/2006/main">
              <a:ext uri="{FF2B5EF4-FFF2-40B4-BE49-F238E27FC236}">
                <a16:creationId xmlns:a16="http://schemas.microsoft.com/office/drawing/2014/main" id="{DFDC192C-4C81-4E6B-B38F-7CBBB0B6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38650"/>
            <a:ext cx="5543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57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Confirm stock, lead times and installation slots with approved alternatives.</a:t>
            </a:r>
          </a:p>
        </p:txBody>
      </p:sp>
      <p:sp>
        <p:nvSpPr>
          <p:cNvPr id="17" name="text-23">
            <a:extLst xmlns:a="http://schemas.openxmlformats.org/drawingml/2006/main">
              <a:ext uri="{FF2B5EF4-FFF2-40B4-BE49-F238E27FC236}">
                <a16:creationId xmlns:a16="http://schemas.microsoft.com/office/drawing/2014/main" id="{CAB9277C-07AA-4BB5-BC70-8C96A53F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9675"/>
            <a:ext cx="361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F7A6D"/>
                </a:solidFill>
                <a:latin typeface="Ubuntu"/>
                <a:ea typeface="Ubuntu"/>
                <a:cs typeface="Ubuntu"/>
              </a:defRPr>
            </a:pPr>
            <a:r>
              <a:rPr sz="1950" b="1">
                <a:solidFill>
                  <a:srgbClr val="1F7A6D"/>
                </a:solidFill>
                <a:latin typeface="Ubuntu"/>
                <a:ea typeface="Ubuntu"/>
                <a:cs typeface="Ubuntu"/>
              </a:rPr>
              <a:t>5</a:t>
            </a:r>
          </a:p>
        </p:txBody>
      </p:sp>
      <p:sp>
        <p:nvSpPr>
          <p:cNvPr id="18" name="text-24">
            <a:extLst xmlns:a="http://schemas.openxmlformats.org/drawingml/2006/main">
              <a:ext uri="{FF2B5EF4-FFF2-40B4-BE49-F238E27FC236}">
                <a16:creationId xmlns:a16="http://schemas.microsoft.com/office/drawing/2014/main" id="{545FAB64-D233-40AF-97BB-A72853A2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196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875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Eco Grid Pilot</a:t>
            </a:r>
          </a:p>
        </p:txBody>
      </p:sp>
      <p:sp>
        <p:nvSpPr>
          <p:cNvPr id="19" name="text-25">
            <a:extLst xmlns:a="http://schemas.openxmlformats.org/drawingml/2006/main">
              <a:ext uri="{FF2B5EF4-FFF2-40B4-BE49-F238E27FC236}">
                <a16:creationId xmlns:a16="http://schemas.microsoft.com/office/drawing/2014/main" id="{585A672D-48EE-48F2-B87E-D19EB4E1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19675"/>
            <a:ext cx="5543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57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Connect supported inverters and batteries to dispatch available energy.</a:t>
            </a:r>
          </a:p>
        </p:txBody>
      </p:sp>
    </p:spTree>
    <p:extLst>
      <p:ext uri="{BB962C8B-B14F-4D97-AF65-F5344CB8AC3E}">
        <p14:creationId xmlns:p14="http://schemas.microsoft.com/office/powerpoint/2010/main" val="1791662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6">
            <a:extLst xmlns:a="http://schemas.openxmlformats.org/drawingml/2006/main">
              <a:ext uri="{FF2B5EF4-FFF2-40B4-BE49-F238E27FC236}">
                <a16:creationId xmlns:a16="http://schemas.microsoft.com/office/drawing/2014/main" id="{3BA9AB1D-6ACA-4BF3-A705-E1870A43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10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3900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Acquisition starts with a completed wizard</a:t>
            </a:r>
          </a:p>
        </p:txBody>
      </p:sp>
      <p:sp>
        <p:nvSpPr>
          <p:cNvPr id="2" name="text-27">
            <a:extLst xmlns:a="http://schemas.openxmlformats.org/drawingml/2006/main">
              <a:ext uri="{FF2B5EF4-FFF2-40B4-BE49-F238E27FC236}">
                <a16:creationId xmlns:a16="http://schemas.microsoft.com/office/drawing/2014/main" id="{7B7A6505-D8F5-4A2B-80E7-FA38CE8E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Year-1 targets convert 200 complete applications into 20 commissioned sites.</a:t>
            </a:r>
          </a:p>
        </p:txBody>
      </p:sp>
      <p:sp>
        <p:nvSpPr>
          <p:cNvPr id="3" name="text-28">
            <a:extLst xmlns:a="http://schemas.openxmlformats.org/drawingml/2006/main">
              <a:ext uri="{FF2B5EF4-FFF2-40B4-BE49-F238E27FC236}">
                <a16:creationId xmlns:a16="http://schemas.microsoft.com/office/drawing/2014/main" id="{C3E35956-6246-4D74-BF4C-52A9679E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12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ECOGRID RESORT · Confidential investor proposal · October 2026</a:t>
            </a:r>
          </a:p>
        </p:txBody>
      </p:sp>
      <p:sp>
        <p:nvSpPr>
          <p:cNvPr id="4" name="text-29">
            <a:extLst xmlns:a="http://schemas.openxmlformats.org/drawingml/2006/main">
              <a:ext uri="{FF2B5EF4-FFF2-40B4-BE49-F238E27FC236}">
                <a16:creationId xmlns:a16="http://schemas.microsoft.com/office/drawing/2014/main" id="{BDDE4C57-6A19-4076-9771-5DC140E2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27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03</a:t>
            </a:r>
          </a:p>
        </p:txBody>
      </p:sp>
      <p:sp>
        <p:nvSpPr>
          <p:cNvPr id="5" name="text-30">
            <a:extLst xmlns:a="http://schemas.openxmlformats.org/drawingml/2006/main">
              <a:ext uri="{FF2B5EF4-FFF2-40B4-BE49-F238E27FC236}">
                <a16:creationId xmlns:a16="http://schemas.microsoft.com/office/drawing/2014/main" id="{1A6FDDD7-3875-479D-AE30-09605481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071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2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New targets. Conversion and campaign reach require validation. Completion alone does not prove technical fit.</a:t>
            </a:r>
          </a:p>
        </p:txBody>
      </p:sp>
      <p:sp>
        <p:nvSpPr>
          <p:cNvPr id="6" name="text-31">
            <a:extLst xmlns:a="http://schemas.openxmlformats.org/drawingml/2006/main">
              <a:ext uri="{FF2B5EF4-FFF2-40B4-BE49-F238E27FC236}">
                <a16:creationId xmlns:a16="http://schemas.microsoft.com/office/drawing/2014/main" id="{54CEEB2F-0757-48C7-803C-E58CE5C8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1465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5850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200</a:t>
            </a:r>
          </a:p>
        </p:txBody>
      </p:sp>
      <p:sp>
        <p:nvSpPr>
          <p:cNvPr id="7" name="text-32">
            <a:extLst xmlns:a="http://schemas.openxmlformats.org/drawingml/2006/main">
              <a:ext uri="{FF2B5EF4-FFF2-40B4-BE49-F238E27FC236}">
                <a16:creationId xmlns:a16="http://schemas.microsoft.com/office/drawing/2014/main" id="{643E4BA2-0A7F-4F90-8202-70E3258C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943350"/>
            <a:ext cx="3238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87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Completed wizards</a:t>
            </a:r>
          </a:p>
        </p:txBody>
      </p:sp>
      <p:sp>
        <p:nvSpPr>
          <p:cNvPr id="8" name="text-33">
            <a:extLst xmlns:a="http://schemas.openxmlformats.org/drawingml/2006/main">
              <a:ext uri="{FF2B5EF4-FFF2-40B4-BE49-F238E27FC236}">
                <a16:creationId xmlns:a16="http://schemas.microsoft.com/office/drawing/2014/main" id="{495660A2-1A9B-494A-8CEF-DD6DCFDA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1465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5850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40</a:t>
            </a:r>
          </a:p>
        </p:txBody>
      </p:sp>
      <p:sp>
        <p:nvSpPr>
          <p:cNvPr id="9" name="text-34">
            <a:extLst xmlns:a="http://schemas.openxmlformats.org/drawingml/2006/main">
              <a:ext uri="{FF2B5EF4-FFF2-40B4-BE49-F238E27FC236}">
                <a16:creationId xmlns:a16="http://schemas.microsoft.com/office/drawing/2014/main" id="{087D0AB4-0257-47A1-969F-FEDFCEF9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943350"/>
            <a:ext cx="3238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87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Audited opportunities</a:t>
            </a:r>
          </a:p>
        </p:txBody>
      </p:sp>
      <p:sp>
        <p:nvSpPr>
          <p:cNvPr id="10" name="text-35">
            <a:extLst xmlns:a="http://schemas.openxmlformats.org/drawingml/2006/main">
              <a:ext uri="{FF2B5EF4-FFF2-40B4-BE49-F238E27FC236}">
                <a16:creationId xmlns:a16="http://schemas.microsoft.com/office/drawing/2014/main" id="{A292A713-3664-44B4-B6E9-58868C80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91465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1F7A6D"/>
                </a:solidFill>
                <a:latin typeface="Ubuntu"/>
                <a:ea typeface="Ubuntu"/>
                <a:cs typeface="Ubuntu"/>
              </a:defRPr>
            </a:pPr>
            <a:r>
              <a:rPr sz="5850" b="1">
                <a:solidFill>
                  <a:srgbClr val="1F7A6D"/>
                </a:solidFill>
                <a:latin typeface="Ubuntu"/>
                <a:ea typeface="Ubuntu"/>
                <a:cs typeface="Ubuntu"/>
              </a:rPr>
              <a:t>20</a:t>
            </a:r>
          </a:p>
        </p:txBody>
      </p:sp>
      <p:sp>
        <p:nvSpPr>
          <p:cNvPr id="11" name="text-36">
            <a:extLst xmlns:a="http://schemas.openxmlformats.org/drawingml/2006/main">
              <a:ext uri="{FF2B5EF4-FFF2-40B4-BE49-F238E27FC236}">
                <a16:creationId xmlns:a16="http://schemas.microsoft.com/office/drawing/2014/main" id="{9671C462-9A2B-4E1B-86B7-8EE099EF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943350"/>
            <a:ext cx="3238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87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Installed customers</a:t>
            </a:r>
          </a:p>
        </p:txBody>
      </p:sp>
      <p:sp>
        <p:nvSpPr>
          <p:cNvPr id="12" name="text-37">
            <a:extLst xmlns:a="http://schemas.openxmlformats.org/drawingml/2006/main">
              <a:ext uri="{FF2B5EF4-FFF2-40B4-BE49-F238E27FC236}">
                <a16:creationId xmlns:a16="http://schemas.microsoft.com/office/drawing/2014/main" id="{252AB36F-1AB9-43A4-A7FF-32C64F4C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1071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875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12,000-site prospect database target across Spain, Italy and France</a:t>
            </a:r>
          </a:p>
        </p:txBody>
      </p:sp>
      <p:sp>
        <p:nvSpPr>
          <p:cNvPr id="13" name="text-38">
            <a:extLst xmlns:a="http://schemas.openxmlformats.org/drawingml/2006/main">
              <a:ext uri="{FF2B5EF4-FFF2-40B4-BE49-F238E27FC236}">
                <a16:creationId xmlns:a16="http://schemas.microsoft.com/office/drawing/2014/main" id="{C66CF62E-F1C3-416F-BAC8-8F677C9D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48275"/>
            <a:ext cx="1071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72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€180k sales + marketing budget. €9,000 acquisition cost per installed site.</a:t>
            </a:r>
          </a:p>
        </p:txBody>
      </p:sp>
    </p:spTree>
    <p:extLst>
      <p:ext uri="{BB962C8B-B14F-4D97-AF65-F5344CB8AC3E}">
        <p14:creationId xmlns:p14="http://schemas.microsoft.com/office/powerpoint/2010/main" val="14308082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39">
            <a:extLst xmlns:a="http://schemas.openxmlformats.org/drawingml/2006/main">
              <a:ext uri="{FF2B5EF4-FFF2-40B4-BE49-F238E27FC236}">
                <a16:creationId xmlns:a16="http://schemas.microsoft.com/office/drawing/2014/main" id="{B1960B4F-863E-409A-BEFA-17B7B7F5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10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3900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Nine profiles across size and star rating</a:t>
            </a:r>
          </a:p>
        </p:txBody>
      </p:sp>
      <p:sp>
        <p:nvSpPr>
          <p:cNvPr id="2" name="text-40">
            <a:extLst xmlns:a="http://schemas.openxmlformats.org/drawingml/2006/main">
              <a:ext uri="{FF2B5EF4-FFF2-40B4-BE49-F238E27FC236}">
                <a16:creationId xmlns:a16="http://schemas.microsoft.com/office/drawing/2014/main" id="{9AF42277-51F1-4A8D-9973-6BEADBFB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ECOGRID delivery cost and net facility savings for the proposed solar-first package.</a:t>
            </a:r>
          </a:p>
        </p:txBody>
      </p:sp>
      <p:sp>
        <p:nvSpPr>
          <p:cNvPr id="3" name="text-41">
            <a:extLst xmlns:a="http://schemas.openxmlformats.org/drawingml/2006/main">
              <a:ext uri="{FF2B5EF4-FFF2-40B4-BE49-F238E27FC236}">
                <a16:creationId xmlns:a16="http://schemas.microsoft.com/office/drawing/2014/main" id="{42E4385B-E2C8-4482-8B3E-9BEEA175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12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ECOGRID RESORT · Confidential investor proposal · October 2026</a:t>
            </a:r>
          </a:p>
        </p:txBody>
      </p:sp>
      <p:sp>
        <p:nvSpPr>
          <p:cNvPr id="4" name="text-42">
            <a:extLst xmlns:a="http://schemas.openxmlformats.org/drawingml/2006/main">
              <a:ext uri="{FF2B5EF4-FFF2-40B4-BE49-F238E27FC236}">
                <a16:creationId xmlns:a16="http://schemas.microsoft.com/office/drawing/2014/main" id="{C5F52DA4-6F55-4F06-B0DC-B8DF590A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27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04</a:t>
            </a:r>
          </a:p>
        </p:txBody>
      </p:sp>
      <p:sp>
        <p:nvSpPr>
          <p:cNvPr id="5" name="text-43">
            <a:extLst xmlns:a="http://schemas.openxmlformats.org/drawingml/2006/main">
              <a:ext uri="{FF2B5EF4-FFF2-40B4-BE49-F238E27FC236}">
                <a16:creationId xmlns:a16="http://schemas.microsoft.com/office/drawing/2014/main" id="{24EEE91B-740E-4499-9855-EB1E59DB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071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2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Baseline €0.22/kWh, no grant. Net savings deduct software + maintenance. Costs are budget estimates, excluding VAT.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04850" y="2571750"/>
          <a:ext xmlns:a="http://schemas.openxmlformats.org/drawingml/2006/main" cx="10782300" cy="30861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95625"/>
                <a:gridCol w="2428875"/>
                <a:gridCol w="2428875"/>
                <a:gridCol w="2828925"/>
              </a:tblGrid>
              <a:tr h="30861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Ubuntu"/>
                          <a:ea typeface="Ubuntu"/>
                          <a:cs typeface="Ubuntu"/>
                        </a:rPr>
                        <a:t>Facility</a:t>
                      </a:r>
                    </a:p>
                  </a:txBody>
                  <a:tcPr marL="114300" marR="114300" marT="28575" marB="28575" anchor="ctr">
                    <a:solidFill>
                      <a:srgbClr val="1F7A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Ubuntu"/>
                          <a:ea typeface="Ubuntu"/>
                          <a:cs typeface="Ubuntu"/>
                        </a:rPr>
                        <a:t>ECOGRID cost</a:t>
                      </a:r>
                    </a:p>
                  </a:txBody>
                  <a:tcPr marL="114300" marR="114300" marT="28575" marB="28575" anchor="ctr">
                    <a:solidFill>
                      <a:srgbClr val="1F7A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Ubuntu"/>
                          <a:ea typeface="Ubuntu"/>
                          <a:cs typeface="Ubuntu"/>
                        </a:rPr>
                        <a:t>Client price</a:t>
                      </a:r>
                    </a:p>
                  </a:txBody>
                  <a:tcPr marL="114300" marR="114300" marT="28575" marB="28575" anchor="ctr">
                    <a:solidFill>
                      <a:srgbClr val="1F7A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Ubuntu"/>
                          <a:ea typeface="Ubuntu"/>
                          <a:cs typeface="Ubuntu"/>
                        </a:rPr>
                        <a:t>Net savings / yr</a:t>
                      </a:r>
                    </a:p>
                  </a:txBody>
                  <a:tcPr marL="114300" marR="114300" marT="28575" marB="28575" anchor="ctr">
                    <a:solidFill>
                      <a:srgbClr val="1F7A6D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3★ Small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€50.2k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€77.2k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€4.6k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4★ Small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€60.7k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€93.3k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€7.0k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5★ Small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€80.0k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€123.0k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€11.2k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3★ Medium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€229.6k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€353.2k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€31.9k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4★ Medium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€301.5k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€463.8k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€45.8k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5★ Medium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€399.6k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€614.8k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€64.6k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3★ Large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€600.2k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€923.4k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€95.9k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4★ Large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€790.5k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€1.22m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€131.6k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5★ Large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€982.6k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€1.51m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€168.5k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51827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44">
            <a:extLst xmlns:a="http://schemas.openxmlformats.org/drawingml/2006/main">
              <a:ext uri="{FF2B5EF4-FFF2-40B4-BE49-F238E27FC236}">
                <a16:creationId xmlns:a16="http://schemas.microsoft.com/office/drawing/2014/main" id="{257B4A45-8D7C-49BE-8770-61E45CF3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10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3900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Medium and Large sites lead the rollout</a:t>
            </a:r>
          </a:p>
        </p:txBody>
      </p:sp>
      <p:sp>
        <p:nvSpPr>
          <p:cNvPr id="2" name="text-45">
            <a:extLst xmlns:a="http://schemas.openxmlformats.org/drawingml/2006/main">
              <a:ext uri="{FF2B5EF4-FFF2-40B4-BE49-F238E27FC236}">
                <a16:creationId xmlns:a16="http://schemas.microsoft.com/office/drawing/2014/main" id="{1D23808D-D0EC-45C2-8365-6840A025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The mix weights project scale without forcing costly storage onto smaller sites.</a:t>
            </a:r>
          </a:p>
        </p:txBody>
      </p:sp>
      <p:sp>
        <p:nvSpPr>
          <p:cNvPr id="3" name="text-46">
            <a:extLst xmlns:a="http://schemas.openxmlformats.org/drawingml/2006/main">
              <a:ext uri="{FF2B5EF4-FFF2-40B4-BE49-F238E27FC236}">
                <a16:creationId xmlns:a16="http://schemas.microsoft.com/office/drawing/2014/main" id="{E3B58AB0-77FB-4822-9D01-BDC3D0BA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12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ECOGRID RESORT · Confidential investor proposal · October 2026</a:t>
            </a:r>
          </a:p>
        </p:txBody>
      </p:sp>
      <p:sp>
        <p:nvSpPr>
          <p:cNvPr id="4" name="text-47">
            <a:extLst xmlns:a="http://schemas.openxmlformats.org/drawingml/2006/main">
              <a:ext uri="{FF2B5EF4-FFF2-40B4-BE49-F238E27FC236}">
                <a16:creationId xmlns:a16="http://schemas.microsoft.com/office/drawing/2014/main" id="{7FD7C05A-C73B-409D-BF26-38F7034D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27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05</a:t>
            </a:r>
          </a:p>
        </p:txBody>
      </p:sp>
      <p:sp>
        <p:nvSpPr>
          <p:cNvPr id="5" name="text-48">
            <a:extLst xmlns:a="http://schemas.openxmlformats.org/drawingml/2006/main">
              <a:ext uri="{FF2B5EF4-FFF2-40B4-BE49-F238E27FC236}">
                <a16:creationId xmlns:a16="http://schemas.microsoft.com/office/drawing/2014/main" id="{0D767900-75DC-4284-9D3C-79D532F1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071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2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Small-site paybacks are weaker. Selective solar-only entry offers need individual commercial validation.</a:t>
            </a:r>
          </a:p>
        </p:txBody>
      </p:sp>
      <p:sp>
        <p:nvSpPr>
          <p:cNvPr id="6" name="text-49">
            <a:extLst xmlns:a="http://schemas.openxmlformats.org/drawingml/2006/main">
              <a:ext uri="{FF2B5EF4-FFF2-40B4-BE49-F238E27FC236}">
                <a16:creationId xmlns:a16="http://schemas.microsoft.com/office/drawing/2014/main" id="{9DE27BE2-E750-4EC3-A4A4-AABD8E39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175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5175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20%</a:t>
            </a:r>
          </a:p>
        </p:txBody>
      </p:sp>
      <p:sp>
        <p:nvSpPr>
          <p:cNvPr id="7" name="text-50">
            <a:extLst xmlns:a="http://schemas.openxmlformats.org/drawingml/2006/main">
              <a:ext uri="{FF2B5EF4-FFF2-40B4-BE49-F238E27FC236}">
                <a16:creationId xmlns:a16="http://schemas.microsoft.com/office/drawing/2014/main" id="{311CA4F1-48D9-4985-9AA1-B9C68E56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81952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2175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Small</a:t>
            </a:r>
          </a:p>
        </p:txBody>
      </p:sp>
      <p:sp>
        <p:nvSpPr>
          <p:cNvPr id="8" name="text-51">
            <a:extLst xmlns:a="http://schemas.openxmlformats.org/drawingml/2006/main">
              <a:ext uri="{FF2B5EF4-FFF2-40B4-BE49-F238E27FC236}">
                <a16:creationId xmlns:a16="http://schemas.microsoft.com/office/drawing/2014/main" id="{943FE380-9E85-41E7-8214-45B4FB33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3529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50–150 pitches</a:t>
            </a:r>
          </a:p>
        </p:txBody>
      </p:sp>
      <p:sp>
        <p:nvSpPr>
          <p:cNvPr id="9" name="text-52">
            <a:extLst xmlns:a="http://schemas.openxmlformats.org/drawingml/2006/main">
              <a:ext uri="{FF2B5EF4-FFF2-40B4-BE49-F238E27FC236}">
                <a16:creationId xmlns:a16="http://schemas.microsoft.com/office/drawing/2014/main" id="{4ABAA247-722A-453E-BAE8-ED5A99FC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85750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175" b="1">
                <a:solidFill>
                  <a:srgbClr val="1F7A6D"/>
                </a:solidFill>
                <a:latin typeface="Ubuntu"/>
                <a:ea typeface="Ubuntu"/>
                <a:cs typeface="Ubuntu"/>
              </a:defRPr>
            </a:pPr>
            <a:r>
              <a:rPr sz="5175" b="1">
                <a:solidFill>
                  <a:srgbClr val="1F7A6D"/>
                </a:solidFill>
                <a:latin typeface="Ubuntu"/>
                <a:ea typeface="Ubuntu"/>
                <a:cs typeface="Ubuntu"/>
              </a:rPr>
              <a:t>55%</a:t>
            </a:r>
          </a:p>
        </p:txBody>
      </p:sp>
      <p:sp>
        <p:nvSpPr>
          <p:cNvPr id="10" name="text-53">
            <a:extLst xmlns:a="http://schemas.openxmlformats.org/drawingml/2006/main">
              <a:ext uri="{FF2B5EF4-FFF2-40B4-BE49-F238E27FC236}">
                <a16:creationId xmlns:a16="http://schemas.microsoft.com/office/drawing/2014/main" id="{5390E8E6-B560-4FA9-BCF5-64D5BE67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1952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2175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Medium</a:t>
            </a:r>
          </a:p>
        </p:txBody>
      </p:sp>
      <p:sp>
        <p:nvSpPr>
          <p:cNvPr id="11" name="text-54">
            <a:extLst xmlns:a="http://schemas.openxmlformats.org/drawingml/2006/main">
              <a:ext uri="{FF2B5EF4-FFF2-40B4-BE49-F238E27FC236}">
                <a16:creationId xmlns:a16="http://schemas.microsoft.com/office/drawing/2014/main" id="{9871F1A1-2DE8-443F-A9E2-829FB130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3529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150–350 pitches</a:t>
            </a:r>
          </a:p>
        </p:txBody>
      </p:sp>
      <p:sp>
        <p:nvSpPr>
          <p:cNvPr id="12" name="text-55">
            <a:extLst xmlns:a="http://schemas.openxmlformats.org/drawingml/2006/main">
              <a:ext uri="{FF2B5EF4-FFF2-40B4-BE49-F238E27FC236}">
                <a16:creationId xmlns:a16="http://schemas.microsoft.com/office/drawing/2014/main" id="{3F28C86D-1BD8-47AA-999B-C0256BC22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5750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175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5175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25%</a:t>
            </a:r>
          </a:p>
        </p:txBody>
      </p:sp>
      <p:sp>
        <p:nvSpPr>
          <p:cNvPr id="13" name="text-56">
            <a:extLst xmlns:a="http://schemas.openxmlformats.org/drawingml/2006/main">
              <a:ext uri="{FF2B5EF4-FFF2-40B4-BE49-F238E27FC236}">
                <a16:creationId xmlns:a16="http://schemas.microsoft.com/office/drawing/2014/main" id="{95EA7740-9F16-4E45-AE2D-493A239F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1952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2175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Large</a:t>
            </a:r>
          </a:p>
        </p:txBody>
      </p:sp>
      <p:sp>
        <p:nvSpPr>
          <p:cNvPr id="14" name="text-57">
            <a:extLst xmlns:a="http://schemas.openxmlformats.org/drawingml/2006/main">
              <a:ext uri="{FF2B5EF4-FFF2-40B4-BE49-F238E27FC236}">
                <a16:creationId xmlns:a16="http://schemas.microsoft.com/office/drawing/2014/main" id="{1C3096E0-AAC6-4EDE-B465-E44E5DC0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3529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350–700 pitches</a:t>
            </a:r>
          </a:p>
        </p:txBody>
      </p:sp>
      <p:sp>
        <p:nvSpPr>
          <p:cNvPr id="15" name="text-58">
            <a:extLst xmlns:a="http://schemas.openxmlformats.org/drawingml/2006/main">
              <a:ext uri="{FF2B5EF4-FFF2-40B4-BE49-F238E27FC236}">
                <a16:creationId xmlns:a16="http://schemas.microsoft.com/office/drawing/2014/main" id="{E1B80978-CE00-4E7E-946D-6FC5F9C1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91100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2025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Weighted delivery cost €398.1k / site</a:t>
            </a:r>
          </a:p>
        </p:txBody>
      </p:sp>
      <p:sp>
        <p:nvSpPr>
          <p:cNvPr id="16" name="text-59">
            <a:extLst xmlns:a="http://schemas.openxmlformats.org/drawingml/2006/main">
              <a:ext uri="{FF2B5EF4-FFF2-40B4-BE49-F238E27FC236}">
                <a16:creationId xmlns:a16="http://schemas.microsoft.com/office/drawing/2014/main" id="{C6567C73-A2CB-4062-B5C0-81D7DF79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99110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F7A6D"/>
                </a:solidFill>
                <a:latin typeface="Ubuntu"/>
                <a:ea typeface="Ubuntu"/>
                <a:cs typeface="Ubuntu"/>
              </a:defRPr>
            </a:pPr>
            <a:r>
              <a:rPr sz="1950" b="1">
                <a:solidFill>
                  <a:srgbClr val="1F7A6D"/>
                </a:solidFill>
                <a:latin typeface="Ubuntu"/>
                <a:ea typeface="Ubuntu"/>
                <a:cs typeface="Ubuntu"/>
              </a:rPr>
              <a:t>Weighted client price €612.5k</a:t>
            </a:r>
          </a:p>
        </p:txBody>
      </p:sp>
    </p:spTree>
    <p:extLst>
      <p:ext uri="{BB962C8B-B14F-4D97-AF65-F5344CB8AC3E}">
        <p14:creationId xmlns:p14="http://schemas.microsoft.com/office/powerpoint/2010/main" val="16116958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60">
            <a:extLst xmlns:a="http://schemas.openxmlformats.org/drawingml/2006/main">
              <a:ext uri="{FF2B5EF4-FFF2-40B4-BE49-F238E27FC236}">
                <a16:creationId xmlns:a16="http://schemas.microsoft.com/office/drawing/2014/main" id="{1AB21D55-C7FB-4068-ABFD-A1ACDB8E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10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3900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A 4-star Medium site, priced by quantity</a:t>
            </a:r>
          </a:p>
        </p:txBody>
      </p:sp>
      <p:sp>
        <p:nvSpPr>
          <p:cNvPr id="2" name="text-61">
            <a:extLst xmlns:a="http://schemas.openxmlformats.org/drawingml/2006/main">
              <a:ext uri="{FF2B5EF4-FFF2-40B4-BE49-F238E27FC236}">
                <a16:creationId xmlns:a16="http://schemas.microsoft.com/office/drawing/2014/main" id="{A28CBB0B-F24D-451A-9689-856C2819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374 modules. 205.7 kWp PV. 130 kWh storage. 194 m² carport structure.</a:t>
            </a:r>
          </a:p>
        </p:txBody>
      </p:sp>
      <p:sp>
        <p:nvSpPr>
          <p:cNvPr id="3" name="text-62">
            <a:extLst xmlns:a="http://schemas.openxmlformats.org/drawingml/2006/main">
              <a:ext uri="{FF2B5EF4-FFF2-40B4-BE49-F238E27FC236}">
                <a16:creationId xmlns:a16="http://schemas.microsoft.com/office/drawing/2014/main" id="{B28BA2B2-D3CA-43C9-85F0-B5FFDBB1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12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ECOGRID RESORT · Confidential investor proposal · October 2026</a:t>
            </a:r>
          </a:p>
        </p:txBody>
      </p:sp>
      <p:sp>
        <p:nvSpPr>
          <p:cNvPr id="4" name="text-63">
            <a:extLst xmlns:a="http://schemas.openxmlformats.org/drawingml/2006/main">
              <a:ext uri="{FF2B5EF4-FFF2-40B4-BE49-F238E27FC236}">
                <a16:creationId xmlns:a16="http://schemas.microsoft.com/office/drawing/2014/main" id="{FE45172A-25C7-41EA-8C7F-07292B35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27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06</a:t>
            </a:r>
          </a:p>
        </p:txBody>
      </p:sp>
      <p:sp>
        <p:nvSpPr>
          <p:cNvPr id="5" name="text-64">
            <a:extLst xmlns:a="http://schemas.openxmlformats.org/drawingml/2006/main">
              <a:ext uri="{FF2B5EF4-FFF2-40B4-BE49-F238E27FC236}">
                <a16:creationId xmlns:a16="http://schemas.microsoft.com/office/drawing/2014/main" id="{A759A69A-5732-4B1C-93BC-764A9FE7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071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2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PV €900/kWp. Battery €300/kWh. Structure €180/m². New budget hypotheses, subject to engineering and partner quotes.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04850" y="2647950"/>
          <a:ext xmlns:a="http://schemas.openxmlformats.org/drawingml/2006/main" cx="10782300" cy="30003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886200"/>
                <a:gridCol w="4067175"/>
                <a:gridCol w="2828925"/>
              </a:tblGrid>
              <a:tr h="4286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Ubuntu"/>
                          <a:ea typeface="Ubuntu"/>
                          <a:cs typeface="Ubuntu"/>
                        </a:rPr>
                        <a:t>Installation scope</a:t>
                      </a:r>
                    </a:p>
                  </a:txBody>
                  <a:tcPr marL="114300" marR="114300" marT="28575" marB="28575" anchor="ctr">
                    <a:solidFill>
                      <a:srgbClr val="1F7A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Ubuntu"/>
                          <a:ea typeface="Ubuntu"/>
                          <a:cs typeface="Ubuntu"/>
                        </a:rPr>
                        <a:t>Cost basis</a:t>
                      </a:r>
                    </a:p>
                  </a:txBody>
                  <a:tcPr marL="114300" marR="114300" marT="28575" marB="28575" anchor="ctr">
                    <a:solidFill>
                      <a:srgbClr val="1F7A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Ubuntu"/>
                          <a:ea typeface="Ubuntu"/>
                          <a:cs typeface="Ubuntu"/>
                        </a:rPr>
                        <a:t>Budget</a:t>
                      </a:r>
                    </a:p>
                  </a:txBody>
                  <a:tcPr marL="114300" marR="114300" marT="28575" marB="28575" anchor="ctr">
                    <a:solidFill>
                      <a:srgbClr val="1F7A6D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PV package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205.7 kWp × €900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€185,130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Battery package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130 kWh × €300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€39,000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Carport structure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194 m² × €180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€34,920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Engineering + controls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Medium-site allowance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€15,000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Delivery contingency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10% of subtotal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€27,405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Total delivery cost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Excluding VAT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€301,455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46067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65">
            <a:extLst xmlns:a="http://schemas.openxmlformats.org/drawingml/2006/main">
              <a:ext uri="{FF2B5EF4-FFF2-40B4-BE49-F238E27FC236}">
                <a16:creationId xmlns:a16="http://schemas.microsoft.com/office/drawing/2014/main" id="{0606DE82-5C7B-429D-AD57-1CAF7814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10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3900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Funding support is a dedicated service</a:t>
            </a:r>
          </a:p>
        </p:txBody>
      </p:sp>
      <p:sp>
        <p:nvSpPr>
          <p:cNvPr id="2" name="text-66">
            <a:extLst xmlns:a="http://schemas.openxmlformats.org/drawingml/2006/main">
              <a:ext uri="{FF2B5EF4-FFF2-40B4-BE49-F238E27FC236}">
                <a16:creationId xmlns:a16="http://schemas.microsoft.com/office/drawing/2014/main" id="{C64C1907-86E5-47CB-A533-14085C99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Country rules and application evidence live in one back-office workflow.</a:t>
            </a:r>
          </a:p>
        </p:txBody>
      </p:sp>
      <p:sp>
        <p:nvSpPr>
          <p:cNvPr id="3" name="text-67">
            <a:extLst xmlns:a="http://schemas.openxmlformats.org/drawingml/2006/main">
              <a:ext uri="{FF2B5EF4-FFF2-40B4-BE49-F238E27FC236}">
                <a16:creationId xmlns:a16="http://schemas.microsoft.com/office/drawing/2014/main" id="{30CF1603-84FB-477F-988B-300E8A4B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12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ECOGRID RESORT · Confidential investor proposal · October 2026</a:t>
            </a:r>
          </a:p>
        </p:txBody>
      </p:sp>
      <p:sp>
        <p:nvSpPr>
          <p:cNvPr id="4" name="text-68">
            <a:extLst xmlns:a="http://schemas.openxmlformats.org/drawingml/2006/main">
              <a:ext uri="{FF2B5EF4-FFF2-40B4-BE49-F238E27FC236}">
                <a16:creationId xmlns:a16="http://schemas.microsoft.com/office/drawing/2014/main" id="{D2AAA01C-E3C2-4B5F-BC57-F8C8FD81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27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07</a:t>
            </a:r>
          </a:p>
        </p:txBody>
      </p:sp>
      <p:sp>
        <p:nvSpPr>
          <p:cNvPr id="5" name="text-69">
            <a:extLst xmlns:a="http://schemas.openxmlformats.org/drawingml/2006/main">
              <a:ext uri="{FF2B5EF4-FFF2-40B4-BE49-F238E27FC236}">
                <a16:creationId xmlns:a16="http://schemas.microsoft.com/office/drawing/2014/main" id="{04BE0D95-F612-4CF7-B586-8948250A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071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2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No grant awards or success fees in the forecast. Grants, tax relief, loans and export payments are different instruments.</a:t>
            </a:r>
          </a:p>
        </p:txBody>
      </p:sp>
      <p:sp>
        <p:nvSpPr>
          <p:cNvPr id="6" name="text-70">
            <a:extLst xmlns:a="http://schemas.openxmlformats.org/drawingml/2006/main">
              <a:ext uri="{FF2B5EF4-FFF2-40B4-BE49-F238E27FC236}">
                <a16:creationId xmlns:a16="http://schemas.microsoft.com/office/drawing/2014/main" id="{E7E795BE-F4DF-48F1-8B9C-9D34FC5B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3367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7A6D"/>
                </a:solidFill>
                <a:latin typeface="Ubuntu"/>
                <a:ea typeface="Ubuntu"/>
                <a:cs typeface="Ubuntu"/>
              </a:defRPr>
            </a:pPr>
            <a:r>
              <a:rPr sz="2100" b="1">
                <a:solidFill>
                  <a:srgbClr val="1F7A6D"/>
                </a:solidFill>
                <a:latin typeface="Ubuntu"/>
                <a:ea typeface="Ubuntu"/>
                <a:cs typeface="Ubuntu"/>
              </a:rPr>
              <a:t>Launch markets</a:t>
            </a:r>
          </a:p>
        </p:txBody>
      </p:sp>
      <p:sp>
        <p:nvSpPr>
          <p:cNvPr id="7" name="text-71">
            <a:extLst xmlns:a="http://schemas.openxmlformats.org/drawingml/2006/main">
              <a:ext uri="{FF2B5EF4-FFF2-40B4-BE49-F238E27FC236}">
                <a16:creationId xmlns:a16="http://schemas.microsoft.com/office/drawing/2014/main" id="{5126A799-2B45-4893-AA84-C7D03858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05175"/>
            <a:ext cx="495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112D35"/>
                </a:solidFill>
                <a:latin typeface="Ubuntu"/>
                <a:ea typeface="Ubuntu"/>
                <a:cs typeface="Ubuntu"/>
              </a:rPr>
              <a:t>Spain</a:t>
            </a:r>
          </a:p>
          <a:p xmlns:a="http://schemas.openxmlformats.org/drawingml/2006/main">
            <a:pPr>
              <a:defRPr sz="1800" b="0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112D35"/>
                </a:solidFill>
                <a:latin typeface="Ubuntu"/>
                <a:ea typeface="Ubuntu"/>
                <a:cs typeface="Ubuntu"/>
              </a:rPr>
              <a:t>Current regional / IDAE eligibility</a:t>
            </a:r>
          </a:p>
        </p:txBody>
      </p:sp>
      <p:sp>
        <p:nvSpPr>
          <p:cNvPr id="8" name="text-72">
            <a:extLst xmlns:a="http://schemas.openxmlformats.org/drawingml/2006/main">
              <a:ext uri="{FF2B5EF4-FFF2-40B4-BE49-F238E27FC236}">
                <a16:creationId xmlns:a16="http://schemas.microsoft.com/office/drawing/2014/main" id="{5385A17A-088B-4E41-B87E-226BC9E0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495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112D35"/>
                </a:solidFill>
                <a:latin typeface="Ubuntu"/>
                <a:ea typeface="Ubuntu"/>
                <a:cs typeface="Ubuntu"/>
              </a:rPr>
              <a:t>Italy</a:t>
            </a:r>
          </a:p>
          <a:p xmlns:a="http://schemas.openxmlformats.org/drawingml/2006/main">
            <a:pPr>
              <a:defRPr sz="1800" b="0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112D35"/>
                </a:solidFill>
                <a:latin typeface="Ubuntu"/>
                <a:ea typeface="Ubuntu"/>
                <a:cs typeface="Ubuntu"/>
              </a:rPr>
              <a:t>Regional calls / GSE configuration checks</a:t>
            </a:r>
          </a:p>
        </p:txBody>
      </p:sp>
      <p:sp>
        <p:nvSpPr>
          <p:cNvPr id="9" name="text-73">
            <a:extLst xmlns:a="http://schemas.openxmlformats.org/drawingml/2006/main">
              <a:ext uri="{FF2B5EF4-FFF2-40B4-BE49-F238E27FC236}">
                <a16:creationId xmlns:a16="http://schemas.microsoft.com/office/drawing/2014/main" id="{B8B82757-7733-44CA-B2DE-18FF1EB0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24425"/>
            <a:ext cx="495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112D35"/>
                </a:solidFill>
                <a:latin typeface="Ubuntu"/>
                <a:ea typeface="Ubuntu"/>
                <a:cs typeface="Ubuntu"/>
              </a:rPr>
              <a:t>France</a:t>
            </a:r>
          </a:p>
          <a:p xmlns:a="http://schemas.openxmlformats.org/drawingml/2006/main">
            <a:pPr>
              <a:defRPr sz="1800" b="0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112D35"/>
                </a:solidFill>
                <a:latin typeface="Ubuntu"/>
                <a:ea typeface="Ubuntu"/>
                <a:cs typeface="Ubuntu"/>
              </a:rPr>
              <a:t>ADEME / regional funding eligibility</a:t>
            </a:r>
          </a:p>
        </p:txBody>
      </p:sp>
      <p:sp>
        <p:nvSpPr>
          <p:cNvPr id="10" name="text-74">
            <a:extLst xmlns:a="http://schemas.openxmlformats.org/drawingml/2006/main">
              <a:ext uri="{FF2B5EF4-FFF2-40B4-BE49-F238E27FC236}">
                <a16:creationId xmlns:a16="http://schemas.microsoft.com/office/drawing/2014/main" id="{DA9ED4C4-0837-4D59-8704-18597662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3367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7A6D"/>
                </a:solidFill>
                <a:latin typeface="Ubuntu"/>
                <a:ea typeface="Ubuntu"/>
                <a:cs typeface="Ubuntu"/>
              </a:defRPr>
            </a:pPr>
            <a:r>
              <a:rPr sz="2100" b="1">
                <a:solidFill>
                  <a:srgbClr val="1F7A6D"/>
                </a:solidFill>
                <a:latin typeface="Ubuntu"/>
                <a:ea typeface="Ubuntu"/>
                <a:cs typeface="Ubuntu"/>
              </a:rPr>
              <a:t>Expansion and EU routes</a:t>
            </a:r>
          </a:p>
        </p:txBody>
      </p:sp>
      <p:sp>
        <p:nvSpPr>
          <p:cNvPr id="11" name="text-75">
            <a:extLst xmlns:a="http://schemas.openxmlformats.org/drawingml/2006/main">
              <a:ext uri="{FF2B5EF4-FFF2-40B4-BE49-F238E27FC236}">
                <a16:creationId xmlns:a16="http://schemas.microsoft.com/office/drawing/2014/main" id="{23E7BEAA-AEDA-46C8-B18B-92B66AB8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14700"/>
            <a:ext cx="4857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112D35"/>
                </a:solidFill>
                <a:latin typeface="Ubuntu"/>
                <a:ea typeface="Ubuntu"/>
                <a:cs typeface="Ubuntu"/>
              </a:rPr>
              <a:t>Belgium, Netherlands, UK</a:t>
            </a:r>
          </a:p>
          <a:p xmlns:a="http://schemas.openxmlformats.org/drawingml/2006/main">
            <a:pPr>
              <a:defRPr sz="1800" b="0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112D35"/>
                </a:solidFill>
                <a:latin typeface="Ubuntu"/>
                <a:ea typeface="Ubuntu"/>
                <a:cs typeface="Ubuntu"/>
              </a:rPr>
              <a:t>Separate country and regional support screens</a:t>
            </a:r>
          </a:p>
        </p:txBody>
      </p:sp>
      <p:sp>
        <p:nvSpPr>
          <p:cNvPr id="12" name="text-76">
            <a:extLst xmlns:a="http://schemas.openxmlformats.org/drawingml/2006/main">
              <a:ext uri="{FF2B5EF4-FFF2-40B4-BE49-F238E27FC236}">
                <a16:creationId xmlns:a16="http://schemas.microsoft.com/office/drawing/2014/main" id="{6BCC3D2A-43C8-4B36-8686-83612C58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86250"/>
            <a:ext cx="4857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112D35"/>
                </a:solidFill>
                <a:latin typeface="Ubuntu"/>
                <a:ea typeface="Ubuntu"/>
                <a:cs typeface="Ubuntu"/>
              </a:rPr>
              <a:t>European Union</a:t>
            </a:r>
          </a:p>
          <a:p xmlns:a="http://schemas.openxmlformats.org/drawingml/2006/main">
            <a:pPr>
              <a:defRPr sz="1800" b="0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112D35"/>
                </a:solidFill>
                <a:latin typeface="Ubuntu"/>
                <a:ea typeface="Ubuntu"/>
                <a:cs typeface="Ubuntu"/>
              </a:rPr>
              <a:t>Competitive LIFE calls and eco-label criteria</a:t>
            </a:r>
          </a:p>
        </p:txBody>
      </p:sp>
      <p:sp>
        <p:nvSpPr>
          <p:cNvPr id="13" name="text-77">
            <a:extLst xmlns:a="http://schemas.openxmlformats.org/drawingml/2006/main">
              <a:ext uri="{FF2B5EF4-FFF2-40B4-BE49-F238E27FC236}">
                <a16:creationId xmlns:a16="http://schemas.microsoft.com/office/drawing/2014/main" id="{78CFA49C-0D89-46D6-A0E2-48AB2EDA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2768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Dedicated team prepares and tracks dossiers</a:t>
            </a:r>
          </a:p>
        </p:txBody>
      </p:sp>
    </p:spTree>
    <p:extLst>
      <p:ext uri="{BB962C8B-B14F-4D97-AF65-F5344CB8AC3E}">
        <p14:creationId xmlns:p14="http://schemas.microsoft.com/office/powerpoint/2010/main" val="19705064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78">
            <a:extLst xmlns:a="http://schemas.openxmlformats.org/drawingml/2006/main">
              <a:ext uri="{FF2B5EF4-FFF2-40B4-BE49-F238E27FC236}">
                <a16:creationId xmlns:a16="http://schemas.microsoft.com/office/drawing/2014/main" id="{3316C8E6-C723-47A4-8C39-667533C9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10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3900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Eco Grid Pilot follows the site load</a:t>
            </a:r>
          </a:p>
        </p:txBody>
      </p:sp>
      <p:sp>
        <p:nvSpPr>
          <p:cNvPr id="2" name="text-79">
            <a:extLst xmlns:a="http://schemas.openxmlformats.org/drawingml/2006/main">
              <a:ext uri="{FF2B5EF4-FFF2-40B4-BE49-F238E27FC236}">
                <a16:creationId xmlns:a16="http://schemas.microsoft.com/office/drawing/2014/main" id="{2C3F7632-FE21-4266-95E2-D7EC86C3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Planned control software directs production, storage and permitted export.</a:t>
            </a:r>
          </a:p>
        </p:txBody>
      </p:sp>
      <p:sp>
        <p:nvSpPr>
          <p:cNvPr id="3" name="text-80">
            <a:extLst xmlns:a="http://schemas.openxmlformats.org/drawingml/2006/main">
              <a:ext uri="{FF2B5EF4-FFF2-40B4-BE49-F238E27FC236}">
                <a16:creationId xmlns:a16="http://schemas.microsoft.com/office/drawing/2014/main" id="{09A57776-34C1-46C6-A448-7B39DA9E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12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ECOGRID RESORT · Confidential investor proposal · October 2026</a:t>
            </a:r>
          </a:p>
        </p:txBody>
      </p:sp>
      <p:sp>
        <p:nvSpPr>
          <p:cNvPr id="4" name="text-81">
            <a:extLst xmlns:a="http://schemas.openxmlformats.org/drawingml/2006/main">
              <a:ext uri="{FF2B5EF4-FFF2-40B4-BE49-F238E27FC236}">
                <a16:creationId xmlns:a16="http://schemas.microsoft.com/office/drawing/2014/main" id="{FCFFD5E2-DB5B-4B56-9FDC-7486D80D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27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08</a:t>
            </a:r>
          </a:p>
        </p:txBody>
      </p:sp>
      <p:sp>
        <p:nvSpPr>
          <p:cNvPr id="5" name="text-82">
            <a:extLst xmlns:a="http://schemas.openxmlformats.org/drawingml/2006/main">
              <a:ext uri="{FF2B5EF4-FFF2-40B4-BE49-F238E27FC236}">
                <a16:creationId xmlns:a16="http://schemas.microsoft.com/office/drawing/2014/main" id="{06C7D2E5-E942-4450-BC52-0886B922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071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2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Illustrative kW values, not telemetry. Battery availability, local controls and grid permission constrain dispatch.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85800" y="2714625"/>
          <a:ext xmlns:a="http://schemas.openxmlformats.org/drawingml/2006/main" cx="666750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4ff8dcef36848f7"/>
          </a:graphicData>
        </a:graphic>
      </p:graphicFrame>
      <p:sp>
        <p:nvSpPr>
          <p:cNvPr id="7" name="text-83">
            <a:extLst xmlns:a="http://schemas.openxmlformats.org/drawingml/2006/main">
              <a:ext uri="{FF2B5EF4-FFF2-40B4-BE49-F238E27FC236}">
                <a16:creationId xmlns:a16="http://schemas.microsoft.com/office/drawing/2014/main" id="{33DA5F11-068C-4F0B-8926-19AE08B0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57500"/>
            <a:ext cx="3409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7A6D"/>
                </a:solidFill>
                <a:latin typeface="Ubuntu"/>
                <a:ea typeface="Ubuntu"/>
                <a:cs typeface="Ubuntu"/>
              </a:defRPr>
            </a:pPr>
            <a:r>
              <a:rPr sz="2100" b="1">
                <a:solidFill>
                  <a:srgbClr val="1F7A6D"/>
                </a:solidFill>
                <a:latin typeface="Ubuntu"/>
                <a:ea typeface="Ubuntu"/>
                <a:cs typeface="Ubuntu"/>
              </a:rPr>
              <a:t>At noon</a:t>
            </a:r>
          </a:p>
        </p:txBody>
      </p:sp>
      <p:sp>
        <p:nvSpPr>
          <p:cNvPr id="8" name="text-84">
            <a:extLst xmlns:a="http://schemas.openxmlformats.org/drawingml/2006/main">
              <a:ext uri="{FF2B5EF4-FFF2-40B4-BE49-F238E27FC236}">
                <a16:creationId xmlns:a16="http://schemas.microsoft.com/office/drawing/2014/main" id="{C2A2504E-718C-40CA-9052-5B8111FF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429000"/>
            <a:ext cx="34290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112D35"/>
                </a:solidFill>
                <a:latin typeface="Ubuntu"/>
                <a:ea typeface="Ubuntu"/>
                <a:cs typeface="Ubuntu"/>
              </a:rPr>
              <a:t>95 kW serves the site</a:t>
            </a:r>
          </a:p>
          <a:p xmlns:a="http://schemas.openxmlformats.org/drawingml/2006/main">
            <a:pPr>
              <a:defRPr sz="1800" b="0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112D35"/>
                </a:solidFill>
                <a:latin typeface="Ubuntu"/>
                <a:ea typeface="Ubuntu"/>
                <a:cs typeface="Ubuntu"/>
              </a:rPr>
              <a:t>35 kW charges storage</a:t>
            </a:r>
          </a:p>
          <a:p xmlns:a="http://schemas.openxmlformats.org/drawingml/2006/main">
            <a:pPr>
              <a:defRPr sz="1800" b="0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112D35"/>
                </a:solidFill>
                <a:latin typeface="Ubuntu"/>
                <a:ea typeface="Ubuntu"/>
                <a:cs typeface="Ubuntu"/>
              </a:rPr>
              <a:t>20 kW exports to the grid</a:t>
            </a:r>
          </a:p>
        </p:txBody>
      </p:sp>
      <p:sp>
        <p:nvSpPr>
          <p:cNvPr id="9" name="text-85">
            <a:extLst xmlns:a="http://schemas.openxmlformats.org/drawingml/2006/main">
              <a:ext uri="{FF2B5EF4-FFF2-40B4-BE49-F238E27FC236}">
                <a16:creationId xmlns:a16="http://schemas.microsoft.com/office/drawing/2014/main" id="{2FC551C1-3A6E-4428-9D40-BF443F05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905375"/>
            <a:ext cx="34099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Supported device APIs and fail-safe settings govern automation.</a:t>
            </a:r>
          </a:p>
        </p:txBody>
      </p:sp>
    </p:spTree>
    <p:extLst>
      <p:ext uri="{BB962C8B-B14F-4D97-AF65-F5344CB8AC3E}">
        <p14:creationId xmlns:p14="http://schemas.microsoft.com/office/powerpoint/2010/main" val="189358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86">
            <a:extLst xmlns:a="http://schemas.openxmlformats.org/drawingml/2006/main">
              <a:ext uri="{FF2B5EF4-FFF2-40B4-BE49-F238E27FC236}">
                <a16:creationId xmlns:a16="http://schemas.microsoft.com/office/drawing/2014/main" id="{1325B66F-7F72-4BD8-9E5C-323AC83B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10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3900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Direct sales lead. Asset finance stays separate.</a:t>
            </a:r>
          </a:p>
        </p:txBody>
      </p:sp>
      <p:sp>
        <p:nvSpPr>
          <p:cNvPr id="2" name="text-87">
            <a:extLst xmlns:a="http://schemas.openxmlformats.org/drawingml/2006/main">
              <a:ext uri="{FF2B5EF4-FFF2-40B4-BE49-F238E27FC236}">
                <a16:creationId xmlns:a16="http://schemas.microsoft.com/office/drawing/2014/main" id="{8FCFBA83-ADEA-40BC-84F0-C72509B7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Both routes use the same platform. The €700k raise funds the operating company.</a:t>
            </a:r>
          </a:p>
        </p:txBody>
      </p:sp>
      <p:sp>
        <p:nvSpPr>
          <p:cNvPr id="3" name="text-88">
            <a:extLst xmlns:a="http://schemas.openxmlformats.org/drawingml/2006/main">
              <a:ext uri="{FF2B5EF4-FFF2-40B4-BE49-F238E27FC236}">
                <a16:creationId xmlns:a16="http://schemas.microsoft.com/office/drawing/2014/main" id="{6D00A825-FB77-4CF1-85FA-6FD11140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12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ECOGRID RESORT · Confidential investor proposal · October 2026</a:t>
            </a:r>
          </a:p>
        </p:txBody>
      </p:sp>
      <p:sp>
        <p:nvSpPr>
          <p:cNvPr id="4" name="text-89">
            <a:extLst xmlns:a="http://schemas.openxmlformats.org/drawingml/2006/main">
              <a:ext uri="{FF2B5EF4-FFF2-40B4-BE49-F238E27FC236}">
                <a16:creationId xmlns:a16="http://schemas.microsoft.com/office/drawing/2014/main" id="{FE7ED33A-C2CD-4EF9-B44D-F01EB8ED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27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09</a:t>
            </a:r>
          </a:p>
        </p:txBody>
      </p:sp>
      <p:sp>
        <p:nvSpPr>
          <p:cNvPr id="5" name="text-90">
            <a:extLst xmlns:a="http://schemas.openxmlformats.org/drawingml/2006/main">
              <a:ext uri="{FF2B5EF4-FFF2-40B4-BE49-F238E27FC236}">
                <a16:creationId xmlns:a16="http://schemas.microsoft.com/office/drawing/2014/main" id="{F8D7D343-1BF2-48A6-9576-D90736CD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071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2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4★ Medium baseline. Financed partner funds quoted plant price. Asset returns exclude debt, tax and replacement reserves.</a:t>
            </a:r>
          </a:p>
        </p:txBody>
      </p:sp>
      <p:sp>
        <p:nvSpPr>
          <p:cNvPr id="6" name="text-91">
            <a:extLst xmlns:a="http://schemas.openxmlformats.org/drawingml/2006/main">
              <a:ext uri="{FF2B5EF4-FFF2-40B4-BE49-F238E27FC236}">
                <a16:creationId xmlns:a16="http://schemas.microsoft.com/office/drawing/2014/main" id="{F475F000-A2BC-4808-9A00-BF4A4C7B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6225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F7A6D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1F7A6D"/>
                </a:solidFill>
                <a:latin typeface="Ubuntu"/>
                <a:ea typeface="Ubuntu"/>
                <a:cs typeface="Ubuntu"/>
              </a:rPr>
              <a:t>Resort-funded installation</a:t>
            </a:r>
          </a:p>
        </p:txBody>
      </p:sp>
      <p:sp>
        <p:nvSpPr>
          <p:cNvPr id="7" name="text-92">
            <a:extLst xmlns:a="http://schemas.openxmlformats.org/drawingml/2006/main">
              <a:ext uri="{FF2B5EF4-FFF2-40B4-BE49-F238E27FC236}">
                <a16:creationId xmlns:a16="http://schemas.microsoft.com/office/drawing/2014/main" id="{3BE66436-C814-4AD0-8C9D-A094EFFF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371850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3675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€463,777</a:t>
            </a:r>
          </a:p>
        </p:txBody>
      </p:sp>
      <p:sp>
        <p:nvSpPr>
          <p:cNvPr id="8" name="text-93">
            <a:extLst xmlns:a="http://schemas.openxmlformats.org/drawingml/2006/main">
              <a:ext uri="{FF2B5EF4-FFF2-40B4-BE49-F238E27FC236}">
                <a16:creationId xmlns:a16="http://schemas.microsoft.com/office/drawing/2014/main" id="{44FC6CB5-FB6D-45E5-953B-81DAFCC8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33875"/>
            <a:ext cx="5048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725" b="0">
                <a:solidFill>
                  <a:srgbClr val="112D35"/>
                </a:solidFill>
                <a:latin typeface="Ubuntu"/>
                <a:ea typeface="Ubuntu"/>
                <a:cs typeface="Ubuntu"/>
              </a:rPr>
              <a:t>ECOGRID earns 35% target project margin</a:t>
            </a:r>
          </a:p>
          <a:p xmlns:a="http://schemas.openxmlformats.org/drawingml/2006/main">
            <a:pPr>
              <a:defRPr sz="1725" b="0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725" b="0">
                <a:solidFill>
                  <a:srgbClr val="112D35"/>
                </a:solidFill>
                <a:latin typeface="Ubuntu"/>
                <a:ea typeface="Ubuntu"/>
                <a:cs typeface="Ubuntu"/>
              </a:rPr>
              <a:t>€8,000 annual software + maintenance</a:t>
            </a:r>
          </a:p>
          <a:p xmlns:a="http://schemas.openxmlformats.org/drawingml/2006/main">
            <a:pPr>
              <a:defRPr sz="1725" b="0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725" b="0">
                <a:solidFill>
                  <a:srgbClr val="112D35"/>
                </a:solidFill>
                <a:latin typeface="Ubuntu"/>
                <a:ea typeface="Ubuntu"/>
                <a:cs typeface="Ubuntu"/>
              </a:rPr>
              <a:t>Resort retains €45,845 net savings / year</a:t>
            </a:r>
          </a:p>
        </p:txBody>
      </p:sp>
      <p:sp>
        <p:nvSpPr>
          <p:cNvPr id="9" name="text-94">
            <a:extLst xmlns:a="http://schemas.openxmlformats.org/drawingml/2006/main">
              <a:ext uri="{FF2B5EF4-FFF2-40B4-BE49-F238E27FC236}">
                <a16:creationId xmlns:a16="http://schemas.microsoft.com/office/drawing/2014/main" id="{ECDDA965-D9DE-494E-8A6C-398B7CC2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6225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F7A6D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1F7A6D"/>
                </a:solidFill>
                <a:latin typeface="Ubuntu"/>
                <a:ea typeface="Ubuntu"/>
                <a:cs typeface="Ubuntu"/>
              </a:rPr>
              <a:t>Separately funded asset</a:t>
            </a:r>
          </a:p>
        </p:txBody>
      </p:sp>
      <p:sp>
        <p:nvSpPr>
          <p:cNvPr id="10" name="text-95">
            <a:extLst xmlns:a="http://schemas.openxmlformats.org/drawingml/2006/main">
              <a:ext uri="{FF2B5EF4-FFF2-40B4-BE49-F238E27FC236}">
                <a16:creationId xmlns:a16="http://schemas.microsoft.com/office/drawing/2014/main" id="{940D9C38-2AD1-432E-9B41-3651C84C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71850"/>
            <a:ext cx="5010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2625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Proposed €0 resort plant CAPEX</a:t>
            </a:r>
          </a:p>
        </p:txBody>
      </p:sp>
      <p:sp>
        <p:nvSpPr>
          <p:cNvPr id="11" name="text-96">
            <a:extLst xmlns:a="http://schemas.openxmlformats.org/drawingml/2006/main">
              <a:ext uri="{FF2B5EF4-FFF2-40B4-BE49-F238E27FC236}">
                <a16:creationId xmlns:a16="http://schemas.microsoft.com/office/drawing/2014/main" id="{BB347B04-9EF4-4DF1-A107-974E23DD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333875"/>
            <a:ext cx="503872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725" b="0">
                <a:solidFill>
                  <a:srgbClr val="112D35"/>
                </a:solidFill>
                <a:latin typeface="Ubuntu"/>
                <a:ea typeface="Ubuntu"/>
                <a:cs typeface="Ubuntu"/>
              </a:rPr>
              <a:t>60% asset-owner / 40% resort savings share</a:t>
            </a:r>
          </a:p>
          <a:p xmlns:a="http://schemas.openxmlformats.org/drawingml/2006/main">
            <a:pPr>
              <a:defRPr sz="1725" b="0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725" b="0">
                <a:solidFill>
                  <a:srgbClr val="112D35"/>
                </a:solidFill>
                <a:latin typeface="Ubuntu"/>
                <a:ea typeface="Ubuntu"/>
                <a:cs typeface="Ubuntu"/>
              </a:rPr>
              <a:t>€28,307 asset cash / year before reserves</a:t>
            </a:r>
          </a:p>
          <a:p xmlns:a="http://schemas.openxmlformats.org/drawingml/2006/main">
            <a:pPr>
              <a:defRPr sz="1725" b="0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725" b="0">
                <a:solidFill>
                  <a:srgbClr val="112D35"/>
                </a:solidFill>
                <a:latin typeface="Ubuntu"/>
                <a:ea typeface="Ubuntu"/>
                <a:cs typeface="Ubuntu"/>
              </a:rPr>
              <a:t>16.4 years simple asset payback</a:t>
            </a:r>
          </a:p>
        </p:txBody>
      </p:sp>
    </p:spTree>
    <p:extLst>
      <p:ext uri="{BB962C8B-B14F-4D97-AF65-F5344CB8AC3E}">
        <p14:creationId xmlns:p14="http://schemas.microsoft.com/office/powerpoint/2010/main" val="14665708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97">
            <a:extLst xmlns:a="http://schemas.openxmlformats.org/drawingml/2006/main">
              <a:ext uri="{FF2B5EF4-FFF2-40B4-BE49-F238E27FC236}">
                <a16:creationId xmlns:a16="http://schemas.microsoft.com/office/drawing/2014/main" id="{D1C936E9-1D8B-45FE-86F2-F49E5073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10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3900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200 connected sites in three commercial years</a:t>
            </a:r>
          </a:p>
        </p:txBody>
      </p:sp>
      <p:sp>
        <p:nvSpPr>
          <p:cNvPr id="2" name="text-98">
            <a:extLst xmlns:a="http://schemas.openxmlformats.org/drawingml/2006/main">
              <a:ext uri="{FF2B5EF4-FFF2-40B4-BE49-F238E27FC236}">
                <a16:creationId xmlns:a16="http://schemas.microsoft.com/office/drawing/2014/main" id="{97ECCE98-7A66-4C9C-9D7D-35D3CA01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20 / 60 / 120 new installations. An acceleration of the July plan’s 15 / 40 / 80.</a:t>
            </a:r>
          </a:p>
        </p:txBody>
      </p:sp>
      <p:sp>
        <p:nvSpPr>
          <p:cNvPr id="3" name="text-99">
            <a:extLst xmlns:a="http://schemas.openxmlformats.org/drawingml/2006/main">
              <a:ext uri="{FF2B5EF4-FFF2-40B4-BE49-F238E27FC236}">
                <a16:creationId xmlns:a16="http://schemas.microsoft.com/office/drawing/2014/main" id="{7E101AA3-3ABC-4752-9AF6-7C77F74F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12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ECOGRID RESORT · Confidential investor proposal · October 2026</a:t>
            </a:r>
          </a:p>
        </p:txBody>
      </p:sp>
      <p:sp>
        <p:nvSpPr>
          <p:cNvPr id="4" name="text-100">
            <a:extLst xmlns:a="http://schemas.openxmlformats.org/drawingml/2006/main">
              <a:ext uri="{FF2B5EF4-FFF2-40B4-BE49-F238E27FC236}">
                <a16:creationId xmlns:a16="http://schemas.microsoft.com/office/drawing/2014/main" id="{68BCADD2-5BC7-44A9-9712-23B0E0BE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27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10</a:t>
            </a:r>
          </a:p>
        </p:txBody>
      </p:sp>
      <p:sp>
        <p:nvSpPr>
          <p:cNvPr id="5" name="text-101">
            <a:extLst xmlns:a="http://schemas.openxmlformats.org/drawingml/2006/main">
              <a:ext uri="{FF2B5EF4-FFF2-40B4-BE49-F238E27FC236}">
                <a16:creationId xmlns:a16="http://schemas.microsoft.com/office/drawing/2014/main" id="{936A4E5A-4ED6-4F80-9398-ED678FA2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071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2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Growth target, not signed pipeline. Direct sales only. Half-year service revenue for new cohorts, no churn.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704850" y="2686050"/>
          <a:ext xmlns:a="http://schemas.openxmlformats.org/drawingml/2006/main" cx="6143625" cy="3028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119c311b08e495f"/>
          </a:graphicData>
        </a:graphic>
      </p:graphicFrame>
      <p:sp>
        <p:nvSpPr>
          <p:cNvPr id="7" name="text-102">
            <a:extLst xmlns:a="http://schemas.openxmlformats.org/drawingml/2006/main">
              <a:ext uri="{FF2B5EF4-FFF2-40B4-BE49-F238E27FC236}">
                <a16:creationId xmlns:a16="http://schemas.microsoft.com/office/drawing/2014/main" id="{C8D02EAD-1D72-4AB0-9BEF-922F27B1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7655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1F7A6D"/>
                </a:solidFill>
                <a:latin typeface="Ubuntu"/>
                <a:ea typeface="Ubuntu"/>
                <a:cs typeface="Ubuntu"/>
              </a:defRPr>
            </a:pPr>
            <a:r>
              <a:rPr sz="4125" b="1">
                <a:solidFill>
                  <a:srgbClr val="1F7A6D"/>
                </a:solidFill>
                <a:latin typeface="Ubuntu"/>
                <a:ea typeface="Ubuntu"/>
                <a:cs typeface="Ubuntu"/>
              </a:rPr>
              <a:t>€1.71m</a:t>
            </a:r>
          </a:p>
        </p:txBody>
      </p:sp>
      <p:sp>
        <p:nvSpPr>
          <p:cNvPr id="8" name="text-103">
            <a:extLst xmlns:a="http://schemas.openxmlformats.org/drawingml/2006/main">
              <a:ext uri="{FF2B5EF4-FFF2-40B4-BE49-F238E27FC236}">
                <a16:creationId xmlns:a16="http://schemas.microsoft.com/office/drawing/2014/main" id="{A7115430-D265-4955-80BB-162CEEC3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67125"/>
            <a:ext cx="34766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Year-3 software + maintenance run rate</a:t>
            </a:r>
          </a:p>
        </p:txBody>
      </p:sp>
      <p:sp>
        <p:nvSpPr>
          <p:cNvPr id="9" name="text-104">
            <a:extLst xmlns:a="http://schemas.openxmlformats.org/drawingml/2006/main">
              <a:ext uri="{FF2B5EF4-FFF2-40B4-BE49-F238E27FC236}">
                <a16:creationId xmlns:a16="http://schemas.microsoft.com/office/drawing/2014/main" id="{F89F84E5-F868-46B3-BBB4-DD1867B7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67250"/>
            <a:ext cx="347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3150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€790.0k</a:t>
            </a:r>
          </a:p>
        </p:txBody>
      </p:sp>
      <p:sp>
        <p:nvSpPr>
          <p:cNvPr id="10" name="text-105">
            <a:extLst xmlns:a="http://schemas.openxmlformats.org/drawingml/2006/main">
              <a:ext uri="{FF2B5EF4-FFF2-40B4-BE49-F238E27FC236}">
                <a16:creationId xmlns:a16="http://schemas.microsoft.com/office/drawing/2014/main" id="{561C4480-0076-4BA1-8202-1B6BDB66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276850"/>
            <a:ext cx="3476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57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Software-only run rate within that total</a:t>
            </a:r>
          </a:p>
        </p:txBody>
      </p:sp>
    </p:spTree>
    <p:extLst>
      <p:ext uri="{BB962C8B-B14F-4D97-AF65-F5344CB8AC3E}">
        <p14:creationId xmlns:p14="http://schemas.microsoft.com/office/powerpoint/2010/main" val="265486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06">
            <a:extLst xmlns:a="http://schemas.openxmlformats.org/drawingml/2006/main">
              <a:ext uri="{FF2B5EF4-FFF2-40B4-BE49-F238E27FC236}">
                <a16:creationId xmlns:a16="http://schemas.microsoft.com/office/drawing/2014/main" id="{90279593-F112-41B1-ACA7-2091F4EB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10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3900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Revenue and cost grow with delivered projects</a:t>
            </a:r>
          </a:p>
        </p:txBody>
      </p:sp>
      <p:sp>
        <p:nvSpPr>
          <p:cNvPr id="2" name="text-107">
            <a:extLst xmlns:a="http://schemas.openxmlformats.org/drawingml/2006/main">
              <a:ext uri="{FF2B5EF4-FFF2-40B4-BE49-F238E27FC236}">
                <a16:creationId xmlns:a16="http://schemas.microsoft.com/office/drawing/2014/main" id="{44E55E4C-09F8-4AFA-AFD1-D3FFBE03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Illustrative operating-company performance. All values in EUR millions.</a:t>
            </a:r>
          </a:p>
        </p:txBody>
      </p:sp>
      <p:sp>
        <p:nvSpPr>
          <p:cNvPr id="3" name="text-108">
            <a:extLst xmlns:a="http://schemas.openxmlformats.org/drawingml/2006/main">
              <a:ext uri="{FF2B5EF4-FFF2-40B4-BE49-F238E27FC236}">
                <a16:creationId xmlns:a16="http://schemas.microsoft.com/office/drawing/2014/main" id="{31DCB2B2-B562-49DB-BC42-93DF1D6C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12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ECOGRID RESORT · Confidential investor proposal · October 2026</a:t>
            </a:r>
          </a:p>
        </p:txBody>
      </p:sp>
      <p:sp>
        <p:nvSpPr>
          <p:cNvPr id="4" name="text-109">
            <a:extLst xmlns:a="http://schemas.openxmlformats.org/drawingml/2006/main">
              <a:ext uri="{FF2B5EF4-FFF2-40B4-BE49-F238E27FC236}">
                <a16:creationId xmlns:a16="http://schemas.microsoft.com/office/drawing/2014/main" id="{C1521776-211A-4147-AF49-AF96D764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27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11</a:t>
            </a:r>
          </a:p>
        </p:txBody>
      </p:sp>
      <p:sp>
        <p:nvSpPr>
          <p:cNvPr id="5" name="text-110">
            <a:extLst xmlns:a="http://schemas.openxmlformats.org/drawingml/2006/main">
              <a:ext uri="{FF2B5EF4-FFF2-40B4-BE49-F238E27FC236}">
                <a16:creationId xmlns:a16="http://schemas.microsoft.com/office/drawing/2014/main" id="{E872426F-5945-4633-BDD2-BBF8369E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071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2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Targets: 35% works / 65% service gross margin. EBITDA excludes software CAPEX, depreciation, financing and tax.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04850" y="2647950"/>
          <a:ext xmlns:a="http://schemas.openxmlformats.org/drawingml/2006/main" cx="10782300" cy="30575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724400"/>
                <a:gridCol w="2019300"/>
                <a:gridCol w="2019300"/>
                <a:gridCol w="2019300"/>
              </a:tblGrid>
              <a:tr h="436789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Ubuntu"/>
                          <a:ea typeface="Ubuntu"/>
                          <a:cs typeface="Ubuntu"/>
                        </a:rPr>
                        <a:t>EUR millions</a:t>
                      </a:r>
                    </a:p>
                  </a:txBody>
                  <a:tcPr marL="114300" marR="114300" marT="28575" marB="28575" anchor="ctr">
                    <a:solidFill>
                      <a:srgbClr val="1F7A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Ubuntu"/>
                          <a:ea typeface="Ubuntu"/>
                          <a:cs typeface="Ubuntu"/>
                        </a:rPr>
                        <a:t>2027</a:t>
                      </a:r>
                    </a:p>
                  </a:txBody>
                  <a:tcPr marL="114300" marR="114300" marT="28575" marB="28575" anchor="ctr">
                    <a:solidFill>
                      <a:srgbClr val="1F7A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Ubuntu"/>
                          <a:ea typeface="Ubuntu"/>
                          <a:cs typeface="Ubuntu"/>
                        </a:rPr>
                        <a:t>2028</a:t>
                      </a:r>
                    </a:p>
                  </a:txBody>
                  <a:tcPr marL="114300" marR="114300" marT="28575" marB="28575" anchor="ctr">
                    <a:solidFill>
                      <a:srgbClr val="1F7A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Ubuntu"/>
                          <a:ea typeface="Ubuntu"/>
                          <a:cs typeface="Ubuntu"/>
                        </a:rPr>
                        <a:t>2029</a:t>
                      </a:r>
                    </a:p>
                  </a:txBody>
                  <a:tcPr marL="114300" marR="114300" marT="28575" marB="28575" anchor="ctr">
                    <a:solidFill>
                      <a:srgbClr val="1F7A6D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Revenue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12.34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37.18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74.70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Installation cost of sales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7.96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23.89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47.78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Service revenue recognised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0.09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0.43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1.20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Gross profit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4.34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13.14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26.50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Operating expenses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0.59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1.10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1.80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Illustrative EBITDA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3.75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12.04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24.70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35907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111">
            <a:extLst xmlns:a="http://schemas.openxmlformats.org/drawingml/2006/main">
              <a:ext uri="{FF2B5EF4-FFF2-40B4-BE49-F238E27FC236}">
                <a16:creationId xmlns:a16="http://schemas.microsoft.com/office/drawing/2014/main" id="{4B37B81F-4F26-489B-AFFC-CBF630E2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10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3900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Delivery capacity is part of the growth plan</a:t>
            </a:r>
          </a:p>
        </p:txBody>
      </p:sp>
      <p:sp>
        <p:nvSpPr>
          <p:cNvPr id="2" name="text-112">
            <a:extLst xmlns:a="http://schemas.openxmlformats.org/drawingml/2006/main">
              <a:ext uri="{FF2B5EF4-FFF2-40B4-BE49-F238E27FC236}">
                <a16:creationId xmlns:a16="http://schemas.microsoft.com/office/drawing/2014/main" id="{A32A60C6-06E4-4FBC-86F5-E629ABA2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Supplier and contractor portals turn demand into confirmed delivery slots.</a:t>
            </a:r>
          </a:p>
        </p:txBody>
      </p:sp>
      <p:sp>
        <p:nvSpPr>
          <p:cNvPr id="3" name="text-113">
            <a:extLst xmlns:a="http://schemas.openxmlformats.org/drawingml/2006/main">
              <a:ext uri="{FF2B5EF4-FFF2-40B4-BE49-F238E27FC236}">
                <a16:creationId xmlns:a16="http://schemas.microsoft.com/office/drawing/2014/main" id="{30860286-6081-499A-9CD0-9E1EB1BB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12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ECOGRID RESORT · Confidential investor proposal · October 2026</a:t>
            </a:r>
          </a:p>
        </p:txBody>
      </p:sp>
      <p:sp>
        <p:nvSpPr>
          <p:cNvPr id="4" name="text-114">
            <a:extLst xmlns:a="http://schemas.openxmlformats.org/drawingml/2006/main">
              <a:ext uri="{FF2B5EF4-FFF2-40B4-BE49-F238E27FC236}">
                <a16:creationId xmlns:a16="http://schemas.microsoft.com/office/drawing/2014/main" id="{D5E45ABA-E9D2-41DF-969B-E17F5DF2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27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12</a:t>
            </a:r>
          </a:p>
        </p:txBody>
      </p:sp>
      <p:sp>
        <p:nvSpPr>
          <p:cNvPr id="5" name="text-115">
            <a:extLst xmlns:a="http://schemas.openxmlformats.org/drawingml/2006/main">
              <a:ext uri="{FF2B5EF4-FFF2-40B4-BE49-F238E27FC236}">
                <a16:creationId xmlns:a16="http://schemas.microsoft.com/office/drawing/2014/main" id="{F5B05DDF-78BC-47C0-800B-01CE1415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071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2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Crew capacity is a planning assumption. Country expansion follows demonstrated delivery and collections.</a:t>
            </a:r>
          </a:p>
        </p:txBody>
      </p:sp>
      <p:sp>
        <p:nvSpPr>
          <p:cNvPr id="6" name="text-116">
            <a:extLst xmlns:a="http://schemas.openxmlformats.org/drawingml/2006/main">
              <a:ext uri="{FF2B5EF4-FFF2-40B4-BE49-F238E27FC236}">
                <a16:creationId xmlns:a16="http://schemas.microsoft.com/office/drawing/2014/main" id="{548F793D-6C96-4C5A-8DA0-426DA1C4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335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1F7A6D"/>
                </a:solidFill>
                <a:latin typeface="Ubuntu"/>
                <a:ea typeface="Ubuntu"/>
                <a:cs typeface="Ubuntu"/>
              </a:defRPr>
            </a:pPr>
            <a:r>
              <a:rPr sz="4275" b="1">
                <a:solidFill>
                  <a:srgbClr val="1F7A6D"/>
                </a:solidFill>
                <a:latin typeface="Ubuntu"/>
                <a:ea typeface="Ubuntu"/>
                <a:cs typeface="Ubuntu"/>
              </a:rPr>
              <a:t>2 / 6 / 12</a:t>
            </a:r>
          </a:p>
        </p:txBody>
      </p:sp>
      <p:sp>
        <p:nvSpPr>
          <p:cNvPr id="7" name="text-117">
            <a:extLst xmlns:a="http://schemas.openxmlformats.org/drawingml/2006/main">
              <a:ext uri="{FF2B5EF4-FFF2-40B4-BE49-F238E27FC236}">
                <a16:creationId xmlns:a16="http://schemas.microsoft.com/office/drawing/2014/main" id="{CD3F307A-C05C-41F6-B7A8-536A704A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333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87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Installation crews</a:t>
            </a:r>
          </a:p>
          <a:p xmlns:a="http://schemas.openxmlformats.org/drawingml/2006/main">
            <a:pPr>
              <a:defRPr sz="187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87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Year 1 / 2 / 3</a:t>
            </a:r>
          </a:p>
        </p:txBody>
      </p:sp>
      <p:sp>
        <p:nvSpPr>
          <p:cNvPr id="8" name="text-118">
            <a:extLst xmlns:a="http://schemas.openxmlformats.org/drawingml/2006/main">
              <a:ext uri="{FF2B5EF4-FFF2-40B4-BE49-F238E27FC236}">
                <a16:creationId xmlns:a16="http://schemas.microsoft.com/office/drawing/2014/main" id="{D98738A5-9EE3-4DF1-9917-36F56A0B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857500"/>
            <a:ext cx="335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4275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10</a:t>
            </a:r>
          </a:p>
        </p:txBody>
      </p:sp>
      <p:sp>
        <p:nvSpPr>
          <p:cNvPr id="9" name="text-119">
            <a:extLst xmlns:a="http://schemas.openxmlformats.org/drawingml/2006/main">
              <a:ext uri="{FF2B5EF4-FFF2-40B4-BE49-F238E27FC236}">
                <a16:creationId xmlns:a16="http://schemas.microsoft.com/office/drawing/2014/main" id="{09AFDB78-C116-4C7A-860C-D082AABB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790950"/>
            <a:ext cx="333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87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Sites commissioned</a:t>
            </a:r>
          </a:p>
          <a:p xmlns:a="http://schemas.openxmlformats.org/drawingml/2006/main">
            <a:pPr>
              <a:defRPr sz="187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87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per crew per year</a:t>
            </a:r>
          </a:p>
        </p:txBody>
      </p:sp>
      <p:sp>
        <p:nvSpPr>
          <p:cNvPr id="10" name="text-120">
            <a:extLst xmlns:a="http://schemas.openxmlformats.org/drawingml/2006/main">
              <a:ext uri="{FF2B5EF4-FFF2-40B4-BE49-F238E27FC236}">
                <a16:creationId xmlns:a16="http://schemas.microsoft.com/office/drawing/2014/main" id="{074E3A96-12BD-4FC8-A606-268CA9C3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57500"/>
            <a:ext cx="335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3000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€9k / €6k / €5k</a:t>
            </a:r>
          </a:p>
        </p:txBody>
      </p:sp>
      <p:sp>
        <p:nvSpPr>
          <p:cNvPr id="11" name="text-121">
            <a:extLst xmlns:a="http://schemas.openxmlformats.org/drawingml/2006/main">
              <a:ext uri="{FF2B5EF4-FFF2-40B4-BE49-F238E27FC236}">
                <a16:creationId xmlns:a16="http://schemas.microsoft.com/office/drawing/2014/main" id="{FE41EEFE-EA69-42DB-9747-27D1086C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90950"/>
            <a:ext cx="333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87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Sales + marketing CAC</a:t>
            </a:r>
          </a:p>
          <a:p xmlns:a="http://schemas.openxmlformats.org/drawingml/2006/main">
            <a:pPr>
              <a:defRPr sz="187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87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Year 1 / 2 / 3</a:t>
            </a:r>
          </a:p>
        </p:txBody>
      </p:sp>
      <p:sp>
        <p:nvSpPr>
          <p:cNvPr id="12" name="text-122">
            <a:extLst xmlns:a="http://schemas.openxmlformats.org/drawingml/2006/main">
              <a:ext uri="{FF2B5EF4-FFF2-40B4-BE49-F238E27FC236}">
                <a16:creationId xmlns:a16="http://schemas.microsoft.com/office/drawing/2014/main" id="{78203C6C-8C04-4F94-A7A3-6F2DBBDB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01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2100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Launch: Spain, Italy and France</a:t>
            </a:r>
          </a:p>
        </p:txBody>
      </p:sp>
      <p:sp>
        <p:nvSpPr>
          <p:cNvPr id="13" name="text-123">
            <a:extLst xmlns:a="http://schemas.openxmlformats.org/drawingml/2006/main">
              <a:ext uri="{FF2B5EF4-FFF2-40B4-BE49-F238E27FC236}">
                <a16:creationId xmlns:a16="http://schemas.microsoft.com/office/drawing/2014/main" id="{D5E96515-4206-4C5A-8E9E-CA39418A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87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Then Belgium, Netherlands and UK after repeatable site economics</a:t>
            </a:r>
          </a:p>
        </p:txBody>
      </p:sp>
    </p:spTree>
    <p:extLst>
      <p:ext uri="{BB962C8B-B14F-4D97-AF65-F5344CB8AC3E}">
        <p14:creationId xmlns:p14="http://schemas.microsoft.com/office/powerpoint/2010/main" val="6063409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A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124">
            <a:extLst xmlns:a="http://schemas.openxmlformats.org/drawingml/2006/main">
              <a:ext uri="{FF2B5EF4-FFF2-40B4-BE49-F238E27FC236}">
                <a16:creationId xmlns:a16="http://schemas.microsoft.com/office/drawing/2014/main" id="{6C80DCAF-230E-4267-A10D-0EA0ACF4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10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Ubuntu"/>
                <a:ea typeface="Ubuntu"/>
                <a:cs typeface="Ubuntu"/>
              </a:defRPr>
            </a:pPr>
            <a:r>
              <a:rPr sz="3900" b="1">
                <a:solidFill>
                  <a:srgbClr val="FFFFFF"/>
                </a:solidFill>
                <a:latin typeface="Ubuntu"/>
                <a:ea typeface="Ubuntu"/>
                <a:cs typeface="Ubuntu"/>
              </a:rPr>
              <a:t>The €700k launch round</a:t>
            </a:r>
          </a:p>
        </p:txBody>
      </p:sp>
      <p:sp>
        <p:nvSpPr>
          <p:cNvPr id="2" name="text-125">
            <a:extLst xmlns:a="http://schemas.openxmlformats.org/drawingml/2006/main">
              <a:ext uri="{FF2B5EF4-FFF2-40B4-BE49-F238E27FC236}">
                <a16:creationId xmlns:a16="http://schemas.microsoft.com/office/drawing/2014/main" id="{D9D5FDF1-1669-4FD8-B2A6-E998B055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AD4D2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BAD4D2"/>
                </a:solidFill>
                <a:latin typeface="Ubuntu"/>
                <a:ea typeface="Ubuntu"/>
                <a:cs typeface="Ubuntu"/>
              </a:rPr>
              <a:t>Build the platform, hire the launch team and secure the commercial engine.</a:t>
            </a:r>
          </a:p>
        </p:txBody>
      </p:sp>
      <p:sp>
        <p:nvSpPr>
          <p:cNvPr id="3" name="text-126">
            <a:extLst xmlns:a="http://schemas.openxmlformats.org/drawingml/2006/main">
              <a:ext uri="{FF2B5EF4-FFF2-40B4-BE49-F238E27FC236}">
                <a16:creationId xmlns:a16="http://schemas.microsoft.com/office/drawing/2014/main" id="{6BCF9BCA-592B-496D-AA58-08BA56B8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AD4D2"/>
                </a:solidFill>
                <a:latin typeface="Ubuntu"/>
                <a:ea typeface="Ubuntu"/>
                <a:cs typeface="Ubuntu"/>
              </a:defRPr>
            </a:pPr>
            <a:r>
              <a:rPr sz="1125" b="0">
                <a:solidFill>
                  <a:srgbClr val="BAD4D2"/>
                </a:solidFill>
                <a:latin typeface="Ubuntu"/>
                <a:ea typeface="Ubuntu"/>
                <a:cs typeface="Ubuntu"/>
              </a:rPr>
              <a:t>ECOGRID RESORT · Confidential investor proposal · October 2026</a:t>
            </a:r>
          </a:p>
        </p:txBody>
      </p:sp>
      <p:sp>
        <p:nvSpPr>
          <p:cNvPr id="4" name="text-127">
            <a:extLst xmlns:a="http://schemas.openxmlformats.org/drawingml/2006/main">
              <a:ext uri="{FF2B5EF4-FFF2-40B4-BE49-F238E27FC236}">
                <a16:creationId xmlns:a16="http://schemas.microsoft.com/office/drawing/2014/main" id="{4C8A7256-A78D-4BDF-9F57-3E288B536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AD4D2"/>
                </a:solidFill>
                <a:latin typeface="Ubuntu"/>
                <a:ea typeface="Ubuntu"/>
                <a:cs typeface="Ubuntu"/>
              </a:defRPr>
            </a:pPr>
            <a:r>
              <a:rPr sz="1275" b="0">
                <a:solidFill>
                  <a:srgbClr val="BAD4D2"/>
                </a:solidFill>
                <a:latin typeface="Ubuntu"/>
                <a:ea typeface="Ubuntu"/>
                <a:cs typeface="Ubuntu"/>
              </a:rPr>
              <a:t>13</a:t>
            </a:r>
          </a:p>
        </p:txBody>
      </p:sp>
      <p:sp>
        <p:nvSpPr>
          <p:cNvPr id="5" name="text-128">
            <a:extLst xmlns:a="http://schemas.openxmlformats.org/drawingml/2006/main">
              <a:ext uri="{FF2B5EF4-FFF2-40B4-BE49-F238E27FC236}">
                <a16:creationId xmlns:a16="http://schemas.microsoft.com/office/drawing/2014/main" id="{F4525729-B056-4B7D-BF62-AB8F314F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071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AD4D2"/>
                </a:solidFill>
                <a:latin typeface="Ubuntu"/>
                <a:ea typeface="Ubuntu"/>
                <a:cs typeface="Ubuntu"/>
              </a:defRPr>
            </a:pPr>
            <a:r>
              <a:rPr sz="1200" b="0">
                <a:solidFill>
                  <a:srgbClr val="BAD4D2"/>
                </a:solidFill>
                <a:latin typeface="Ubuntu"/>
                <a:ea typeface="Ubuntu"/>
                <a:cs typeface="Ubuntu"/>
              </a:rPr>
              <a:t>Staged customer receipts fund delivery. Financed assets need separate capital. Valuation and investment terms remain open.</a:t>
            </a:r>
          </a:p>
        </p:txBody>
      </p:sp>
      <p:sp>
        <p:nvSpPr>
          <p:cNvPr id="6" name="text-129">
            <a:extLst xmlns:a="http://schemas.openxmlformats.org/drawingml/2006/main">
              <a:ext uri="{FF2B5EF4-FFF2-40B4-BE49-F238E27FC236}">
                <a16:creationId xmlns:a16="http://schemas.microsoft.com/office/drawing/2014/main" id="{212582BA-4FDA-4C86-B834-08AB9835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57500"/>
            <a:ext cx="4333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825" b="1">
                <a:solidFill>
                  <a:srgbClr val="81E2CF"/>
                </a:solidFill>
                <a:latin typeface="Ubuntu"/>
                <a:ea typeface="Ubuntu"/>
                <a:cs typeface="Ubuntu"/>
              </a:defRPr>
            </a:pPr>
            <a:r>
              <a:rPr sz="6825" b="1">
                <a:solidFill>
                  <a:srgbClr val="81E2CF"/>
                </a:solidFill>
                <a:latin typeface="Ubuntu"/>
                <a:ea typeface="Ubuntu"/>
                <a:cs typeface="Ubuntu"/>
              </a:rPr>
              <a:t>€700k</a:t>
            </a:r>
          </a:p>
        </p:txBody>
      </p:sp>
      <p:sp>
        <p:nvSpPr>
          <p:cNvPr id="7" name="text-130">
            <a:extLst xmlns:a="http://schemas.openxmlformats.org/drawingml/2006/main">
              <a:ext uri="{FF2B5EF4-FFF2-40B4-BE49-F238E27FC236}">
                <a16:creationId xmlns:a16="http://schemas.microsoft.com/office/drawing/2014/main" id="{A1E9D388-2824-4C9E-BC66-7D29C6AE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0052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Ubuntu"/>
                <a:ea typeface="Ubuntu"/>
                <a:cs typeface="Ubuntu"/>
              </a:defRPr>
            </a:pPr>
            <a:r>
              <a:rPr sz="2025" b="1">
                <a:solidFill>
                  <a:srgbClr val="FFFFFF"/>
                </a:solidFill>
                <a:latin typeface="Ubuntu"/>
                <a:ea typeface="Ubuntu"/>
                <a:cs typeface="Ubuntu"/>
              </a:rPr>
              <a:t>Proposed release gates</a:t>
            </a:r>
          </a:p>
        </p:txBody>
      </p:sp>
      <p:sp>
        <p:nvSpPr>
          <p:cNvPr id="8" name="text-131">
            <a:extLst xmlns:a="http://schemas.openxmlformats.org/drawingml/2006/main">
              <a:ext uri="{FF2B5EF4-FFF2-40B4-BE49-F238E27FC236}">
                <a16:creationId xmlns:a16="http://schemas.microsoft.com/office/drawing/2014/main" id="{BDFA5A97-A63A-4019-9772-C7935E7C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695825"/>
            <a:ext cx="45053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AD4D2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BAD4D2"/>
                </a:solidFill>
                <a:latin typeface="Ubuntu"/>
                <a:ea typeface="Ubuntu"/>
                <a:cs typeface="Ubuntu"/>
              </a:rPr>
              <a:t>Working wizard + cost model</a:t>
            </a:r>
          </a:p>
          <a:p xmlns:a="http://schemas.openxmlformats.org/drawingml/2006/main">
            <a:pPr>
              <a:defRPr sz="1650" b="0">
                <a:solidFill>
                  <a:srgbClr val="BAD4D2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BAD4D2"/>
                </a:solidFill>
                <a:latin typeface="Ubuntu"/>
                <a:ea typeface="Ubuntu"/>
                <a:cs typeface="Ubuntu"/>
              </a:rPr>
              <a:t>Validated partner rates and capacity</a:t>
            </a:r>
          </a:p>
          <a:p xmlns:a="http://schemas.openxmlformats.org/drawingml/2006/main">
            <a:pPr>
              <a:defRPr sz="1650" b="0">
                <a:solidFill>
                  <a:srgbClr val="BAD4D2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BAD4D2"/>
                </a:solidFill>
                <a:latin typeface="Ubuntu"/>
                <a:ea typeface="Ubuntu"/>
                <a:cs typeface="Ubuntu"/>
              </a:rPr>
              <a:t>Commissioned sites with measured savings</a:t>
            </a:r>
          </a:p>
        </p:txBody>
      </p:sp>
      <p:sp>
        <p:nvSpPr>
          <p:cNvPr id="9" name="text-132">
            <a:extLst xmlns:a="http://schemas.openxmlformats.org/drawingml/2006/main">
              <a:ext uri="{FF2B5EF4-FFF2-40B4-BE49-F238E27FC236}">
                <a16:creationId xmlns:a16="http://schemas.microsoft.com/office/drawing/2014/main" id="{85838411-C49E-4FAA-8009-CEDEC004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62250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Ubuntu"/>
                <a:ea typeface="Ubuntu"/>
                <a:cs typeface="Ubuntu"/>
              </a:defRPr>
            </a:pPr>
            <a:r>
              <a:rPr sz="1725" b="0">
                <a:solidFill>
                  <a:srgbClr val="FFFFFF"/>
                </a:solidFill>
                <a:latin typeface="Ubuntu"/>
                <a:ea typeface="Ubuntu"/>
                <a:cs typeface="Ubuntu"/>
              </a:rPr>
              <a:t>Software + integrations</a:t>
            </a:r>
          </a:p>
        </p:txBody>
      </p:sp>
      <p:sp>
        <p:nvSpPr>
          <p:cNvPr id="10" name="text-133">
            <a:extLst xmlns:a="http://schemas.openxmlformats.org/drawingml/2006/main">
              <a:ext uri="{FF2B5EF4-FFF2-40B4-BE49-F238E27FC236}">
                <a16:creationId xmlns:a16="http://schemas.microsoft.com/office/drawing/2014/main" id="{FBD3EEC2-B8AE-4AFA-9295-C5E4BBA9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762250"/>
            <a:ext cx="1209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81E2CF"/>
                </a:solidFill>
                <a:latin typeface="Ubuntu"/>
                <a:ea typeface="Ubuntu"/>
                <a:cs typeface="Ubuntu"/>
              </a:defRPr>
            </a:pPr>
            <a:r>
              <a:rPr sz="1950" b="1">
                <a:solidFill>
                  <a:srgbClr val="81E2CF"/>
                </a:solidFill>
                <a:latin typeface="Ubuntu"/>
                <a:ea typeface="Ubuntu"/>
                <a:cs typeface="Ubuntu"/>
              </a:rPr>
              <a:t>€250k</a:t>
            </a:r>
          </a:p>
        </p:txBody>
      </p:sp>
      <p:sp>
        <p:nvSpPr>
          <p:cNvPr id="11" name="text-134">
            <a:extLst xmlns:a="http://schemas.openxmlformats.org/drawingml/2006/main">
              <a:ext uri="{FF2B5EF4-FFF2-40B4-BE49-F238E27FC236}">
                <a16:creationId xmlns:a16="http://schemas.microsoft.com/office/drawing/2014/main" id="{C32281FE-0D61-470A-8F78-522664DF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24225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Ubuntu"/>
                <a:ea typeface="Ubuntu"/>
                <a:cs typeface="Ubuntu"/>
              </a:defRPr>
            </a:pPr>
            <a:r>
              <a:rPr sz="1725" b="0">
                <a:solidFill>
                  <a:srgbClr val="FFFFFF"/>
                </a:solidFill>
                <a:latin typeface="Ubuntu"/>
                <a:ea typeface="Ubuntu"/>
                <a:cs typeface="Ubuntu"/>
              </a:rPr>
              <a:t>Launch hires + grant capability</a:t>
            </a:r>
          </a:p>
        </p:txBody>
      </p:sp>
      <p:sp>
        <p:nvSpPr>
          <p:cNvPr id="12" name="text-135">
            <a:extLst xmlns:a="http://schemas.openxmlformats.org/drawingml/2006/main">
              <a:ext uri="{FF2B5EF4-FFF2-40B4-BE49-F238E27FC236}">
                <a16:creationId xmlns:a16="http://schemas.microsoft.com/office/drawing/2014/main" id="{CC2562AC-EADC-4D3B-B1F0-CF91A4E0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24225"/>
            <a:ext cx="1209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81E2CF"/>
                </a:solidFill>
                <a:latin typeface="Ubuntu"/>
                <a:ea typeface="Ubuntu"/>
                <a:cs typeface="Ubuntu"/>
              </a:defRPr>
            </a:pPr>
            <a:r>
              <a:rPr sz="1950" b="1">
                <a:solidFill>
                  <a:srgbClr val="81E2CF"/>
                </a:solidFill>
                <a:latin typeface="Ubuntu"/>
                <a:ea typeface="Ubuntu"/>
                <a:cs typeface="Ubuntu"/>
              </a:rPr>
              <a:t>€180k</a:t>
            </a:r>
          </a:p>
        </p:txBody>
      </p:sp>
      <p:sp>
        <p:nvSpPr>
          <p:cNvPr id="13" name="text-136">
            <a:extLst xmlns:a="http://schemas.openxmlformats.org/drawingml/2006/main">
              <a:ext uri="{FF2B5EF4-FFF2-40B4-BE49-F238E27FC236}">
                <a16:creationId xmlns:a16="http://schemas.microsoft.com/office/drawing/2014/main" id="{76D6B3F6-718A-4B40-B713-A164B5A2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886200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Ubuntu"/>
                <a:ea typeface="Ubuntu"/>
                <a:cs typeface="Ubuntu"/>
              </a:defRPr>
            </a:pPr>
            <a:r>
              <a:rPr sz="1725" b="0">
                <a:solidFill>
                  <a:srgbClr val="FFFFFF"/>
                </a:solidFill>
                <a:latin typeface="Ubuntu"/>
                <a:ea typeface="Ubuntu"/>
                <a:cs typeface="Ubuntu"/>
              </a:rPr>
              <a:t>Campaigns + commercial launch</a:t>
            </a:r>
          </a:p>
        </p:txBody>
      </p:sp>
      <p:sp>
        <p:nvSpPr>
          <p:cNvPr id="14" name="text-137">
            <a:extLst xmlns:a="http://schemas.openxmlformats.org/drawingml/2006/main">
              <a:ext uri="{FF2B5EF4-FFF2-40B4-BE49-F238E27FC236}">
                <a16:creationId xmlns:a16="http://schemas.microsoft.com/office/drawing/2014/main" id="{360BFEFA-208E-456E-BE4D-D250CC87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86200"/>
            <a:ext cx="1209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81E2CF"/>
                </a:solidFill>
                <a:latin typeface="Ubuntu"/>
                <a:ea typeface="Ubuntu"/>
                <a:cs typeface="Ubuntu"/>
              </a:defRPr>
            </a:pPr>
            <a:r>
              <a:rPr sz="1950" b="1">
                <a:solidFill>
                  <a:srgbClr val="81E2CF"/>
                </a:solidFill>
                <a:latin typeface="Ubuntu"/>
                <a:ea typeface="Ubuntu"/>
                <a:cs typeface="Ubuntu"/>
              </a:rPr>
              <a:t>€120k</a:t>
            </a:r>
          </a:p>
        </p:txBody>
      </p:sp>
      <p:sp>
        <p:nvSpPr>
          <p:cNvPr id="15" name="text-138">
            <a:extLst xmlns:a="http://schemas.openxmlformats.org/drawingml/2006/main">
              <a:ext uri="{FF2B5EF4-FFF2-40B4-BE49-F238E27FC236}">
                <a16:creationId xmlns:a16="http://schemas.microsoft.com/office/drawing/2014/main" id="{48DDC44D-E526-4F58-99A3-1914A01B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448175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Ubuntu"/>
                <a:ea typeface="Ubuntu"/>
                <a:cs typeface="Ubuntu"/>
              </a:defRPr>
            </a:pPr>
            <a:r>
              <a:rPr sz="1725" b="0">
                <a:solidFill>
                  <a:srgbClr val="FFFFFF"/>
                </a:solidFill>
                <a:latin typeface="Ubuntu"/>
                <a:ea typeface="Ubuntu"/>
                <a:cs typeface="Ubuntu"/>
              </a:rPr>
              <a:t>Working capital</a:t>
            </a:r>
          </a:p>
        </p:txBody>
      </p:sp>
      <p:sp>
        <p:nvSpPr>
          <p:cNvPr id="16" name="text-139">
            <a:extLst xmlns:a="http://schemas.openxmlformats.org/drawingml/2006/main">
              <a:ext uri="{FF2B5EF4-FFF2-40B4-BE49-F238E27FC236}">
                <a16:creationId xmlns:a16="http://schemas.microsoft.com/office/drawing/2014/main" id="{F5AE6EF3-D2D6-417B-A9CA-7AB86B47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48175"/>
            <a:ext cx="1209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81E2CF"/>
                </a:solidFill>
                <a:latin typeface="Ubuntu"/>
                <a:ea typeface="Ubuntu"/>
                <a:cs typeface="Ubuntu"/>
              </a:defRPr>
            </a:pPr>
            <a:r>
              <a:rPr sz="1950" b="1">
                <a:solidFill>
                  <a:srgbClr val="81E2CF"/>
                </a:solidFill>
                <a:latin typeface="Ubuntu"/>
                <a:ea typeface="Ubuntu"/>
                <a:cs typeface="Ubuntu"/>
              </a:rPr>
              <a:t>€100k</a:t>
            </a:r>
          </a:p>
        </p:txBody>
      </p:sp>
      <p:sp>
        <p:nvSpPr>
          <p:cNvPr id="17" name="text-140">
            <a:extLst xmlns:a="http://schemas.openxmlformats.org/drawingml/2006/main">
              <a:ext uri="{FF2B5EF4-FFF2-40B4-BE49-F238E27FC236}">
                <a16:creationId xmlns:a16="http://schemas.microsoft.com/office/drawing/2014/main" id="{ACEEEB51-9C99-40E3-8E3A-7862BC11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010150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Ubuntu"/>
                <a:ea typeface="Ubuntu"/>
                <a:cs typeface="Ubuntu"/>
              </a:defRPr>
            </a:pPr>
            <a:r>
              <a:rPr sz="1725" b="0">
                <a:solidFill>
                  <a:srgbClr val="FFFFFF"/>
                </a:solidFill>
                <a:latin typeface="Ubuntu"/>
                <a:ea typeface="Ubuntu"/>
                <a:cs typeface="Ubuntu"/>
              </a:rPr>
              <a:t>Contingency reserve</a:t>
            </a:r>
          </a:p>
        </p:txBody>
      </p:sp>
      <p:sp>
        <p:nvSpPr>
          <p:cNvPr id="18" name="text-141">
            <a:extLst xmlns:a="http://schemas.openxmlformats.org/drawingml/2006/main">
              <a:ext uri="{FF2B5EF4-FFF2-40B4-BE49-F238E27FC236}">
                <a16:creationId xmlns:a16="http://schemas.microsoft.com/office/drawing/2014/main" id="{ACEC1A48-147B-4899-9D50-6CDE7F8B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010150"/>
            <a:ext cx="1209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81E2CF"/>
                </a:solidFill>
                <a:latin typeface="Ubuntu"/>
                <a:ea typeface="Ubuntu"/>
                <a:cs typeface="Ubuntu"/>
              </a:defRPr>
            </a:pPr>
            <a:r>
              <a:rPr sz="1950" b="1">
                <a:solidFill>
                  <a:srgbClr val="81E2CF"/>
                </a:solidFill>
                <a:latin typeface="Ubuntu"/>
                <a:ea typeface="Ubuntu"/>
                <a:cs typeface="Ubuntu"/>
              </a:rPr>
              <a:t>€50k</a:t>
            </a:r>
          </a:p>
        </p:txBody>
      </p:sp>
    </p:spTree>
    <p:extLst>
      <p:ext uri="{BB962C8B-B14F-4D97-AF65-F5344CB8AC3E}">
        <p14:creationId xmlns:p14="http://schemas.microsoft.com/office/powerpoint/2010/main" val="151568261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42">
            <a:extLst xmlns:a="http://schemas.openxmlformats.org/drawingml/2006/main">
              <a:ext uri="{FF2B5EF4-FFF2-40B4-BE49-F238E27FC236}">
                <a16:creationId xmlns:a16="http://schemas.microsoft.com/office/drawing/2014/main" id="{E7B59F1E-6299-4F9F-A3E8-C5801E92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10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3900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Appendix: acquisition by facility profile</a:t>
            </a:r>
          </a:p>
        </p:txBody>
      </p:sp>
      <p:sp>
        <p:nvSpPr>
          <p:cNvPr id="2" name="text-143">
            <a:extLst xmlns:a="http://schemas.openxmlformats.org/drawingml/2006/main">
              <a:ext uri="{FF2B5EF4-FFF2-40B4-BE49-F238E27FC236}">
                <a16:creationId xmlns:a16="http://schemas.microsoft.com/office/drawing/2014/main" id="{58A7A04D-DCFD-4C4C-BA91-04F4EE377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New commissioned sites by year. Mix remains fixed in the growth-target scenario.</a:t>
            </a:r>
          </a:p>
        </p:txBody>
      </p:sp>
      <p:sp>
        <p:nvSpPr>
          <p:cNvPr id="3" name="text-144">
            <a:extLst xmlns:a="http://schemas.openxmlformats.org/drawingml/2006/main">
              <a:ext uri="{FF2B5EF4-FFF2-40B4-BE49-F238E27FC236}">
                <a16:creationId xmlns:a16="http://schemas.microsoft.com/office/drawing/2014/main" id="{C6244ABF-6742-48C6-97E2-AE1EF695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12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ECOGRID RESORT · Confidential investor proposal · October 2026</a:t>
            </a:r>
          </a:p>
        </p:txBody>
      </p:sp>
      <p:sp>
        <p:nvSpPr>
          <p:cNvPr id="4" name="text-145">
            <a:extLst xmlns:a="http://schemas.openxmlformats.org/drawingml/2006/main">
              <a:ext uri="{FF2B5EF4-FFF2-40B4-BE49-F238E27FC236}">
                <a16:creationId xmlns:a16="http://schemas.microsoft.com/office/drawing/2014/main" id="{49BCE6B4-5B90-45BC-B817-3D432FF7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27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14</a:t>
            </a:r>
          </a:p>
        </p:txBody>
      </p:sp>
      <p:sp>
        <p:nvSpPr>
          <p:cNvPr id="5" name="text-146">
            <a:extLst xmlns:a="http://schemas.openxmlformats.org/drawingml/2006/main">
              <a:ext uri="{FF2B5EF4-FFF2-40B4-BE49-F238E27FC236}">
                <a16:creationId xmlns:a16="http://schemas.microsoft.com/office/drawing/2014/main" id="{DFF676E9-07D6-438A-BBCE-91F3B2B6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071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2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Representative pitches: S 100 / M 250 / L 500. Star-specific loads are modelling assumptions.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04850" y="2600325"/>
          <a:ext xmlns:a="http://schemas.openxmlformats.org/drawingml/2006/main" cx="10782300" cy="31527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952750"/>
                <a:gridCol w="3000375"/>
                <a:gridCol w="1609725"/>
                <a:gridCol w="1609725"/>
                <a:gridCol w="1609725"/>
              </a:tblGrid>
              <a:tr h="28661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Ubuntu"/>
                          <a:ea typeface="Ubuntu"/>
                          <a:cs typeface="Ubuntu"/>
                        </a:rPr>
                        <a:t>Profile</a:t>
                      </a:r>
                    </a:p>
                  </a:txBody>
                  <a:tcPr marL="114300" marR="114300" marT="28575" marB="28575" anchor="ctr">
                    <a:solidFill>
                      <a:srgbClr val="1F7A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Ubuntu"/>
                          <a:ea typeface="Ubuntu"/>
                          <a:cs typeface="Ubuntu"/>
                        </a:rPr>
                        <a:t>Demand MWh / yr</a:t>
                      </a:r>
                    </a:p>
                  </a:txBody>
                  <a:tcPr marL="114300" marR="114300" marT="28575" marB="28575" anchor="ctr">
                    <a:solidFill>
                      <a:srgbClr val="1F7A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Ubuntu"/>
                          <a:ea typeface="Ubuntu"/>
                          <a:cs typeface="Ubuntu"/>
                        </a:rPr>
                        <a:t>2027</a:t>
                      </a:r>
                    </a:p>
                  </a:txBody>
                  <a:tcPr marL="114300" marR="114300" marT="28575" marB="28575" anchor="ctr">
                    <a:solidFill>
                      <a:srgbClr val="1F7A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Ubuntu"/>
                          <a:ea typeface="Ubuntu"/>
                          <a:cs typeface="Ubuntu"/>
                        </a:rPr>
                        <a:t>2028</a:t>
                      </a:r>
                    </a:p>
                  </a:txBody>
                  <a:tcPr marL="114300" marR="114300" marT="28575" marB="28575" anchor="ctr">
                    <a:solidFill>
                      <a:srgbClr val="1F7A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Ubuntu"/>
                          <a:ea typeface="Ubuntu"/>
                          <a:cs typeface="Ubuntu"/>
                        </a:rPr>
                        <a:t>2029</a:t>
                      </a:r>
                    </a:p>
                  </a:txBody>
                  <a:tcPr marL="114300" marR="114300" marT="28575" marB="28575" anchor="ctr">
                    <a:solidFill>
                      <a:srgbClr val="1F7A6D"/>
                    </a:solidFill>
                  </a:tcPr>
                </a:tc>
              </a:tr>
              <a:tr h="286616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3★ Small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75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1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3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6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  <a:tr h="286616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4★ Small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95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2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6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12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  <a:tr h="286616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5★ Small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130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1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3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6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  <a:tr h="286616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3★ Medium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330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2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6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12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  <a:tr h="286616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4★ Medium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445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5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15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30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  <a:tr h="286616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5★ Medium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600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4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12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24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  <a:tr h="286616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3★ Large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900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1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3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6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  <a:tr h="286616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4★ Large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1195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2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6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12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  <a:tr h="286616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5★ Large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1500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2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6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12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  <a:tr h="286616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Total new sites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/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20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60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120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340787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3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147">
            <a:extLst xmlns:a="http://schemas.openxmlformats.org/drawingml/2006/main">
              <a:ext uri="{FF2B5EF4-FFF2-40B4-BE49-F238E27FC236}">
                <a16:creationId xmlns:a16="http://schemas.microsoft.com/office/drawing/2014/main" id="{D1F2BCCC-663D-4FCB-AC19-687618F6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10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3900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Appendix: assumptions and package boundaries</a:t>
            </a:r>
          </a:p>
        </p:txBody>
      </p:sp>
      <p:sp>
        <p:nvSpPr>
          <p:cNvPr id="2" name="text-148">
            <a:extLst xmlns:a="http://schemas.openxmlformats.org/drawingml/2006/main">
              <a:ext uri="{FF2B5EF4-FFF2-40B4-BE49-F238E27FC236}">
                <a16:creationId xmlns:a16="http://schemas.microsoft.com/office/drawing/2014/main" id="{5AB1562F-8B2F-46DA-ABD8-1C3BEAD8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New solar-first economics are distinct from the earlier full-microgrid packages.</a:t>
            </a:r>
          </a:p>
        </p:txBody>
      </p:sp>
      <p:sp>
        <p:nvSpPr>
          <p:cNvPr id="3" name="text-149">
            <a:extLst xmlns:a="http://schemas.openxmlformats.org/drawingml/2006/main">
              <a:ext uri="{FF2B5EF4-FFF2-40B4-BE49-F238E27FC236}">
                <a16:creationId xmlns:a16="http://schemas.microsoft.com/office/drawing/2014/main" id="{0D91D55A-01BE-4998-8C49-E50288C6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12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ECOGRID RESORT · Confidential investor proposal · October 2026</a:t>
            </a:r>
          </a:p>
        </p:txBody>
      </p:sp>
      <p:sp>
        <p:nvSpPr>
          <p:cNvPr id="4" name="text-150">
            <a:extLst xmlns:a="http://schemas.openxmlformats.org/drawingml/2006/main">
              <a:ext uri="{FF2B5EF4-FFF2-40B4-BE49-F238E27FC236}">
                <a16:creationId xmlns:a16="http://schemas.microsoft.com/office/drawing/2014/main" id="{151DDEEE-479C-4C15-892F-0278284C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27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15</a:t>
            </a:r>
          </a:p>
        </p:txBody>
      </p:sp>
      <p:sp>
        <p:nvSpPr>
          <p:cNvPr id="5" name="text-151">
            <a:extLst xmlns:a="http://schemas.openxmlformats.org/drawingml/2006/main">
              <a:ext uri="{FF2B5EF4-FFF2-40B4-BE49-F238E27FC236}">
                <a16:creationId xmlns:a16="http://schemas.microsoft.com/office/drawing/2014/main" id="{C0512883-65D9-414F-97EF-147EDB22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071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2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No granted aid, export revenue, EV income or flexibility revenue. Simple payback is not IRR.</a:t>
            </a:r>
          </a:p>
        </p:txBody>
      </p:sp>
      <p:sp>
        <p:nvSpPr>
          <p:cNvPr id="6" name="text-152">
            <a:extLst xmlns:a="http://schemas.openxmlformats.org/drawingml/2006/main">
              <a:ext uri="{FF2B5EF4-FFF2-40B4-BE49-F238E27FC236}">
                <a16:creationId xmlns:a16="http://schemas.microsoft.com/office/drawing/2014/main" id="{33612D6C-31B1-4C9F-B5BA-8BED4D36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95575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7A6D"/>
                </a:solidFill>
                <a:latin typeface="Ubuntu"/>
                <a:ea typeface="Ubuntu"/>
                <a:cs typeface="Ubuntu"/>
              </a:defRPr>
            </a:pPr>
            <a:r>
              <a:rPr sz="2100" b="1">
                <a:solidFill>
                  <a:srgbClr val="1F7A6D"/>
                </a:solidFill>
                <a:latin typeface="Ubuntu"/>
                <a:ea typeface="Ubuntu"/>
                <a:cs typeface="Ubuntu"/>
              </a:rPr>
              <a:t>Documented planning inputs</a:t>
            </a:r>
          </a:p>
        </p:txBody>
      </p:sp>
      <p:sp>
        <p:nvSpPr>
          <p:cNvPr id="7" name="text-153">
            <a:extLst xmlns:a="http://schemas.openxmlformats.org/drawingml/2006/main">
              <a:ext uri="{FF2B5EF4-FFF2-40B4-BE49-F238E27FC236}">
                <a16:creationId xmlns:a16="http://schemas.microsoft.com/office/drawing/2014/main" id="{0275B37E-3C18-4290-B90E-5901E827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295650"/>
            <a:ext cx="51244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725" b="0">
                <a:solidFill>
                  <a:srgbClr val="112D35"/>
                </a:solidFill>
                <a:latin typeface="Ubuntu"/>
                <a:ea typeface="Ubuntu"/>
                <a:cs typeface="Ubuntu"/>
              </a:rPr>
              <a:t>S 50–150 / M 150–350 / L 350–700 pitches</a:t>
            </a:r>
          </a:p>
          <a:p xmlns:a="http://schemas.openxmlformats.org/drawingml/2006/main">
            <a:pPr>
              <a:defRPr sz="1725" b="0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725" b="0">
                <a:solidFill>
                  <a:srgbClr val="112D35"/>
                </a:solidFill>
                <a:latin typeface="Ubuntu"/>
                <a:ea typeface="Ubuntu"/>
                <a:cs typeface="Ubuntu"/>
              </a:rPr>
              <a:t>1,400 kWh/kWp Southern Europe reference</a:t>
            </a:r>
          </a:p>
          <a:p xmlns:a="http://schemas.openxmlformats.org/drawingml/2006/main">
            <a:pPr>
              <a:defRPr sz="1725" b="0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725" b="0">
                <a:solidFill>
                  <a:srgbClr val="112D35"/>
                </a:solidFill>
                <a:latin typeface="Ubuntu"/>
                <a:ea typeface="Ubuntu"/>
                <a:cs typeface="Ubuntu"/>
              </a:rPr>
              <a:t>35% target works gross margin</a:t>
            </a:r>
          </a:p>
          <a:p xmlns:a="http://schemas.openxmlformats.org/drawingml/2006/main">
            <a:pPr>
              <a:defRPr sz="1725" b="0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725" b="0">
                <a:solidFill>
                  <a:srgbClr val="112D35"/>
                </a:solidFill>
                <a:latin typeface="Ubuntu"/>
                <a:ea typeface="Ubuntu"/>
                <a:cs typeface="Ubuntu"/>
              </a:rPr>
              <a:t>€250k software CAPEX + €590k year-1 OPEX</a:t>
            </a:r>
          </a:p>
        </p:txBody>
      </p:sp>
      <p:sp>
        <p:nvSpPr>
          <p:cNvPr id="8" name="text-154">
            <a:extLst xmlns:a="http://schemas.openxmlformats.org/drawingml/2006/main">
              <a:ext uri="{FF2B5EF4-FFF2-40B4-BE49-F238E27FC236}">
                <a16:creationId xmlns:a16="http://schemas.microsoft.com/office/drawing/2014/main" id="{0A373E56-D000-40F2-A319-5D752CC1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38725"/>
            <a:ext cx="5105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5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Earlier full packages: S €0.20–0.35m,</a:t>
            </a:r>
          </a:p>
          <a:p xmlns:a="http://schemas.openxmlformats.org/drawingml/2006/main">
            <a:pPr>
              <a:defRPr sz="15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5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M €0.9–1.2m, L €2.1–2.7m, with larger</a:t>
            </a:r>
          </a:p>
          <a:p xmlns:a="http://schemas.openxmlformats.org/drawingml/2006/main">
            <a:pPr>
              <a:defRPr sz="15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5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batteries and EV equipment.</a:t>
            </a:r>
          </a:p>
        </p:txBody>
      </p:sp>
      <p:sp>
        <p:nvSpPr>
          <p:cNvPr id="9" name="text-155">
            <a:extLst xmlns:a="http://schemas.openxmlformats.org/drawingml/2006/main">
              <a:ext uri="{FF2B5EF4-FFF2-40B4-BE49-F238E27FC236}">
                <a16:creationId xmlns:a16="http://schemas.microsoft.com/office/drawing/2014/main" id="{2AD858DB-1502-4588-A7BF-EF0471BA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695575"/>
            <a:ext cx="500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7A6D"/>
                </a:solidFill>
                <a:latin typeface="Ubuntu"/>
                <a:ea typeface="Ubuntu"/>
                <a:cs typeface="Ubuntu"/>
              </a:defRPr>
            </a:pPr>
            <a:r>
              <a:rPr sz="2100" b="1">
                <a:solidFill>
                  <a:srgbClr val="1F7A6D"/>
                </a:solidFill>
                <a:latin typeface="Ubuntu"/>
                <a:ea typeface="Ubuntu"/>
                <a:cs typeface="Ubuntu"/>
              </a:rPr>
              <a:t>New budget hypotheses</a:t>
            </a:r>
          </a:p>
        </p:txBody>
      </p:sp>
      <p:sp>
        <p:nvSpPr>
          <p:cNvPr id="10" name="text-156">
            <a:extLst xmlns:a="http://schemas.openxmlformats.org/drawingml/2006/main">
              <a:ext uri="{FF2B5EF4-FFF2-40B4-BE49-F238E27FC236}">
                <a16:creationId xmlns:a16="http://schemas.microsoft.com/office/drawing/2014/main" id="{4A5630DD-E322-4D75-A29C-99F73D06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86125"/>
            <a:ext cx="5019675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725" b="0">
                <a:solidFill>
                  <a:srgbClr val="112D35"/>
                </a:solidFill>
                <a:latin typeface="Ubuntu"/>
                <a:ea typeface="Ubuntu"/>
                <a:cs typeface="Ubuntu"/>
              </a:rPr>
              <a:t>55% bill offset / 85% PV self-use</a:t>
            </a:r>
          </a:p>
          <a:p xmlns:a="http://schemas.openxmlformats.org/drawingml/2006/main">
            <a:pPr>
              <a:defRPr sz="1725" b="0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725" b="0">
                <a:solidFill>
                  <a:srgbClr val="112D35"/>
                </a:solidFill>
                <a:latin typeface="Ubuntu"/>
                <a:ea typeface="Ubuntu"/>
                <a:cs typeface="Ubuntu"/>
              </a:rPr>
              <a:t>€900/kWp PV / €300/kWh battery</a:t>
            </a:r>
          </a:p>
          <a:p xmlns:a="http://schemas.openxmlformats.org/drawingml/2006/main">
            <a:pPr>
              <a:defRPr sz="1725" b="0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725" b="0">
                <a:solidFill>
                  <a:srgbClr val="112D35"/>
                </a:solidFill>
                <a:latin typeface="Ubuntu"/>
                <a:ea typeface="Ubuntu"/>
                <a:cs typeface="Ubuntu"/>
              </a:rPr>
              <a:t>€180/m² carport / 10% contingency</a:t>
            </a:r>
          </a:p>
          <a:p xmlns:a="http://schemas.openxmlformats.org/drawingml/2006/main">
            <a:pPr>
              <a:defRPr sz="1725" b="0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725" b="0">
                <a:solidFill>
                  <a:srgbClr val="112D35"/>
                </a:solidFill>
                <a:latin typeface="Ubuntu"/>
                <a:ea typeface="Ubuntu"/>
                <a:cs typeface="Ubuntu"/>
              </a:rPr>
              <a:t>Limited M/L storage. No S battery.</a:t>
            </a:r>
          </a:p>
          <a:p xmlns:a="http://schemas.openxmlformats.org/drawingml/2006/main">
            <a:pPr>
              <a:defRPr sz="1725" b="0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725" b="0">
                <a:solidFill>
                  <a:srgbClr val="112D35"/>
                </a:solidFill>
                <a:latin typeface="Ubuntu"/>
                <a:ea typeface="Ubuntu"/>
                <a:cs typeface="Ubuntu"/>
              </a:rPr>
              <a:t>Software €2.5k / €4k / €5k per year</a:t>
            </a:r>
          </a:p>
          <a:p xmlns:a="http://schemas.openxmlformats.org/drawingml/2006/main">
            <a:pPr>
              <a:defRPr sz="1725" b="0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725" b="0">
                <a:solidFill>
                  <a:srgbClr val="112D35"/>
                </a:solidFill>
                <a:latin typeface="Ubuntu"/>
                <a:ea typeface="Ubuntu"/>
                <a:cs typeface="Ubuntu"/>
              </a:rPr>
              <a:t>Maintenance €2k / €4k / €8k per year</a:t>
            </a:r>
          </a:p>
        </p:txBody>
      </p:sp>
    </p:spTree>
    <p:extLst>
      <p:ext uri="{BB962C8B-B14F-4D97-AF65-F5344CB8AC3E}">
        <p14:creationId xmlns:p14="http://schemas.microsoft.com/office/powerpoint/2010/main" val="19700495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2026-10-04T17:16:26.9330000Z</dcterms:created>
  <dcterms:modified xsi:type="dcterms:W3CDTF">2026-10-04T17:16:26.9330000Z</dcterms:modified>
</coreProperties>
</file>