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9A"/>
              </a:solidFill>
              <a:effectLst/>
            </c:spPr>
          </c:dPt>
          <c:dPt>
            <c:idx val="1"/>
            <c:bubble3D val="0"/>
            <c:spPr>
              <a:solidFill>
                <a:srgbClr val="4CA66B"/>
              </a:solidFill>
              <a:effectLst/>
            </c:spPr>
          </c:dPt>
          <c:dPt>
            <c:idx val="2"/>
            <c:bubble3D val="0"/>
            <c:spPr>
              <a:solidFill>
                <a:srgbClr val="0E2A3B"/>
              </a:solidFill>
              <a:effectLst/>
            </c:spPr>
          </c:dPt>
          <c:dPt>
            <c:idx val="3"/>
            <c:bubble3D val="0"/>
            <c:spPr>
              <a:solidFill>
                <a:srgbClr val="E8A2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Solar self-consumption</c:v>
                </c:pt>
                <c:pt idx="1">
                  <c:v>Storage</c:v>
                </c:pt>
                <c:pt idx="2">
                  <c:v>Optimised grid</c:v>
                </c:pt>
                <c:pt idx="3">
                  <c:v>Backup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68</c:v>
                </c:pt>
                <c:pt idx="1">
                  <c:v>18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D3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840480"/>
            <a:ext cx="3657600" cy="3657600"/>
          </a:xfrm>
          <a:prstGeom prst="ellipse">
            <a:avLst/>
          </a:prstGeom>
          <a:solidFill>
            <a:srgbClr val="4CA66B">
              <a:alpha val="6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3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4944" y="17830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ECOGRID RESORT™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intelligent micro-grid for low-carbon holiday villages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3794760"/>
            <a:ext cx="2194560" cy="4572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production · battery storage · AI energy management · client app — built for outdoor tourism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document  ·  by the COREPROMA team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solar installer — an energy-services platform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6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 runs as the “operating system” of a resort: it orchestrates physical assets and on-site usage in real time to maximise solar self-consumption, cut grid peaks and protect guest comfort.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solar PV: carports, roofs, pergolas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idle surfaces into productive assets. Wind turbine (optional complement where available)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28416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28416" y="2286000"/>
            <a:ext cx="73152" cy="22860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9584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&amp; manage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MWh LFP batteries (V2G-ready): resilience, arbitrage &amp; local network feed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EMS forecasts and dispatches 24/7 — including wind &amp; V2G sources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9632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99632" y="2286000"/>
            <a:ext cx="73152" cy="228600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0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 &amp; charge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dispatch across pools, A/C, hot water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EV charge points — smart charging + V2G feedback to local network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0848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70848" y="2286000"/>
            <a:ext cx="73152" cy="2286000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72016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 &amp; measure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90304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app: EcoScore, real-time savings &amp; CO₂ tracker, EV booking, V2G rewards — personalised stay report at checkout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reporting for operator ESG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11247120" cy="566928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7548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software core scales across campings, villages, resorts and islands — standardised kits, site-specific hardware.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Southern-Europe outdoor tourism — and why now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301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310896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segment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322783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Campings, holiday villages, resorts &amp; eco-destinations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geographies: Spain, Italy, Corsica, Sardinia — ≈ 12,000 open-air sites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summer energy peaks, large solar-ready surfaces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36301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70248" y="1417320"/>
            <a:ext cx="73152" cy="310896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71416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 pain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1929384"/>
            <a:ext cx="322783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bills: A/C, pools, catering, hot water, lighting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limits &amp; connection constraints in tourist zones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now expect visible, measurable low-carbon proof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6301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83296" y="1417320"/>
            <a:ext cx="73152" cy="310896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84464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tailwind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1929384"/>
            <a:ext cx="322783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EPBD 2024/1275: solar-on-buildings roll-out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loi APER: solar mandatory on large car-parks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CSRD: sustainability reporting pushes operators to 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11247120" cy="713232"/>
          </a:xfrm>
          <a:prstGeom prst="rect">
            <a:avLst/>
          </a:prstGeom>
          <a:solidFill>
            <a:srgbClr val="F4F0E8"/>
          </a:solidFill>
          <a:ln w="15875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48006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energy-hungry, under-served — and increasingly obliged to decarbonise. The hard part is distribution; the COREPROMA ecosystem already reaches this exact segment.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GREEN &amp; AUTONOMOUS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operator actually gains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32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advantages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51297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predictable energy bills — hedge against price volatility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resilience &amp; continuity (critical on islands)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positioning &amp; loyalty with eco-conscious guests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asset value; ahead of regulation, not chasing it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subsidies and green financing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ESG data for chains, banks and investors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417320"/>
            <a:ext cx="73152" cy="32004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73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&amp; certifications within reach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1929384"/>
            <a:ext cx="51297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Key / La Clef Verte — tourism eco-label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Ecolabel for tourist accommodation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Travelife · Biosphere · Green Globe certifications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 (energy) &amp; ISO 14001 (environment)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of Origin for renewable electricity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(Bilan Carbone / ISO 14064)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864608"/>
            <a:ext cx="11247120" cy="658368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48646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 can productise label support and carbon reporting inside the SaaS — turning compliance into a recurring, high-margin service.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Marine de Caprone — Ghisonaccia, Corsica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371600"/>
            <a:ext cx="2706624" cy="82296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 M€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pilot CAPEX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28416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28416" y="1371600"/>
            <a:ext cx="2706624" cy="82296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19856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860 k€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38144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annual gains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9632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99632" y="1371600"/>
            <a:ext cx="2706624" cy="82296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91072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6–8 yrs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payback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70848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070848" y="1371600"/>
            <a:ext cx="2706624" cy="82296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62288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70–90%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80576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 (target)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27248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127248"/>
            <a:ext cx="73152" cy="22860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8368" y="325526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sizing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3639312"/>
            <a:ext cx="512978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MWc solar PV — long-term productive asset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MWh LFP storage — resilience + arbitrage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EV charge points — premium service + revenue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EMS 24/7 — optimisation &amp; reporting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127248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72200" y="3127248"/>
            <a:ext cx="73152" cy="22860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73368" y="32369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energy mix (high season)</a:t>
            </a:r>
            <a:endParaRPr lang="en-US" sz="14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263640" y="3611880"/>
          <a:ext cx="5349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457200" y="5541264"/>
            <a:ext cx="11247120" cy="868680"/>
          </a:xfrm>
          <a:prstGeom prst="rect">
            <a:avLst/>
          </a:prstGeom>
          <a:solidFill>
            <a:srgbClr val="FBF1DC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A5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Figures are an unaudited central scenario (per the investor dossier). They must be confirmed by an energy engineering study, supplier quotes and a detailed financial model.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asset + SaaS hybrid, not hardware sales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1517904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Build &amp; integrate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Studies, micro-grid design, engineering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supply, install &amp; commissioning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margin on every new site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417320"/>
            <a:ext cx="73152" cy="1517904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73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Recurring software &amp; O&amp;M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91656" y="1929384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licence: EMS, dashboards, ESG reporting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24/7 supervision, optimisation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High-margin, sticky recurring revenue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57200" y="3044952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044952"/>
            <a:ext cx="73152" cy="1517904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" y="3172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Energy value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6656" y="3557016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Self-consumption savings &amp; surplus resale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&amp; premium services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/ VPP services to the grid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172200" y="3044952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72200" y="3044952"/>
            <a:ext cx="73152" cy="1517904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73368" y="3172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Platform &amp; network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91656" y="3557016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Energy-as-a-Service (shared-savings)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&amp; ESG advisory, marketplace commissions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franchise / licence across Europe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57200" y="4736592"/>
            <a:ext cx="11247120" cy="621792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473659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maturity, enterprise value comes from the connected-site network and recurring revenue — not the panels.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INCENTIVES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realistically mobilisable — stated honestly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11247120" cy="786384"/>
          </a:xfrm>
          <a:prstGeom prst="rect">
            <a:avLst/>
          </a:prstGeom>
          <a:solidFill>
            <a:srgbClr val="FBF1DC"/>
          </a:solidFill>
          <a:ln w="15875">
            <a:solidFill>
              <a:srgbClr val="E8A23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1335024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8A5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truth: </a:t>
            </a:r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A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“EU solar grant” a private site can simply claim. Most CAPEX support is national/regional (often EU-co-financed); EU-direct funds are competitive. All amounts, windows and eligibility must be confirmed at application.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286000"/>
            <a:ext cx="73152" cy="2468880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" y="241401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EU-direct (competitive — not guaranteed)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" y="2798064"/>
            <a:ext cx="51297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Fund (EU-ETS, ≈€40bn 2020–30) — large-scale decarbonisation; fits the multi-site platform, not one camping. Competitive calls/auctions.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– Clean Energy Transition — co-funds market uptake &amp; coordination (modest).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Europe — R&amp;D&amp;I grants for the EMS/AI software (consortia).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InvestEU / EIB — green loans &amp; guarantees (debt, not grants).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72200" y="2286000"/>
            <a:ext cx="73152" cy="246888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73368" y="241401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/ regional (where CAPEX support sits)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91656" y="2798064"/>
            <a:ext cx="51297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/ Corsica: CRE tenders incl. island (ZNI) tenders — PV+storage strongly supported in non-interconnected zones; self-consumption premium (small systems); ADEME, France 2030, FEDER Corse.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Spain: NextGen/PRTR self-consumption aid via IDAE &amp; regions (largely committed — check residual windows); municipal IBI/ICIO rebates.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Italy: Transizione 5.0 tax credit (time-limited), Conto Termico, energy-community incentives via GSE.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regional ERDF/FEDER co-financing for SME renewables &amp; tourism.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11247120" cy="566928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48920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wedge: Corsica &amp; Sardinia are non-interconnected — PV+storage carries the strongest support and the highest resilience value. Start there.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57200" y="5504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5E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to verify: European Commission (Innovation Fund, LIFE, Horizon), CRE &amp; ADEME (FR), IDAE (ES), GSE &amp; MIMIT (IT).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Co-development &amp; co-investment — an open model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27432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investor — 3 profiles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3227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/ EPC: capital, build &amp; EPC margin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PV carports housing inverters &amp; batteries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(fund / VC): capital only, financial return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70248" y="1417320"/>
            <a:ext cx="73152" cy="27432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71416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COREPROMA / ECOGRID brings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1929384"/>
            <a:ext cx="3227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/ AI software core (the SaaS engine)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O&amp;M orchestration &amp; ESG reporting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 to the segment via COREPROMA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62102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83296" y="1417320"/>
            <a:ext cx="73152" cy="274320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84464" y="154533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1929384"/>
            <a:ext cx="321868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pilot risk &amp; milestone-based capital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capture grants &amp; green debt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 the replication pipeline &amp; roadmap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370832"/>
            <a:ext cx="11247120" cy="1051560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370832"/>
            <a:ext cx="91440" cy="105156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" y="4480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47548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profile: equity co-investment via asset SPVs (one per site or cluster) and/or industrial contribution (EPC, carports). Shared COREPROMA software core. Indicative pilot mix (5.7 M€): 1.4 M€ equity · 3.4 M€ green senior debt · 0.6 M€ grants · 0.3 M€ leasing.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I'd sharpen the plan before pitching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" y="1600200"/>
            <a:ext cx="384048" cy="38404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distribution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moat isn't panels — it's already reaching campings via COREPROMA. Distribution is the hardest part; put it on slide one.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62272" y="1600200"/>
            <a:ext cx="384048" cy="384048"/>
          </a:xfrm>
          <a:prstGeom prst="ellipse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6227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56048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on islands first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20756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Corsica &amp; Sardinia (ZNI): strongest support, highest resilience value, the most credible showcase.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02752" y="1600200"/>
            <a:ext cx="384048" cy="384048"/>
          </a:xfrm>
          <a:prstGeom prst="ellipse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0275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96528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regulation into a sales driver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20756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EPBD solar mandates, loi APER car-park solar, CSRD — operators will be forced to act. Arrive with the answer.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1792" y="3246120"/>
            <a:ext cx="384048" cy="384048"/>
          </a:xfrm>
          <a:prstGeom prst="ellipse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179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5568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Productise label + carbon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37216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Green Key/EU Ecolabel support, Guarantees of Origin and carbon reporting into the SaaS — recurring and sticky.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4297680" y="306324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62272" y="3246120"/>
            <a:ext cx="384048" cy="38404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6227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56048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De-risk the capital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80560" y="37216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tranches + an audited financial model before scaling. Your own dossier flags the numbers as non-audited.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138160" y="306324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302752" y="3246120"/>
            <a:ext cx="384048" cy="384048"/>
          </a:xfrm>
          <a:prstGeom prst="ellipse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30275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96528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for the network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21040" y="37216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value is the VPP/aggregation network. Lock data ownership &amp; the SaaS contract around that from day one.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572000" cy="4572000"/>
          </a:xfrm>
          <a:prstGeom prst="ellipse">
            <a:avLst/>
          </a:prstGeom>
          <a:solidFill>
            <a:srgbClr val="16A39A">
              <a:alpha val="8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Corsican showcase to European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920240"/>
            <a:ext cx="2157984" cy="64008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Studies, permits, grid, financing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008376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08376" y="1920240"/>
            <a:ext cx="2157984" cy="64008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99816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18104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pilot — Marine de Caprone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285232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285232" y="1920240"/>
            <a:ext cx="2157984" cy="64008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76672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94960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Operate, prove KPIs, first contracts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562088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562088" y="1920240"/>
            <a:ext cx="2157984" cy="64008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53528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2029–31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71816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Industrialise: FR · IT · ES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9838944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838944" y="1920240"/>
            <a:ext cx="2157984" cy="64008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930384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2032–35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948672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platform, 100+ sites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731520" y="3621024"/>
            <a:ext cx="6858000" cy="2240280"/>
          </a:xfrm>
          <a:prstGeom prst="rect">
            <a:avLst/>
          </a:prstGeom>
          <a:solidFill>
            <a:srgbClr val="16384E"/>
          </a:solidFill>
          <a:ln w="15875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31520" y="3621024"/>
            <a:ext cx="91440" cy="224028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9264" y="3767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 from an investor partner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206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Co-fund and co-build the Marine de Caprone pilot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JV structure, roles and margin split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target island (ZNI) tenders &amp; green debt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" y="5358384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i="1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audited financial model, energy site plan, supplier consultation and a JV term sheet.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863840" y="3621024"/>
            <a:ext cx="3566160" cy="224028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0100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ECOGRID RESORT™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028432" y="4754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energy system for low-carbon holiday villages.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" y="60533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ECOGRID RESORT - Ethical Solar</dc:title>
  <dc:subject>PptxGenJS Presentation</dc:subject>
  <dc:creator>COREPROMA</dc:creator>
  <cp:lastModifiedBy>COREPROMA</cp:lastModifiedBy>
  <cp:revision>1</cp:revision>
  <dcterms:created xsi:type="dcterms:W3CDTF">2026-05-31T16:55:29Z</dcterms:created>
  <dcterms:modified xsi:type="dcterms:W3CDTF">2026-05-31T16:55:29Z</dcterms:modified>
</cp:coreProperties>
</file>