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228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9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EB7-4E18-B191-31AD666C3520}"/>
              </c:ext>
            </c:extLst>
          </c:dPt>
          <c:dPt>
            <c:idx val="1"/>
            <c:bubble3D val="0"/>
            <c:spPr>
              <a:solidFill>
                <a:srgbClr val="4CA6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EB7-4E18-B191-31AD666C3520}"/>
              </c:ext>
            </c:extLst>
          </c:dPt>
          <c:dPt>
            <c:idx val="2"/>
            <c:bubble3D val="0"/>
            <c:spPr>
              <a:solidFill>
                <a:srgbClr val="0E2A3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EB7-4E18-B191-31AD666C3520}"/>
              </c:ext>
            </c:extLst>
          </c:dPt>
          <c:dPt>
            <c:idx val="3"/>
            <c:bubble3D val="0"/>
            <c:spPr>
              <a:solidFill>
                <a:srgbClr val="E8A23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EB7-4E18-B191-31AD666C352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EB7-4E18-B191-31AD666C352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EB7-4E18-B191-31AD666C352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EB7-4E18-B191-31AD666C352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EB7-4E18-B191-31AD666C352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Autoconsommation solaire</c:v>
                </c:pt>
                <c:pt idx="1">
                  <c:v>Stockage</c:v>
                </c:pt>
                <c:pt idx="2">
                  <c:v>Réseau optimisé</c:v>
                </c:pt>
                <c:pt idx="3">
                  <c:v>Secours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68</c:v>
                </c:pt>
                <c:pt idx="1">
                  <c:v>18</c:v>
                </c:pt>
                <c:pt idx="2">
                  <c:v>9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EB7-4E18-B191-31AD666C35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8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>
              <a:solidFill>
                <a:srgbClr val="1F2D36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85136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607040" y="3840480"/>
            <a:ext cx="3657600" cy="3657600"/>
          </a:xfrm>
          <a:prstGeom prst="ellipse">
            <a:avLst/>
          </a:prstGeom>
          <a:solidFill>
            <a:srgbClr val="4CA66B">
              <a:alpha val="6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63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DE CO-DÉVELOPPEMENT &amp; CO-INVESTISSEMENT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94944" y="178308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ECOGRID RESORT™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31520" y="292608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CFE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micro-réseau intelligent des villages vacances bas carbone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49808" y="3794760"/>
            <a:ext cx="2194560" cy="45720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31520" y="40233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FC4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solaire · stockage batterie · pilotage IA · application client — conçu pour le tourisme de plein air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5897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FA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confidentiel  ·  par l’équipe COREPROMA  ·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70432" y="384048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CONCEPT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70432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 un installateur solaire — une plateforme de services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457200" y="1335024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1638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 fonctionne comme le « système d'exploitation » du site : il orchestre en temps réel les actifs physiques et les usages pour maximiser l'autoconsommation solaire, réduire la pointe réseau et préserver le confort client.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2706624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57200" y="2286000"/>
            <a:ext cx="73152" cy="2286000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58368" y="2414016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Produire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76656" y="2798064"/>
            <a:ext cx="230428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Solaire sur site : ombrières, toitures, pergolas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 les surfaces inertes en actifs productifs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28416" y="2286000"/>
            <a:ext cx="2706624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3328416" y="2286000"/>
            <a:ext cx="73152" cy="2286000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3529584" y="2414016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Stocker &amp; piloter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47872" y="2798064"/>
            <a:ext cx="230428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Batteries LFP 4–8 MWh : résilience + arbitrage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EMS IA : prévisions et pilotage 24/7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99632" y="2286000"/>
            <a:ext cx="2706624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199632" y="2286000"/>
            <a:ext cx="73152" cy="2286000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00800" y="2414016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Distribuer &amp; recharger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19088" y="2798064"/>
            <a:ext cx="230428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Pilotage piscines, clim, eau chaude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30–50 bornes VE, recharge intelligente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070848" y="2286000"/>
            <a:ext cx="2706624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9070848" y="2286000"/>
            <a:ext cx="73152" cy="2286000"/>
          </a:xfrm>
          <a:prstGeom prst="rect">
            <a:avLst/>
          </a:prstGeom>
          <a:solidFill>
            <a:srgbClr val="0E8A8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9272016" y="2414016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Impliquer &amp; mesurer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290304" y="2798064"/>
            <a:ext cx="230428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client : EcoScore, réservation VE, récompenses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carbone pour l'ESG de l'exploitant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4754880"/>
            <a:ext cx="11247120" cy="566928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640080" y="475488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cœur logiciel identique se déploie sur campings, villages, resorts et îles — kits standardisés, équipements adaptés au site.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457200" y="654710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486400" y="65471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de co-développement &amp; co-investissement · Mai 2026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70432" y="384048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70432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Tourisme de plein air en Europe du Sud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630168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73152" cy="3108960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58368" y="1545336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Cible prioritaire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76656" y="1929384"/>
            <a:ext cx="3227832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Campings, villages vacances, resorts &amp; éco-destinations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Géographies prioritaires : Espagne, Italie, Corse, Sardaigne — ≈ 12 000 sites HPA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Forts pics estivaux, grandes surfaces solarisables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70248" y="1417320"/>
            <a:ext cx="3630168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270248" y="1417320"/>
            <a:ext cx="73152" cy="3108960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471416" y="1545336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douleur client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9704" y="1929384"/>
            <a:ext cx="3227832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Factures volatiles : clim, piscines, restauration, ECS, éclairage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Contraintes de réseau et de raccordement en zone touristique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clients attendent une preuve bas carbone visible et mesurable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83296" y="1417320"/>
            <a:ext cx="3630168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8083296" y="1417320"/>
            <a:ext cx="73152" cy="3108960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284464" y="1545336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Vent réglementaire favorable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02752" y="1929384"/>
            <a:ext cx="3227832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Directive EPBD 2024/1275 : déploiement du solaire bâti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Loi APER : solaire obligatoire sur les grands parkings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CSRD : le reporting durabilité pousse les exploitants à agir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800600"/>
            <a:ext cx="11247120" cy="713232"/>
          </a:xfrm>
          <a:prstGeom prst="rect">
            <a:avLst/>
          </a:prstGeom>
          <a:solidFill>
            <a:srgbClr val="F4F0E8"/>
          </a:solidFill>
          <a:ln w="15875">
            <a:solidFill>
              <a:srgbClr val="16A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58368" y="48006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b="1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maintenant : </a:t>
            </a:r>
            <a:r>
              <a:rPr lang="en-US" sz="11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Marché fragmenté, énergivore, mal servi — et de plus en plus contraint de décarboner. Le plus dur est la distribution ; l'écosystème COREPROMA touche déjà précisément ce segment.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57200" y="654710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486400" y="65471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de co-développement &amp; co-investissement · Mai 2026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70432" y="384048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DEVENIR VERT &amp; AUTONOME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70432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l'exploitant gagne réellement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53212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73152" cy="3200400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58368" y="1545336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Avantages business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76656" y="1929384"/>
            <a:ext cx="5129784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 énergétique plus basse et prévisible — couverture contre la volatilité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Résilience et continuité énergétique (critique en zone insulaire)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Positionnement premium et fidélité auprès des clients éco-responsables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d'actif accrue ; en avance sur la réglementation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aux subventions et au financement vert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ESG auditables pour chaînes, banques et investisseurs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72200" y="1417320"/>
            <a:ext cx="553212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6172200" y="1417320"/>
            <a:ext cx="73152" cy="3200400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373368" y="1545336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Labels &amp; certifications accessibles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91656" y="1929384"/>
            <a:ext cx="5129784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Clef Verte / Green Key — éco-label tourisme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Écolabel Européen pour l'hébergement touristique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 Travelife · Biosphere · Green Globe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50001 (énergie) &amp; ISO 14001 (environnement)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Garanties d'Origine pour l'électricité renouvelable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Empreinte carbone (Bilan Carbone / ISO 14064)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864608"/>
            <a:ext cx="11247120" cy="658368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58368" y="48646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i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 peut intégrer l'accompagnement aux labels et le reporting carbone dans le SaaS — la conformité devient un service récurrent à forte marge.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57200" y="654710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486400" y="65471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de co-développement &amp; co-investissement · Mai 2026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70432" y="384048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SITE PILOTE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70432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Marine de Caprone — Ghisonaccia, Corse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706624" cy="1517904"/>
          </a:xfrm>
          <a:prstGeom prst="rect">
            <a:avLst/>
          </a:prstGeom>
          <a:solidFill>
            <a:srgbClr val="0E2A3B"/>
          </a:solidFill>
          <a:ln/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2706624" cy="82296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48640" y="1627632"/>
            <a:ext cx="2523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5,7 M€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66928" y="2267712"/>
            <a:ext cx="248716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FC4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pilote indicatif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28416" y="1371600"/>
            <a:ext cx="2706624" cy="1517904"/>
          </a:xfrm>
          <a:prstGeom prst="rect">
            <a:avLst/>
          </a:prstGeom>
          <a:solidFill>
            <a:srgbClr val="0E2A3B"/>
          </a:solidFill>
          <a:ln/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3328416" y="1371600"/>
            <a:ext cx="2706624" cy="82296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419856" y="1627632"/>
            <a:ext cx="2523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860 k€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438144" y="2267712"/>
            <a:ext cx="248716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FC4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annuels cible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99632" y="1371600"/>
            <a:ext cx="2706624" cy="1517904"/>
          </a:xfrm>
          <a:prstGeom prst="rect">
            <a:avLst/>
          </a:prstGeom>
          <a:solidFill>
            <a:srgbClr val="0E2A3B"/>
          </a:solidFill>
          <a:ln/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6199632" y="1371600"/>
            <a:ext cx="2706624" cy="82296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6291072" y="1627632"/>
            <a:ext cx="2523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6–8 ans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309360" y="2267712"/>
            <a:ext cx="248716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FC4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indicatif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070848" y="1371600"/>
            <a:ext cx="2706624" cy="1517904"/>
          </a:xfrm>
          <a:prstGeom prst="rect">
            <a:avLst/>
          </a:prstGeom>
          <a:solidFill>
            <a:srgbClr val="0E2A3B"/>
          </a:solidFill>
          <a:ln/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9070848" y="1371600"/>
            <a:ext cx="2706624" cy="82296"/>
          </a:xfrm>
          <a:prstGeom prst="rect">
            <a:avLst/>
          </a:prstGeom>
          <a:solidFill>
            <a:srgbClr val="0E8A8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9162288" y="1627632"/>
            <a:ext cx="2523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70–90 %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9180576" y="2267712"/>
            <a:ext cx="248716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FC4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évité (cible)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127248"/>
            <a:ext cx="55321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457200" y="3127248"/>
            <a:ext cx="73152" cy="2286000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658368" y="3255264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Dimensionnement cible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76656" y="3639312"/>
            <a:ext cx="5129784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MWc solaire — actif productif long terme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 MWh stockage LFP — résilience + arbitrage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30–50 bornes VE — service premium + revenus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EMS IA 24/7 — optimisation &amp; reporting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72200" y="3127248"/>
            <a:ext cx="55321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6172200" y="3127248"/>
            <a:ext cx="73152" cy="2286000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373368" y="3236976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 énergétique cible (haute saison)</a:t>
            </a:r>
            <a:endParaRPr lang="en-US" sz="140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6263640" y="3611880"/>
          <a:ext cx="5349240" cy="1737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0" name="Text 27"/>
          <p:cNvSpPr/>
          <p:nvPr/>
        </p:nvSpPr>
        <p:spPr>
          <a:xfrm>
            <a:off x="457200" y="5541264"/>
            <a:ext cx="11247120" cy="868680"/>
          </a:xfrm>
          <a:prstGeom prst="rect">
            <a:avLst/>
          </a:prstGeom>
          <a:solidFill>
            <a:srgbClr val="FBF1DC"/>
          </a:solidFill>
          <a:ln/>
        </p:spPr>
        <p:txBody>
          <a:bodyPr wrap="square" lIns="76200" tIns="76200" rIns="76200" bIns="7620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8A5A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Chiffres = scénario central non audité (selon le dossier investisseur). À confirmer par étude d'ingénierie énergie, devis fournisseurs et modèle financier détaillé.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457200" y="654710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5486400" y="65471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de co-développement &amp; co-investissement · Mai 2026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70432" y="384048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DE REVENUS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70432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hybride actifs + SaaS, pas de la vente de matériel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53212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73152" cy="1517904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58368" y="1545336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Construire &amp; intégrer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76656" y="1929384"/>
            <a:ext cx="5129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Études, conception micro-réseau, ingénierie</a:t>
            </a:r>
            <a:endParaRPr lang="en-US" sz="96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Fourniture, installation &amp; mise en service</a:t>
            </a:r>
            <a:endParaRPr lang="en-US" sz="96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EPC sur chaque nouveau site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6172200" y="1417320"/>
            <a:ext cx="553212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6172200" y="1417320"/>
            <a:ext cx="73152" cy="1517904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373368" y="1545336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· Logiciel &amp; O&amp;M récurrents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391656" y="1929384"/>
            <a:ext cx="5129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SaaS : EMS, tableaux de bord, reporting ESG</a:t>
            </a:r>
            <a:endParaRPr lang="en-US" sz="96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Maintenance, supervision 24/7, optimisation</a:t>
            </a:r>
            <a:endParaRPr lang="en-US" sz="96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récurrents à forte marge, fidélisants</a:t>
            </a:r>
            <a:endParaRPr lang="en-US" sz="960" dirty="0"/>
          </a:p>
        </p:txBody>
      </p:sp>
      <p:sp>
        <p:nvSpPr>
          <p:cNvPr id="14" name="Shape 12"/>
          <p:cNvSpPr/>
          <p:nvPr/>
        </p:nvSpPr>
        <p:spPr>
          <a:xfrm>
            <a:off x="457200" y="3044952"/>
            <a:ext cx="553212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57200" y="3044952"/>
            <a:ext cx="73152" cy="1517904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658368" y="3172968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· Valeur énergétique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76656" y="3557016"/>
            <a:ext cx="5129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Économies d'autoconsommation &amp; revente de surplus</a:t>
            </a:r>
            <a:endParaRPr lang="en-US" sz="96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Recharge VE &amp; services premium</a:t>
            </a:r>
            <a:endParaRPr lang="en-US" sz="96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de flexibilité / centrale virtuelle (VPP)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172200" y="3044952"/>
            <a:ext cx="553212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172200" y="3044952"/>
            <a:ext cx="73152" cy="1517904"/>
          </a:xfrm>
          <a:prstGeom prst="rect">
            <a:avLst/>
          </a:prstGeom>
          <a:solidFill>
            <a:srgbClr val="0E8A8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373368" y="3172968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· Plateforme &amp; réseau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91656" y="3557016"/>
            <a:ext cx="5129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Energy-as-a-Service (partage d'économies)</a:t>
            </a:r>
            <a:endParaRPr lang="en-US" sz="96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Conseil carbone/ESG, commissions marketplace</a:t>
            </a:r>
            <a:endParaRPr lang="en-US" sz="96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Franchise / licence de marque en Europe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457200" y="4736592"/>
            <a:ext cx="11247120" cy="621792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58368" y="4736592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i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maturité, la valeur de l'entreprise vient du réseau de sites connectés et des revenus récurrents — pas des panneaux.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457200" y="654710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486400" y="65471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de co-développement &amp; co-investissement · Mai 2026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70432" y="384048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FINANCEMENT &amp; AIDES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70432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qui est réellement </a:t>
            </a:r>
            <a:r>
              <a:rPr lang="en-US" sz="2700" b="1" dirty="0" err="1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mobilisable</a:t>
            </a:r>
            <a:r>
              <a:rPr lang="en-US" sz="2700" b="1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335024"/>
            <a:ext cx="11247120" cy="786384"/>
          </a:xfrm>
          <a:prstGeom prst="rect">
            <a:avLst/>
          </a:prstGeom>
          <a:solidFill>
            <a:srgbClr val="FBF1DC"/>
          </a:solidFill>
          <a:ln w="15875">
            <a:solidFill>
              <a:srgbClr val="E8A2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58368" y="1335024"/>
            <a:ext cx="10881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30" b="1" dirty="0">
                <a:solidFill>
                  <a:srgbClr val="8A5A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Vérité : </a:t>
            </a:r>
            <a:r>
              <a:rPr lang="en-US" sz="1030" dirty="0">
                <a:solidFill>
                  <a:srgbClr val="5A43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n'existe pas de « subvention solaire européenne » qu'un site privé pourrait simplement réclamer. L'essentiel du soutien au CAPEX est national/régional (souvent cofinancé par l'UE) ; les fonds UE directs sont compétitifs. Montants, fenêtres et éligibilité à confirmer au dépôt.</a:t>
            </a:r>
            <a:endParaRPr lang="en-US" sz="1030" dirty="0"/>
          </a:p>
        </p:txBody>
      </p:sp>
      <p:sp>
        <p:nvSpPr>
          <p:cNvPr id="8" name="Shape 6"/>
          <p:cNvSpPr/>
          <p:nvPr/>
        </p:nvSpPr>
        <p:spPr>
          <a:xfrm>
            <a:off x="457200" y="2286000"/>
            <a:ext cx="55321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73152" cy="2468880"/>
          </a:xfrm>
          <a:prstGeom prst="rect">
            <a:avLst/>
          </a:prstGeom>
          <a:solidFill>
            <a:srgbClr val="0E8A8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58368" y="2414016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 directe (compétitif — non garanti)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76656" y="2798064"/>
            <a:ext cx="5129784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Fonds pour l'innovation (ETS-UE, ≈40 Md€ 2020–30) — décarbonation à grande échelle ; adapté à la plateforme multi-sites, pas à un camping isolé. Appels/enchères compétitifs.</a:t>
            </a:r>
            <a:endParaRPr lang="en-US" sz="9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– Transition énergétique propre — cofinance l'adoption &amp; la coordination (montants modestes).</a:t>
            </a:r>
            <a:endParaRPr lang="en-US" sz="9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Europe — subventions R&amp;D&amp;I pour le logiciel EMS/IA (consortiums).</a:t>
            </a:r>
            <a:endParaRPr lang="en-US" sz="9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InvestEU / BEI — prêts verts &amp; garanties (dette, pas subventions).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72200" y="2286000"/>
            <a:ext cx="55321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6172200" y="2286000"/>
            <a:ext cx="73152" cy="2468880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373368" y="2414016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National / régional (le vrai soutien au CAPEX)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91656" y="2798064"/>
            <a:ext cx="5129784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/ Corse : appels d'offres CRE dont ZNI insulaire — PV+stockage fortement soutenus en zone non interconnectée ; prime à l'autoconsommation (petits systèmes) ; ADEME, France 2030, FEDER Corse.</a:t>
            </a:r>
            <a:endParaRPr lang="en-US" sz="9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Espagne : aides autoconsommation NextGen/PRTR via IDAE &amp; régions (largement engagées — vérifier les fenêtres restantes) ; abattements municipaux IBI/ICIO.</a:t>
            </a:r>
            <a:endParaRPr lang="en-US" sz="9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Italie : crédit d'impôt Transizione 5.0 (durée limitée), Conto Termico, incitations communautés énergétiques via GSE.</a:t>
            </a:r>
            <a:endParaRPr lang="en-US" sz="9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Transversal : cofinancement régional FEDER pour renouvelables PME &amp; tourisme.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4892040"/>
            <a:ext cx="11247120" cy="566928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58368" y="489204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L'angle insulaire : Corse &amp; Sardaigne sont non interconnectées — le PV+stockage y bénéficie du soutien le plus fort et de la plus forte valeur de résilience. Commencer là.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457200" y="550468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i="1" dirty="0">
                <a:solidFill>
                  <a:srgbClr val="5E6F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à vérifier : Commission européenne (Fonds innovation, LIFE, Horizon), CRE &amp; ADEME (FR), IDAE (ES), GSE &amp; MIMIT (IT).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457200" y="654710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486400" y="65471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de co-développement &amp; co-investissement · Mai 2026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70432" y="384048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PROPOSITION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70432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Co-développement &amp; co-investissement — un modèle ouvert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630168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73152" cy="2743200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58368" y="1545336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L’investisseur — 3 profils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76656" y="1929384"/>
            <a:ext cx="3227832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Industriel / EPC : capital, installation &amp; marge EPC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: ombrières PV abritant onduleurs &amp; batteries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Financier (fonds / VC) : apport en capital, rendement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70248" y="1417320"/>
            <a:ext cx="3630168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270248" y="1417320"/>
            <a:ext cx="73152" cy="2743200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471416" y="1545336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COREPROMA / ECOGRID apporte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9704" y="1929384"/>
            <a:ext cx="3227832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Cœur logiciel EMS / IA (le moteur SaaS)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Marque, orchestration O&amp;M &amp; reporting ESG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au marché du segment via COREPROMA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83296" y="1417320"/>
            <a:ext cx="3621024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8083296" y="1417320"/>
            <a:ext cx="73152" cy="2743200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284464" y="1545336"/>
            <a:ext cx="3255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commun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02752" y="1929384"/>
            <a:ext cx="3218688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Partage du risque pilote &amp; capital par jalons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Captation conjointe des aides &amp; de la dette verte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réplication &amp; feuille de route co-détenus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4370832"/>
            <a:ext cx="11247120" cy="1051560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457200" y="4370832"/>
            <a:ext cx="91440" cy="1051560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13232" y="44805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3E0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13232" y="4754880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Selon le profil : co-investissement en fonds propres par SPV d’actifs (un par site ou grappe) et/ou apport industriel (EPC, ombrières). Cœur logiciel COREPROMA partagé. Mix indicatif du pilote (5,7 M€) : 1,4 M€ fonds propres · 3,4 M€ dette verte senior · 0,6 M€ aides · 0,3 M€ leasing.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457200" y="654710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486400" y="65471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de co-développement &amp; co-investissement · Mai 2026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70432" y="384048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RECOMMANDATIONS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70432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Où affûter le plan avant de pitcher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65760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21792" y="1600200"/>
            <a:ext cx="384048" cy="38404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21792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15568" y="15819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Mettre la distribution en avant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2075688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7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avantage n'est pas les panneaux — c'est l'accès déjà existant aux campings via COREPROMA. Le plus dur, c'est la distribution : à mettre en slide 1.</a:t>
            </a:r>
            <a:endParaRPr lang="en-US" sz="970" dirty="0"/>
          </a:p>
        </p:txBody>
      </p:sp>
      <p:sp>
        <p:nvSpPr>
          <p:cNvPr id="11" name="Shape 9"/>
          <p:cNvSpPr/>
          <p:nvPr/>
        </p:nvSpPr>
        <p:spPr>
          <a:xfrm>
            <a:off x="4297680" y="1417320"/>
            <a:ext cx="365760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462272" y="1600200"/>
            <a:ext cx="384048" cy="384048"/>
          </a:xfrm>
          <a:prstGeom prst="ellipse">
            <a:avLst/>
          </a:prstGeom>
          <a:solidFill>
            <a:srgbClr val="4CA66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462272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956048" y="15819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Gagner d'abord sur les îles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80560" y="2075688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7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Corse &amp; Sardaigne (ZNI) : soutien le plus fort, valeur de résilience maximale, vitrine la plus crédible.</a:t>
            </a:r>
            <a:endParaRPr lang="en-US" sz="970" dirty="0"/>
          </a:p>
        </p:txBody>
      </p:sp>
      <p:sp>
        <p:nvSpPr>
          <p:cNvPr id="16" name="Shape 14"/>
          <p:cNvSpPr/>
          <p:nvPr/>
        </p:nvSpPr>
        <p:spPr>
          <a:xfrm>
            <a:off x="8138160" y="1417320"/>
            <a:ext cx="365760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302752" y="1600200"/>
            <a:ext cx="384048" cy="384048"/>
          </a:xfrm>
          <a:prstGeom prst="ellipse">
            <a:avLst/>
          </a:prstGeom>
          <a:solidFill>
            <a:srgbClr val="E8A2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302752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796528" y="15819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Faire de la réglementation un moteur de vente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21040" y="2075688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7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Mandats solaires EPBD, loi APER parkings, CSRD — les exploitants devront agir. Arriver avec la réponse.</a:t>
            </a:r>
            <a:endParaRPr lang="en-US" sz="970" dirty="0"/>
          </a:p>
        </p:txBody>
      </p:sp>
      <p:sp>
        <p:nvSpPr>
          <p:cNvPr id="21" name="Shape 19"/>
          <p:cNvSpPr/>
          <p:nvPr/>
        </p:nvSpPr>
        <p:spPr>
          <a:xfrm>
            <a:off x="457200" y="3063240"/>
            <a:ext cx="365760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21792" y="3246120"/>
            <a:ext cx="384048" cy="384048"/>
          </a:xfrm>
          <a:prstGeom prst="ellipse">
            <a:avLst/>
          </a:prstGeom>
          <a:solidFill>
            <a:srgbClr val="0E8A8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21792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115568" y="32278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Productiser label + carbone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3721608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7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Intégrer l'accompagnement Clef Verte/Écolabel, les Garanties d'Origine et le reporting carbone au SaaS — récurrent et fidélisant.</a:t>
            </a:r>
            <a:endParaRPr lang="en-US" sz="970" dirty="0"/>
          </a:p>
        </p:txBody>
      </p:sp>
      <p:sp>
        <p:nvSpPr>
          <p:cNvPr id="26" name="Shape 24"/>
          <p:cNvSpPr/>
          <p:nvPr/>
        </p:nvSpPr>
        <p:spPr>
          <a:xfrm>
            <a:off x="4297680" y="3063240"/>
            <a:ext cx="365760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4462272" y="3246120"/>
            <a:ext cx="384048" cy="38404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4462272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956048" y="32278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Dé-risquer le capital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480560" y="3721608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7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Tranches par jalons + modèle financier audité avant le passage à l'échelle. Votre dossier signale lui-même des chiffres non audités.</a:t>
            </a:r>
            <a:endParaRPr lang="en-US" sz="970" dirty="0"/>
          </a:p>
        </p:txBody>
      </p:sp>
      <p:sp>
        <p:nvSpPr>
          <p:cNvPr id="31" name="Shape 29"/>
          <p:cNvSpPr/>
          <p:nvPr/>
        </p:nvSpPr>
        <p:spPr>
          <a:xfrm>
            <a:off x="8138160" y="3063240"/>
            <a:ext cx="365760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blurRad="88900" dist="38100" dir="8100000" algn="bl" rotWithShape="0">
              <a:srgbClr val="0E2A3B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8302752" y="3246120"/>
            <a:ext cx="384048" cy="384048"/>
          </a:xfrm>
          <a:prstGeom prst="ellipse">
            <a:avLst/>
          </a:prstGeom>
          <a:solidFill>
            <a:srgbClr val="4CA66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8302752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796528" y="32278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Concevoir pour le réseau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321040" y="3721608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7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valeur long terme est le réseau VPP/agrégation. Verrouiller la propriété des données &amp; le contrat SaaS autour dès le départ.</a:t>
            </a:r>
            <a:endParaRPr lang="en-US" sz="970" dirty="0"/>
          </a:p>
        </p:txBody>
      </p:sp>
      <p:sp>
        <p:nvSpPr>
          <p:cNvPr id="36" name="Shape 34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457200" y="654710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486400" y="65471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de co-développement &amp; co-investissement · Mai 2026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828800"/>
            <a:ext cx="4572000" cy="4572000"/>
          </a:xfrm>
          <a:prstGeom prst="ellipse">
            <a:avLst/>
          </a:prstGeom>
          <a:solidFill>
            <a:srgbClr val="16A39A">
              <a:alpha val="8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731520" y="4572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3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FEUILLE DE ROUTE &amp; LA DEMANDE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13232" y="749808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la vitrine corse à la plateforme européenne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2157984" cy="1371600"/>
          </a:xfrm>
          <a:prstGeom prst="rect">
            <a:avLst/>
          </a:prstGeom>
          <a:solidFill>
            <a:srgbClr val="16384E"/>
          </a:solidFill>
          <a:ln w="12700">
            <a:solidFill>
              <a:srgbClr val="16A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2157984" cy="64008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206654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3E0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2468880"/>
            <a:ext cx="19385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60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Études, permis, raccordement, financement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3008376" y="1920240"/>
            <a:ext cx="2157984" cy="1371600"/>
          </a:xfrm>
          <a:prstGeom prst="rect">
            <a:avLst/>
          </a:prstGeom>
          <a:solidFill>
            <a:srgbClr val="16384E"/>
          </a:solidFill>
          <a:ln w="12700">
            <a:solidFill>
              <a:srgbClr val="16A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3008376" y="1920240"/>
            <a:ext cx="2157984" cy="64008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099816" y="206654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3E0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2027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118104" y="2468880"/>
            <a:ext cx="19385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60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pilote — Marine de Caprone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5285232" y="1920240"/>
            <a:ext cx="2157984" cy="1371600"/>
          </a:xfrm>
          <a:prstGeom prst="rect">
            <a:avLst/>
          </a:prstGeom>
          <a:solidFill>
            <a:srgbClr val="16384E"/>
          </a:solidFill>
          <a:ln w="12700">
            <a:solidFill>
              <a:srgbClr val="16A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285232" y="1920240"/>
            <a:ext cx="2157984" cy="64008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376672" y="206654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3E0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2028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394960" y="2468880"/>
            <a:ext cx="19385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60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Exploitation, preuves KPI, premiers contrats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7562088" y="1920240"/>
            <a:ext cx="2157984" cy="1371600"/>
          </a:xfrm>
          <a:prstGeom prst="rect">
            <a:avLst/>
          </a:prstGeom>
          <a:solidFill>
            <a:srgbClr val="16384E"/>
          </a:solidFill>
          <a:ln w="12700">
            <a:solidFill>
              <a:srgbClr val="16A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7562088" y="1920240"/>
            <a:ext cx="2157984" cy="64008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7653528" y="206654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3E0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2029–31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671816" y="2468880"/>
            <a:ext cx="19385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60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Industrialisation : FR · IT · ES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9838944" y="1920240"/>
            <a:ext cx="2157984" cy="1371600"/>
          </a:xfrm>
          <a:prstGeom prst="rect">
            <a:avLst/>
          </a:prstGeom>
          <a:solidFill>
            <a:srgbClr val="16384E"/>
          </a:solidFill>
          <a:ln w="12700">
            <a:solidFill>
              <a:srgbClr val="16A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9838944" y="1920240"/>
            <a:ext cx="2157984" cy="64008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9930384" y="206654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3E0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2032–35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948672" y="2468880"/>
            <a:ext cx="19385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60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européenne, 100+ sites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731520" y="3621024"/>
            <a:ext cx="6858000" cy="2240280"/>
          </a:xfrm>
          <a:prstGeom prst="rect">
            <a:avLst/>
          </a:prstGeom>
          <a:solidFill>
            <a:srgbClr val="16384E"/>
          </a:solidFill>
          <a:ln w="15875">
            <a:solidFill>
              <a:srgbClr val="16A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731520" y="3621024"/>
            <a:ext cx="91440" cy="2240280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969264" y="37673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nous attendons d’un partenaire investisseur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05840" y="420624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DC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Co-financer et co-construire le pilote Marine de Caprone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DC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Convenir de la structure JV, des rôles et du partage de marge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DC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Cibler ensemble les appels d'offres insulaires (ZNI) &amp; la dette verte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69264" y="5358384"/>
            <a:ext cx="6446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60" i="1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 étape : modèle financier audité, plan masse énergétique, consultation fournisseurs et term sheet de JV.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7863840" y="3621024"/>
            <a:ext cx="3566160" cy="2240280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8001000" y="42062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ECOGRID RESORT™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8028432" y="475488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système énergétique intelligent des villages vacances bas carbone.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31520" y="605332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de co-développement &amp; co-investissement · Mai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1623</Words>
  <Application>Microsoft Office PowerPoint</Application>
  <PresentationFormat>Widescreen</PresentationFormat>
  <Paragraphs>198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ECOGRID RESORT - Ethical Solar</dc:title>
  <dc:subject>PptxGenJS Presentation</dc:subject>
  <dc:creator>COREPROMA</dc:creator>
  <cp:lastModifiedBy>Admin Magicbooking</cp:lastModifiedBy>
  <cp:revision>2</cp:revision>
  <dcterms:created xsi:type="dcterms:W3CDTF">2026-05-31T16:55:29Z</dcterms:created>
  <dcterms:modified xsi:type="dcterms:W3CDTF">2026-06-02T11:12:53Z</dcterms:modified>
</cp:coreProperties>
</file>