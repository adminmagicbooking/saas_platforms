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B7-4E18-B191-31AD666C3520}"/>
              </c:ext>
            </c:extLst>
          </c:dPt>
          <c:dPt>
            <c:idx val="1"/>
            <c:bubble3D val="0"/>
            <c:spPr>
              <a:solidFill>
                <a:srgbClr val="4CA6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B7-4E18-B191-31AD666C3520}"/>
              </c:ext>
            </c:extLst>
          </c:dPt>
          <c:dPt>
            <c:idx val="2"/>
            <c:bubble3D val="0"/>
            <c:spPr>
              <a:solidFill>
                <a:srgbClr val="0E2A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B7-4E18-B191-31AD666C3520}"/>
              </c:ext>
            </c:extLst>
          </c:dPt>
          <c:dPt>
            <c:idx val="3"/>
            <c:bubble3D val="0"/>
            <c:spPr>
              <a:solidFill>
                <a:srgbClr val="E8A2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B7-4E18-B191-31AD666C35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B7-4E18-B191-31AD666C35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B7-4E18-B191-31AD666C352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B7-4E18-B191-31AD666C352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B7-4E18-B191-31AD666C35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Autoconsommation solaire</c:v>
                </c:pt>
                <c:pt idx="1">
                  <c:v>Stockage</c:v>
                </c:pt>
                <c:pt idx="2">
                  <c:v>Réseau optimisé</c:v>
                </c:pt>
                <c:pt idx="3">
                  <c:v>Secours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18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B7-4E18-B191-31AD666C3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D3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51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3840480"/>
            <a:ext cx="3657600" cy="3657600"/>
          </a:xfrm>
          <a:prstGeom prst="ellipse">
            <a:avLst/>
          </a:prstGeom>
          <a:solidFill>
            <a:srgbClr val="4CA66B">
              <a:alpha val="6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micro-réseau intelligent des villages vacances bas carbone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794760"/>
            <a:ext cx="2194560" cy="4572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solaire · stockage batterie · pilotage IA · application client — conçu pour le tourisme de plein air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confidentiel  ·  par l’équipe COREPROMA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un installateur solaire — une plateforme de services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6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fonctionne comme le « système d'exploitation » du site : il orchestre en temps réel les actifs physiques et les usages pour maximiser l'autoconsommation solaire, réduire la pointe réseau et préserver le confort client.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58368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Produire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Solaire sur site : ombrières, toitures, pergolas. Éolienne (option, si disponible sur site)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les surfaces inertes en actifs productifs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8416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28416" y="2286000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29584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Stocker &amp; piloter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LFP 4–8 MWh, V2G-prêtes : résilience, arbitrage &amp; injection réseau local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IA : prévisions et pilotage 24/7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99632" y="2286000"/>
            <a:ext cx="73152" cy="22860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0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Distribuer &amp; recharger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piscines, clim, eau chaude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bornes VE — recharge intelligente + retour V2G réseau local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0848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070848" y="2286000"/>
            <a:ext cx="73152" cy="228600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72016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Impliquer &amp; mesurer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90304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vacancier : EcoScore, suivi économies &amp; CO₂ en temps réel, réservation VE, récompenses V2G — bilan personnalisé au départ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carbone pour l'ESG de l'exploitant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56692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cœur logiciel identique se déploie sur campings, villages, resorts et îles — kits standardisés, équipements adaptés au site.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Tourisme de plein air en Europe du Sud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 prioritaire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Campings, villages vacances, resorts &amp; éco-destinations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Géographies prioritaires : Espagne, Italie, Corse, Sardaigne — ≈ 12 000 sites HPA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 pics estivaux, grandes surfaces solarisables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31089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douleur 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volatiles : clim, piscines, restauration, ECS, éclairage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réseau et de raccordement en zone touristique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clients attendent une preuve bas carbone visible et mesurable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310896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 réglementaire favorable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EPBD 2024/1275 : déploiement du solaire bâti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APER : solaire obligatoire sur les grands parkings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: le reporting durabilité pousse les exploitants à agir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11247120" cy="713232"/>
          </a:xfrm>
          <a:prstGeom prst="rect">
            <a:avLst/>
          </a:prstGeom>
          <a:solidFill>
            <a:srgbClr val="F4F0E8"/>
          </a:solidFill>
          <a:ln w="15875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48006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maintenant : </a:t>
            </a: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fragmenté, énergivore, mal servi — et de plus en plus contraint de décarboner. Le plus dur est la distribution ; l'écosystème COREPROMA touche déjà précisément ce segment.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VERT &amp; AUTONOME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l'exploitant gagne réellement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Avantages business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énergétique plus basse et prévisible — couverture contre la volatilité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et continuité énergétique (critique en zone insulaire)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premium et fidélité auprès des clients éco-responsables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d'actif accrue ; en avance sur la réglementation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subventions et au financement vert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ESG auditables pour chaînes, banques et investisseurs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32004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&amp; certifications accessibles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Clef Verte / Green Key — éco-label tourisme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Écolabel Européen pour l'hébergement touristique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Travelife · Biosphere · Green Globe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 (énergie) &amp; ISO 14001 (environnement)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 d'Origine pour l'électricité renouvelable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carbone (Bilan Carbone / ISO 14064)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64608"/>
            <a:ext cx="11247120" cy="65836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" y="48646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peut intégrer l'accompagnement aux labels et le reporting carbone dans le SaaS — la conformité devient un service récurrent à forte marge.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PILOTE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Marine de Caprone — Ghisonaccia, Corse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706624" cy="82296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5,7 M€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pilote indicatif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28416" y="1371600"/>
            <a:ext cx="2706624" cy="82296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19856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860 k€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38144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annuels cible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2706624" cy="82296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91072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6–8 ans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indicatif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70848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070848" y="1371600"/>
            <a:ext cx="2706624" cy="82296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162288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70–90 %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0576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évité (cible)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57200" y="3127248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8368" y="325526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Dimensionnement cible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3639312"/>
            <a:ext cx="5129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MWc solaire — actif productif long terme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MWh stockage LFP — résilience + arbitrage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bornes VE — service premium + revenus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IA 24/7 — optimisation &amp; reporting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172200" y="3127248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373368" y="32369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 énergétique cible (haute saison)</a:t>
            </a:r>
            <a:endParaRPr lang="en-US" sz="14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263640" y="3611880"/>
          <a:ext cx="5349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5541264"/>
            <a:ext cx="11247120" cy="868680"/>
          </a:xfrm>
          <a:prstGeom prst="rect">
            <a:avLst/>
          </a:prstGeom>
          <a:solidFill>
            <a:srgbClr val="FBF1DC"/>
          </a:solidFill>
          <a:ln/>
        </p:spPr>
        <p:txBody>
          <a:bodyPr wrap="square" lIns="76200" tIns="76200" rIns="76200" bIns="762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Chiffres = scénario central non audité (selon le dossier investisseur). À confirmer par étude d'ingénierie énergie, devis fournisseurs et modèle financier détaillé.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REVENUS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hybride actifs + SaaS, pas de la vente de matériel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1517904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Construire &amp; intégrer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Études, conception micro-réseau, ingénierie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Fourniture, installation &amp; mise en service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EPC sur chaque nouveau site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1517904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Logiciel &amp; O&amp;M récurrents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SaaS : EMS, tableaux de bord, reporting ESG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supervision 24/7, optimisation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 à forte marge, fidélisants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3044952"/>
            <a:ext cx="73152" cy="1517904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8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Valeur énergétique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Économies d'autoconsommation &amp; revente de surplus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VE &amp; services premium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 flexibilité / centrale virtuelle (VPP)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172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72200" y="3044952"/>
            <a:ext cx="73152" cy="1517904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73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Plateforme &amp; réseau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91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Energy-as-a-Service (partage d'économies)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carbone/ESG, commissions marketplace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/ licence de marque en Europe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11247120" cy="621792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" y="473659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maturité, la valeur de l'entreprise vient du réseau de sites connectés et des revenus récurrents — pas des panneaux.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AIDES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est réellement </a:t>
            </a:r>
            <a:r>
              <a:rPr lang="en-US" sz="2700" b="1" dirty="0" err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mobilisable</a:t>
            </a:r>
            <a:r>
              <a:rPr lang="en-US" sz="2700" b="1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11247120" cy="786384"/>
          </a:xfrm>
          <a:prstGeom prst="rect">
            <a:avLst/>
          </a:prstGeom>
          <a:solidFill>
            <a:srgbClr val="FBF1DC"/>
          </a:solidFill>
          <a:ln w="15875">
            <a:solidFill>
              <a:srgbClr val="E8A2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Vérité : </a:t>
            </a:r>
            <a:r>
              <a:rPr lang="en-US" sz="103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de « subvention solaire européenne » qu'un site privé pourrait simplement réclamer. L'essentiel du soutien au CAPEX est national/régional (souvent cofinancé par l'UE) ; les fonds UE directs sont compétitifs. Montants, fenêtres et éligibilité à confirmer au dépôt.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246888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 directe (compétitif — non garanti)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pour l'innovation (ETS-UE, ≈40 Md€ 2020–30) — décarbonation à grande échelle ; adapté à la plateforme multi-sites, pas à un camping isolé. Appels/enchères compétitifs.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– Transition énergétique propre — cofinance l'adoption &amp; la coordination (montants modestes).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Europe — subventions R&amp;D&amp;I pour le logiciel EMS/IA (consortiums).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InvestEU / BEI — prêts verts &amp; garanties (dette, pas subventions).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172200" y="2286000"/>
            <a:ext cx="73152" cy="24688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73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/ régional (le vrai soutien au CAPEX)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91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/ Corse : appels d'offres CRE dont ZNI insulaire — PV+stockage fortement soutenus en zone non interconnectée ; prime à l'autoconsommation (petits systèmes) ; ADEME, France 2030, FEDER Corse.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Espagne : aides autoconsommation NextGen/PRTR via IDAE &amp; régions (largement engagées — vérifier les fenêtres restantes) ; abattements municipaux IBI/ICIO.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Italie : crédit d'impôt Transizione 5.0 (durée limitée), Conto Termico, incitations communautés énergétiques via GSE.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: cofinancement régional FEDER pour renouvelables PME &amp; tourisme.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47120" cy="56692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" y="4892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insulaire : Corse &amp; Sardaigne sont non interconnectées — le PV+stockage y bénéficie du soutien le plus fort et de la plus forte valeur de résilience. Commencer là.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57200" y="5504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5E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à vérifier : Commission européenne (Fonds innovation, LIFE, Horizon), CRE &amp; ADEME (FR), IDAE (ES), GSE &amp; MIMIT (IT).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Co-développement &amp; co-investissement — un modèle ouvert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27432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L’investisseur — 3 profils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 / EPC : capital, installation &amp; marge EPC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: ombrières PV abritant onduleurs &amp; batteries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 (fonds / VC) : apport en capital, rendement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27432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COREPROMA / ECOGRID apporte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logiciel EMS / IA (le moteur SaaS)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orchestration O&amp;M &amp; reporting ESG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marché du segment via COREPROMA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210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27432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commun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186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du risque pilote &amp; capital par jalons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Captation conjointe des aides &amp; de la dette verte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réplication &amp; feuille de route co-détenus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1247120" cy="1051560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4370832"/>
            <a:ext cx="91440" cy="10515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13232" y="4480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7548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profil : co-investissement en fonds propres par SPV d’actifs (un par site ou grappe) et/ou apport industriel (EPC, ombrières). Cœur logiciel COREPROMA partagé. Mix indicatif du pilote (5,7 M€) : 1,4 M€ fonds propres · 3,4 M€ dette verte senior · 0,6 M€ aides · 0,3 M€ leasing.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RECOMMANDATIONS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Où affûter le plan avant de pitcher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17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Mettre la distribution en avant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avantage n'est pas les panneaux — c'est l'accès déjà existant aux campings via COREPROMA. Le plus dur, c'est la distribution : à mettre en slide 1.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62272" y="160020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6227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604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Gagner d'abord sur les îles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Corse &amp; Sardaigne (ZNI) : soutien le plus fort, valeur de résilience maximale, vitrine la plus crédible.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0275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652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 de la réglementation un moteur de vente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Mandats solaires EPBD, loi APER parkings, CSRD — les exploitants devront agir. Arriver avec la réponse.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" y="3246120"/>
            <a:ext cx="384048" cy="384048"/>
          </a:xfrm>
          <a:prstGeom prst="ellipse">
            <a:avLst/>
          </a:prstGeom>
          <a:solidFill>
            <a:srgbClr val="0E8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Productiser label + carbone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l'accompagnement Clef Verte/Écolabel, les Garanties d'Origine et le reporting carbone au SaaS — récurrent et fidélisant.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462272" y="324612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46227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5604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Dé-risquer le capital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8056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par jalons + modèle financier audité avant le passage à l'échelle. Votre dossier signale lui-même des chiffres non audités.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blurRad="88900" dist="38100" dir="8100000" algn="bl" rotWithShape="0">
              <a:srgbClr val="0E2A3B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302752" y="324612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302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9652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Concevoir pour le réseau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long terme est le réseau VPP/agrégation. Verrouiller la propriété des données &amp; le contrat SaaS autour dès le départ.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16A39A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&amp; LA DEMANDE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vitrine corse à la plateforme européenne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Études, permis, raccordement, financement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008376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008376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099816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18104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pilote — Marine de Caprone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285232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285232" y="1920240"/>
            <a:ext cx="2157984" cy="64008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76672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Exploitation, preuves KPI, premiers contrats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562088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562088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653528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2029–31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1816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Industrialisation : FR · IT · 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838944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838944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930384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2032–35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48672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européenne, 100+ sites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31520" y="3621024"/>
            <a:ext cx="6858000" cy="2240280"/>
          </a:xfrm>
          <a:prstGeom prst="rect">
            <a:avLst/>
          </a:prstGeom>
          <a:solidFill>
            <a:srgbClr val="16384E"/>
          </a:solidFill>
          <a:ln w="15875">
            <a:solidFill>
              <a:srgbClr val="16A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31520" y="3621024"/>
            <a:ext cx="91440" cy="224028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69264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attendons d’un partenaire investisseur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206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Co-financer et co-construire le pilote Marine de Caprone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Convenir de la structure JV, des rôles et du partage de marge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ensemble les appels d'offres insulaires (ZNI) &amp; la dette verte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5358384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60" i="1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modèle financier audité, plan masse énergétique, consultation fournisseurs et term sheet de JV.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0" y="3621024"/>
            <a:ext cx="3566160" cy="224028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00100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028432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énergétique intelligent des villages vacances bas carbone.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co-développement &amp; co-investissement · Mai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1623</Words>
  <Application>Microsoft Office PowerPoint</Application>
  <PresentationFormat>Widescreen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Ethical Solar</dc:title>
  <dc:subject>PptxGenJS Presentation</dc:subject>
  <dc:creator>COREPROMA</dc:creator>
  <cp:lastModifiedBy>Admin Magicbooking</cp:lastModifiedBy>
  <cp:revision>2</cp:revision>
  <dcterms:created xsi:type="dcterms:W3CDTF">2026-05-31T16:55:29Z</dcterms:created>
  <dcterms:modified xsi:type="dcterms:W3CDTF">2026-06-02T11:12:53Z</dcterms:modified>
</cp:coreProperties>
</file>