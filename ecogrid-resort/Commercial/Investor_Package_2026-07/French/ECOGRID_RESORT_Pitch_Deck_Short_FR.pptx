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total (M€)</c:v>
                </c:pt>
              </c:strCache>
            </c:strRef>
          </c:tx>
          <c:spPr>
            <a:solidFill>
              <a:srgbClr val="163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4.56</c:v>
                </c:pt>
                <c:pt idx="1">
                  <c:v>12.22</c:v>
                </c:pt>
                <c:pt idx="2">
                  <c:v>24.54</c:v>
                </c:pt>
                <c:pt idx="3">
                  <c:v>46.14</c:v>
                </c:pt>
                <c:pt idx="4">
                  <c:v>77.14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 brute (M€)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1.62</c:v>
                </c:pt>
                <c:pt idx="1">
                  <c:v>4.35</c:v>
                </c:pt>
                <c:pt idx="2">
                  <c:v>8.78</c:v>
                </c:pt>
                <c:pt idx="3">
                  <c:v>16.55</c:v>
                </c:pt>
                <c:pt idx="4">
                  <c:v>27.75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E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745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5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3375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Smart Grid conçu pour les campings et villages vacances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Produisez, stockez, pilotez… et réduisez durablement vos coûts énergétiques.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6245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3193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995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8" name="Text 16"/>
          <p:cNvSpPr/>
          <p:nvPr/>
        </p:nvSpPr>
        <p:spPr>
          <a:xfrm>
            <a:off x="899769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Investisseurs — Synthèse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 •  Juillet 2026  •  Document Confidentiel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Factures d'électricité en forte hausse.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420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rapide des infrastructures de recharge (IRVE).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5526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Consommations lourdes : piscines, restaurants, hébergements.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41648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684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environnementales et réglementaires croissantes.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817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énergétiques difficiles à orchestrer — tous en silos.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opportunité : passer d'une logique d'équipements à une logique de système d'exploitation énergétique.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RÉPONSE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ECOGRID RESORT™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intégrée qui transforme chaque établissement en micro-réseau énergétique intelligent.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Photovoltaïque, ombrières, autoconsommation.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48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4" name="Text 12"/>
          <p:cNvSpPr/>
          <p:nvPr/>
        </p:nvSpPr>
        <p:spPr>
          <a:xfrm>
            <a:off x="42748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611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 pilotées selon production et priorités.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180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9" name="Text 17"/>
          <p:cNvSpPr/>
          <p:nvPr/>
        </p:nvSpPr>
        <p:spPr>
          <a:xfrm>
            <a:off x="70180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Piscines, pompes, CVC, éclairage, bornes VE.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7824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612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4" name="Text 22"/>
          <p:cNvSpPr/>
          <p:nvPr/>
        </p:nvSpPr>
        <p:spPr>
          <a:xfrm>
            <a:off x="97612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154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0" y="3611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Algorithmes, maintenance prédictive, ESG.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converge vers </a:t>
            </a:r>
            <a:pPr algn="ctr" indent="0" marL="0">
              <a:buNone/>
            </a:pPr>
            <a:r>
              <a:rPr lang="en-US" sz="1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supervision &amp; optimisation temps réel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 de marché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Nombre de campings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France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≈ 8 100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Italie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≈ 2 300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Espagne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≈ 1 200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Europe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B36"/>
                          </a:solidFill>
                        </a:rPr>
                        <a:t>≈ 22 800 à 23 200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7373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1847088"/>
            <a:ext cx="22860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≈23 000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17920" y="2814523"/>
            <a:ext cx="22860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en Europe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0" y="17373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69680" y="1847088"/>
            <a:ext cx="22860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69680" y="2814523"/>
            <a:ext cx="22860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2031 (≈2,3%)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31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France constitue le premier marché européen, suivie de l'Italie et de l'Espagne. Les établissements haut de gamme, multi-services et fortement consommateurs d'énergie forment le cœur de cible.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 — trois moteurs de revenus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&amp; Travaux Smart Grid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300 000 € HT / site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marge brute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3 000 € HT / site / 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récurrent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 &amp; Maintenance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1 000 € HT / site / an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0" y="3703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Fidélisation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: Travaux 45% T1 / 5% T2 / 5% T3 / 45% T4 — Logiciel &amp; Maintenance lissés sur l'année.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— Camping Riva Bella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Démonstrateur officiel technique et commercial (2027)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12848"/>
            <a:ext cx="31089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80283"/>
            <a:ext cx="3108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Emplacements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21031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212848"/>
            <a:ext cx="31089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80 000 €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51960" y="3180283"/>
            <a:ext cx="3108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Dépense énergétique/an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210312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2212848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72400" y="3180283"/>
            <a:ext cx="3657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Smart Grid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 Bella permettra de valider en conditions réelles le fonctionnement du Smart Grid, de tester ECOGRID OS™ et de créer une référence commerciale pour accélérer les déploiements suivants.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d'affaires 2027-2031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de financement &amp; utilisation des fonds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01368"/>
            <a:ext cx="32004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768803"/>
            <a:ext cx="3200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Amorçage 2027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801368"/>
            <a:ext cx="32004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M€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2768803"/>
            <a:ext cx="3200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Accélération 2028-2029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16916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801368"/>
            <a:ext cx="35661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 / Fonds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2768803"/>
            <a:ext cx="3566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2030-2031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881360" cy="914400"/>
        </p:xfrm>
        <a:graphic>
          <a:graphicData uri="http://schemas.openxmlformats.org/drawingml/2006/table">
            <a:tbl>
              <a:tblPr/>
              <a:tblGrid>
                <a:gridCol w="813816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Développement logiciel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Recrutement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Développement commercial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BFR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Infrastructure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Communication &amp; 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E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2031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connectés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77,14 M€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76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annuel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 M€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brute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 M€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récurrents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2976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≈2,3%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de marché EU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4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transition énergétique de l'hôtellerie de plein air.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 : 04 84 80 22 22    •    Email : contact@ecogrid-resort.com    •    Web : www.ecogrid-resort.com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— Juillet 2026 — Document Confidentiel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Pitch Deck Court FR</dc:title>
  <dc:subject>PptxGenJS Presentation</dc:subject>
  <dc:creator>Performance ENR</dc:creator>
  <cp:lastModifiedBy>Performance ENR</cp:lastModifiedBy>
  <cp:revision>1</cp:revision>
  <dcterms:created xsi:type="dcterms:W3CDTF">2026-07-06T07:15:10Z</dcterms:created>
  <dcterms:modified xsi:type="dcterms:W3CDTF">2026-07-06T07:15:10Z</dcterms:modified>
</cp:coreProperties>
</file>