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Sites cumulés</c:v>
                </c:pt>
              </c:strCache>
            </c:strRef>
          </c:tx>
          <c:spPr>
            <a:solidFill>
              <a:srgbClr val="2E8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55</c:v>
                </c:pt>
                <c:pt idx="2">
                  <c:v>135</c:v>
                </c:pt>
                <c:pt idx="3">
                  <c:v>285</c:v>
                </c:pt>
                <c:pt idx="4">
                  <c:v>535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total (M€)</c:v>
                </c:pt>
              </c:strCache>
            </c:strRef>
          </c:tx>
          <c:spPr>
            <a:solidFill>
              <a:srgbClr val="163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4.56</c:v>
                </c:pt>
                <c:pt idx="1">
                  <c:v>12.22</c:v>
                </c:pt>
                <c:pt idx="2">
                  <c:v>24.54</c:v>
                </c:pt>
                <c:pt idx="3">
                  <c:v>46.14</c:v>
                </c:pt>
                <c:pt idx="4">
                  <c:v>77.14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 brute (M€)</c:v>
                </c:pt>
              </c:strCache>
            </c:strRef>
          </c:tx>
          <c:spPr>
            <a:solidFill>
              <a:srgbClr val="2E8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1.62</c:v>
                </c:pt>
                <c:pt idx="1">
                  <c:v>4.35</c:v>
                </c:pt>
                <c:pt idx="2">
                  <c:v>8.78</c:v>
                </c:pt>
                <c:pt idx="3">
                  <c:v>16.55</c:v>
                </c:pt>
                <c:pt idx="4">
                  <c:v>27.75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7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6E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745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54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DC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3375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Smart Grid conçu pour les campings et villages vacances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Produisez, stockez, pilotez… et réduisez durablement vos coûts énergétiques.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6245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9" name="Text 7"/>
          <p:cNvSpPr/>
          <p:nvPr/>
        </p:nvSpPr>
        <p:spPr>
          <a:xfrm>
            <a:off x="172821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8561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12" name="Text 10"/>
          <p:cNvSpPr/>
          <p:nvPr/>
        </p:nvSpPr>
        <p:spPr>
          <a:xfrm>
            <a:off x="415137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31936" y="4526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59952" y="4681728"/>
            <a:ext cx="146304" cy="146304"/>
          </a:xfrm>
          <a:prstGeom prst="ellipse">
            <a:avLst/>
          </a:prstGeom>
          <a:solidFill>
            <a:srgbClr val="8FE3A6"/>
          </a:solidFill>
          <a:ln/>
        </p:spPr>
      </p:sp>
      <p:sp>
        <p:nvSpPr>
          <p:cNvPr id="18" name="Text 16"/>
          <p:cNvSpPr/>
          <p:nvPr/>
        </p:nvSpPr>
        <p:spPr>
          <a:xfrm>
            <a:off x="8997696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Mémorandum d'Investissement — Pitch Deck Investisseurs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 •  Juillet 2026  •  Document Confidentiel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Constat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Factures d'électricité en forte hausse.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395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rapide des infrastructures de recharge (IRVE).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5409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Consommations lourdes : piscines, restaurants, hébergements.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7124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 environnementales et réglementaires croissantes.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708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 d'équipements énergétiques difficiles à orchestrer (PV, batteries, bornes, GTB, piscines, compteurs) — tous en silos.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8F4EA"/>
          </a:solidFill>
          <a:ln w="12700">
            <a:solidFill>
              <a:srgbClr val="CDE7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fragmentation crée une opportunité : passer d'une logique d'équipements à une logique de système d'exploitation énergétique.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RÉPONSE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ECOGRID RESORT™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intégrée qui transforme chaque établissement en micro-réseau énergétique intelligent, reposant sur quatre piliers.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316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Photovoltaïque en toiture, ombrières, autoconsommation.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48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4" name="Text 12"/>
          <p:cNvSpPr/>
          <p:nvPr/>
        </p:nvSpPr>
        <p:spPr>
          <a:xfrm>
            <a:off x="42748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 pilotées selon production, météo et priorités.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180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9" name="Text 17"/>
          <p:cNvSpPr/>
          <p:nvPr/>
        </p:nvSpPr>
        <p:spPr>
          <a:xfrm>
            <a:off x="70180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Piscines, pompes, CVC, eau chaude, éclairage, bornes VE.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612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4" name="Text 22"/>
          <p:cNvSpPr/>
          <p:nvPr/>
        </p:nvSpPr>
        <p:spPr>
          <a:xfrm>
            <a:off x="97612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9154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112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Algorithmes, alertes, maintenance prédictive, ESG.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converge vers </a:t>
            </a:r>
            <a:pPr algn="ctr" indent="0" marL="0">
              <a:buNone/>
            </a:pPr>
            <a:r>
              <a:rPr lang="en-US" sz="14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supervision &amp; optimisation temps réel (web + mobile)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 — le système d'exploitation énergétique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74320" cy="274320"/>
          </a:xfrm>
          <a:prstGeom prst="ellipse">
            <a:avLst/>
          </a:prstGeom>
          <a:solidFill>
            <a:srgbClr val="E8F4E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45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737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temps réel : production, consommation, batteries, bornes, alarmes.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274320" cy="274320"/>
          </a:xfrm>
          <a:prstGeom prst="ellipse">
            <a:avLst/>
          </a:prstGeom>
          <a:solidFill>
            <a:srgbClr val="E8F4E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45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énergétique : batteries, bornes, pompes, CVC, eau chaude, éclairage.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274320" cy="274320"/>
          </a:xfrm>
          <a:prstGeom prst="ellipse">
            <a:avLst/>
          </a:prstGeom>
          <a:solidFill>
            <a:srgbClr val="E8F4E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45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 l'autoconsommation : stockage, arbitrage, priorités d'usage.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74320" cy="274320"/>
          </a:xfrm>
          <a:prstGeom prst="ellipse">
            <a:avLst/>
          </a:prstGeom>
          <a:solidFill>
            <a:srgbClr val="E8F4E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45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0528" y="1737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 : détection des dérives avant panne.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274320" cy="274320"/>
          </a:xfrm>
          <a:prstGeom prst="ellipse">
            <a:avLst/>
          </a:prstGeom>
          <a:solidFill>
            <a:srgbClr val="E8F4E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45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0528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énergétique et ESG : économies, CO₂ évité, taux d'autoconsommation.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703320"/>
            <a:ext cx="274320" cy="274320"/>
          </a:xfrm>
          <a:prstGeom prst="ellipse">
            <a:avLst/>
          </a:prstGeom>
          <a:solidFill>
            <a:srgbClr val="E8F4EA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45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multi-sites pour groupes de campings.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F7F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ouverte : Huawei, SMA, Sungrow, GoodWe, Fronius, SolarEdge, Schneider, ABB, Socomec, Siemens et autres fabricants compatibles.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Opportunité de marché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Nombre de campings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France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≈ 8 100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Italie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≈ 2 300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Espagne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≈ 1 200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Europe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≈ 22 800 à 23 200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0" y="1709928"/>
            <a:ext cx="22860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≈23 000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217920" y="2365553"/>
            <a:ext cx="22860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en Europe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7824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69680" y="1709928"/>
            <a:ext cx="22860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869680" y="2365553"/>
            <a:ext cx="22860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2031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9718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3081528"/>
            <a:ext cx="22860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≈2,3%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217920" y="3737153"/>
            <a:ext cx="22860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Pénétration marché EU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78240" y="29718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869680" y="3081528"/>
            <a:ext cx="22860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1er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869680" y="3737153"/>
            <a:ext cx="22860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: France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Tendances porteuses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032504"/>
            <a:ext cx="109728" cy="109728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9776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Hausse des coûts de l'énergie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4398264"/>
            <a:ext cx="109728" cy="109728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3434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PV &amp; stockage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4764024"/>
            <a:ext cx="109728" cy="109728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4709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Arrivée massive des bornes IRVE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5129784"/>
            <a:ext cx="109728" cy="109728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074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Digitalisation des bâtiments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" y="5495544"/>
            <a:ext cx="109728" cy="109728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54406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de leader vertical dédié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 — trois moteurs de revenus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&amp; Travaux Smart Grid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300 000 € HT / site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marge brute — finance la croissance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E8F4EA"/>
          </a:solidFill>
          <a:ln w="12700">
            <a:solidFill>
              <a:srgbClr val="CDE7D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3 000 € HT / site / 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3657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récurrent, forte marge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Pôle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22860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 &amp; Maintenance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1 000 € HT / site / an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Revenus récurrents, fidélisation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Saisonnalité : Travaux 45% T1 / 5% T2 / 5% T3 / 45% T4 — Logiciel &amp; Maintenance lissés 25%/25%/25%/25%.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clé en main — 7 étapes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9418320" cy="0"/>
          </a:xfrm>
          <a:prstGeom prst="line">
            <a:avLst/>
          </a:prstGeom>
          <a:noFill/>
          <a:ln w="25400">
            <a:solidFill>
              <a:srgbClr val="CFE0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énergétique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2128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12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0980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9100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910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7952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travaux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3044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304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1896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0016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001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8868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469880" y="2423160"/>
            <a:ext cx="640080" cy="640080"/>
          </a:xfrm>
          <a:prstGeom prst="ellipse">
            <a:avLst/>
          </a:prstGeom>
          <a:solidFill>
            <a:srgbClr val="2E8B45"/>
          </a:solidFill>
          <a:ln/>
          <a:effectLst>
            <a:outerShdw sx="100000" sy="100000" kx="0" ky="0" algn="bl" rotWithShape="0" blurRad="50800" dist="25400" dir="54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4698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Un interlocuteur unique, de l'étude à l'exploitation. 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— Camping Riva Bella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Démonstrateur officiel technique et commercial (2027)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1284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010205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Emplacements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221284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80 000 €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3010205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Dépense énergétique/an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1031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21284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250 000 €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0" y="3010205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Smart Grid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58200" y="2103120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49640" y="2212848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549640" y="3010205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078224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023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les dépenses énergétiques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498848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44398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Maximiser l'autoconsommation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19472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8646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 les équipements techniques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40096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2852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référence commerciale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760720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058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Standardiser les méthodes de déploiement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FINANCIER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du nombre de sites 2027-2031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4592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Année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Nouveaux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Cumulés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2027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2028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2029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135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2030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285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2031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</a:rPr>
                        <a:t>535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FINANCIER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 d'affaires &amp; marge brute 2027-2031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4592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&amp; montée en puissance opérationnelle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  <a:gridCol w="1463040"/>
                <a:gridCol w="146304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Fonction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6"/>
                          </a:solidFill>
                        </a:rPr>
                        <a:t>Direction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6"/>
                          </a:solidFill>
                        </a:rPr>
                        <a:t>Bureau d'études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6"/>
                          </a:solidFill>
                        </a:rPr>
                        <a:t>Développeurs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6"/>
                          </a:solidFill>
                        </a:rPr>
                        <a:t>Commerce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6"/>
                          </a:solidFill>
                        </a:rPr>
                        <a:t>SAV &amp; supervision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6"/>
                          </a:solidFill>
                        </a:rPr>
                        <a:t>Admin / finance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C2B36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59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Frais de structure : 1,10 M€ (2027) → 1,50 M€ (2028) → 2,40 M€ (2029) → 3,80 M€ (2030) → 5,80 M€ (2031).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stratégique 2027-2035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77240" cy="59436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Riva Bella, lancement commercial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1691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sites, CA 4,56 M€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777240" cy="59436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40487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Industrialisation des déploiements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404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sites, CA 12,22 M€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18104"/>
            <a:ext cx="777240" cy="59436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1810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311810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Structuration nationale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311810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sites, CA 24,54 M€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777240" cy="59436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3133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383133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Europe du Sud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38313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 sites, CA 46,14 M€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544568"/>
            <a:ext cx="777240" cy="59436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4456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454456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européenne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45445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 sites, CA 77,14 M€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Au-delà : V6 Smart Energy Platform (2032) → V7 Agrégation (2033) → V8 Digital Twin (2034) → V9 Energy Operating System (2035).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risques &amp; mesures de maîtrise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4066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Mesure de maîtrise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Rythme commercial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Force commerciale dédiée, pipeline, contrats multi-sites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Développement logiciel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Partenaire externe puis internalisation, roadmap par versions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Dépendance fabricants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Architecture ouverte multi-constructeurs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Saisonnalité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Travaux T1/T4, revenus récurrents lissés, réserve de trésorerie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BFR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Facturation par étapes, suivi mensuel, conditions fournisseurs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Cybersécurité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MFA, chiffrement, sauvegardes, audits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Concurrence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Spécialisation camping, offre intégrée, logiciel propriétaire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ESG &amp; contribution à la transition énergétique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E8F4EA"/>
          </a:solidFill>
          <a:ln w="12700">
            <a:solidFill>
              <a:srgbClr val="CDE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MWh PV produits, autoconsommation, CO₂ évité, bornes VE pilotées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E8F4EA"/>
          </a:solidFill>
          <a:ln w="12700">
            <a:solidFill>
              <a:srgbClr val="CDE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Emplois créés, formation, satisfaction client, sécurité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E8F4EA"/>
          </a:solidFill>
          <a:ln w="12700">
            <a:solidFill>
              <a:srgbClr val="CDE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4688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plateforme, incidents cybersécurité, conformité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Contribue aux Objectifs de Développement Durable (ODD) 7, 9, 11, 12, 13 et 17 des Nations Unies.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de financement &amp; utilisation des fonds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01368"/>
            <a:ext cx="32004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M€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768803"/>
            <a:ext cx="3200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Amorçage 2027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801368"/>
            <a:ext cx="32004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 M€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7680" y="2768803"/>
            <a:ext cx="32004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Accélération 2028-2029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0" y="169164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1801368"/>
            <a:ext cx="35661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Dette / Fonds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63840" y="2768803"/>
            <a:ext cx="35661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2030-2031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10881360" cy="914400"/>
        </p:xfrm>
        <a:graphic>
          <a:graphicData uri="http://schemas.openxmlformats.org/drawingml/2006/table">
            <a:tbl>
              <a:tblPr/>
              <a:tblGrid>
                <a:gridCol w="813816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Développement logiciel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Recrutement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Développement commercial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BFR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Infrastructure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Communication &amp; marketing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6E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DC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2031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connectés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77,14 M€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768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annuel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27,75 M€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95528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 brute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69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 M€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Revenus récurrents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069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2976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Collaborateurs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0" y="384048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4069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≈2,3%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955280" y="4892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de marché EU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 COMPÉTITIF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Performance ENR réussira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406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Facteur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Avantage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Offre clé en main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Un interlocuteur unique pour toute la chaîne de valeur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Plateforme propriétaire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Actif technologique valorisable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Architecture ouverte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Compatibilité multi-fabricants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Spécialisation métier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Solution conçue pour les campings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Saisonnalité maîtrisée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Organisation adaptée aux T1/T4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Revenus récurrents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</a:rPr>
                        <a:t>Logiciel et maintenance sur chaque site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concurrentielle &amp; positionnement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463040"/>
                <a:gridCol w="182880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Fabricants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GTB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Énergéticiens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Installateurs PV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Performance ENR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Travaux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Logiciel propriétaire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Partiel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Partiel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Multi-constructeurs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Partiel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Partiel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Dédié campings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Maintenance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Partiel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Partiel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Partiel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remplace la coordination complexe de plusieurs prestataires par une offre intégrée : ingénierie, travaux, logiciel, exploitation et maintenance.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r" indent="0" marL="0">
              <a:buNone/>
            </a:pPr>
            <a:r>
              <a:rPr lang="en-US" sz="1400" b="1" dirty="0">
                <a:solidFill>
                  <a:srgbClr val="2E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95560" y="530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163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dirigeante, gouvernance &amp; Advisory 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276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: </a:t>
            </a:r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Stratégie, investisseurs, partenariats, développement européen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130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: </a:t>
            </a:r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Smart Grid, bureau d'études, standards techniques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633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Logicielle : </a:t>
            </a:r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OS™, IA, API, cybersécurité, cloud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363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Commerciale : </a:t>
            </a:r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Go-to-market, ventes, grands comptes, partenariats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28016" cy="128016"/>
          </a:xfrm>
          <a:prstGeom prst="ellipse">
            <a:avLst/>
          </a:prstGeom>
          <a:solidFill>
            <a:srgbClr val="2E8B45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6393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Exploitation : </a:t>
            </a:r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Supervision, support, maintenance, qualité de 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 : équipe fondatrice (2027) → Advisory Board (2028) → DAF &amp; COMEX (2029) → comités audit/stratégie (2030) → standards ETI innovante (2031).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ECOGRID RESORT™  •  Performance ENR  •  Confidentiel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pPr algn="ctr" indent="0" marL="0">
              <a:buNone/>
            </a:pPr>
            <a:r>
              <a:rPr lang="en-US" sz="4400" b="1" dirty="0">
                <a:solidFill>
                  <a:srgbClr val="8FE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88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C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O R T™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transition énergétique de l'hôtellerie de plein air.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 : 04 84 80 22 22    •    Email : contact@ecogrid-resort.com    •    Web : www.ecogrid-resort.com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ENR — Juillet 2026 — Document Confidentiel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ECOGRID RESORT - Pitch Deck Investisseurs FR</dc:title>
  <dc:subject>PptxGenJS Presentation</dc:subject>
  <dc:creator>Performance ENR</dc:creator>
  <cp:lastModifiedBy>Performance ENR</cp:lastModifiedBy>
  <cp:revision>1</cp:revision>
  <dcterms:created xsi:type="dcterms:W3CDTF">2026-07-06T07:12:25Z</dcterms:created>
  <dcterms:modified xsi:type="dcterms:W3CDTF">2026-07-06T07:12:25Z</dcterms:modified>
</cp:coreProperties>
</file>