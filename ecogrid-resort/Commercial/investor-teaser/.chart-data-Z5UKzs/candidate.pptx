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aa6cd02d7b4233" /><Relationship Type="http://schemas.openxmlformats.org/officeDocument/2006/relationships/extended-properties" Target="/docProps/app.xml" Id="Raf2eb8a05bf549d0" /><Relationship Type="http://schemas.openxmlformats.org/officeDocument/2006/relationships/officeDocument" Target="/ppt/presentation.xml" Id="Reb78f7ec1078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b5accb0084d22"/>
  </p:sldMasterIdLst>
  <p:notesMasterIdLst>
    <p:notesMasterId xmlns:r="http://schemas.openxmlformats.org/officeDocument/2006/relationships" r:id="R7d57a9c5b3e943da"/>
  </p:notesMasterIdLst>
  <p:sldIdLst>
    <p:sldId xmlns:r="http://schemas.openxmlformats.org/officeDocument/2006/relationships" id="256" r:id="Ra0fa8088d5bd4b8d"/>
    <p:sldId xmlns:r="http://schemas.openxmlformats.org/officeDocument/2006/relationships" id="257" r:id="R1ae097e104cb4e2f"/>
    <p:sldId xmlns:r="http://schemas.openxmlformats.org/officeDocument/2006/relationships" id="258" r:id="R0370c823da0a4604"/>
    <p:sldId xmlns:r="http://schemas.openxmlformats.org/officeDocument/2006/relationships" id="259" r:id="R97f0f48ecffe4716"/>
    <p:sldId xmlns:r="http://schemas.openxmlformats.org/officeDocument/2006/relationships" id="260" r:id="Rd1c05da4fc584d3b"/>
    <p:sldId xmlns:r="http://schemas.openxmlformats.org/officeDocument/2006/relationships" id="261" r:id="Reb37a55e2819406e"/>
    <p:sldId xmlns:r="http://schemas.openxmlformats.org/officeDocument/2006/relationships" id="262" r:id="R0cb87002876d4664"/>
    <p:sldId xmlns:r="http://schemas.openxmlformats.org/officeDocument/2006/relationships" id="263" r:id="R1895096b2c94414d"/>
    <p:sldId xmlns:r="http://schemas.openxmlformats.org/officeDocument/2006/relationships" id="264" r:id="R46bf535a4a1544ea"/>
    <p:sldId xmlns:r="http://schemas.openxmlformats.org/officeDocument/2006/relationships" id="265" r:id="R6b580002e915494b"/>
    <p:sldId xmlns:r="http://schemas.openxmlformats.org/officeDocument/2006/relationships" id="266" r:id="Rc263bde358d34c12"/>
    <p:sldId xmlns:r="http://schemas.openxmlformats.org/officeDocument/2006/relationships" id="267" r:id="R3e1cc226b0ff4aa6"/>
    <p:sldId xmlns:r="http://schemas.openxmlformats.org/officeDocument/2006/relationships" id="268" r:id="R957e3e7d12ed4308"/>
    <p:sldId xmlns:r="http://schemas.openxmlformats.org/officeDocument/2006/relationships" id="269" r:id="Re66871f7fe3445ae"/>
    <p:sldId xmlns:r="http://schemas.openxmlformats.org/officeDocument/2006/relationships" id="270" r:id="R091223f23eba4c76"/>
    <p:sldId xmlns:r="http://schemas.openxmlformats.org/officeDocument/2006/relationships" id="271" r:id="R6c4571b9b07141d3"/>
    <p:sldId xmlns:r="http://schemas.openxmlformats.org/officeDocument/2006/relationships" id="272" r:id="R0c2c0906f952475a"/>
    <p:sldId xmlns:r="http://schemas.openxmlformats.org/officeDocument/2006/relationships" id="273" r:id="Re4a0650387de47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f53efc399b4f4e" /><Relationship Type="http://schemas.openxmlformats.org/officeDocument/2006/relationships/slideMaster" Target="/ppt/slideMasters/slideMaster1.xml" Id="Rbb3b5accb0084d22" /><Relationship Type="http://schemas.openxmlformats.org/officeDocument/2006/relationships/notesMaster" Target="/ppt/notesMasters/notesMaster1.xml" Id="R7d57a9c5b3e943da" /><Relationship Type="http://schemas.openxmlformats.org/officeDocument/2006/relationships/presProps" Target="/ppt/presProps.xml" Id="Rc5419fcdff0e4835" /><Relationship Type="http://schemas.openxmlformats.org/officeDocument/2006/relationships/tableStyles" Target="/ppt/tableStyles.xml" Id="R9037c5fc60d4497c" /><Relationship Type="http://schemas.openxmlformats.org/officeDocument/2006/relationships/slide" Target="/ppt/slides/slide1.xml" Id="Ra0fa8088d5bd4b8d" /><Relationship Type="http://schemas.openxmlformats.org/officeDocument/2006/relationships/slide" Target="/ppt/slides/slide2.xml" Id="R1ae097e104cb4e2f" /><Relationship Type="http://schemas.openxmlformats.org/officeDocument/2006/relationships/slide" Target="/ppt/slides/slide3.xml" Id="R0370c823da0a4604" /><Relationship Type="http://schemas.openxmlformats.org/officeDocument/2006/relationships/slide" Target="/ppt/slides/slide4.xml" Id="R97f0f48ecffe4716" /><Relationship Type="http://schemas.openxmlformats.org/officeDocument/2006/relationships/slide" Target="/ppt/slides/slide5.xml" Id="Rd1c05da4fc584d3b" /><Relationship Type="http://schemas.openxmlformats.org/officeDocument/2006/relationships/slide" Target="/ppt/slides/slide6.xml" Id="Reb37a55e2819406e" /><Relationship Type="http://schemas.openxmlformats.org/officeDocument/2006/relationships/slide" Target="/ppt/slides/slide7.xml" Id="R0cb87002876d4664" /><Relationship Type="http://schemas.openxmlformats.org/officeDocument/2006/relationships/slide" Target="/ppt/slides/slide8.xml" Id="R1895096b2c94414d" /><Relationship Type="http://schemas.openxmlformats.org/officeDocument/2006/relationships/slide" Target="/ppt/slides/slide9.xml" Id="R46bf535a4a1544ea" /><Relationship Type="http://schemas.openxmlformats.org/officeDocument/2006/relationships/slide" Target="/ppt/slides/slide10.xml" Id="R6b580002e915494b" /><Relationship Type="http://schemas.openxmlformats.org/officeDocument/2006/relationships/slide" Target="/ppt/slides/slide11.xml" Id="Rc263bde358d34c12" /><Relationship Type="http://schemas.openxmlformats.org/officeDocument/2006/relationships/slide" Target="/ppt/slides/slide12.xml" Id="R3e1cc226b0ff4aa6" /><Relationship Type="http://schemas.openxmlformats.org/officeDocument/2006/relationships/slide" Target="/ppt/slides/slide13.xml" Id="R957e3e7d12ed4308" /><Relationship Type="http://schemas.openxmlformats.org/officeDocument/2006/relationships/slide" Target="/ppt/slides/slide14.xml" Id="Re66871f7fe3445ae" /><Relationship Type="http://schemas.openxmlformats.org/officeDocument/2006/relationships/slide" Target="/ppt/slides/slide15.xml" Id="R091223f23eba4c76" /><Relationship Type="http://schemas.openxmlformats.org/officeDocument/2006/relationships/slide" Target="/ppt/slides/slide16.xml" Id="R6c4571b9b07141d3" /><Relationship Type="http://schemas.openxmlformats.org/officeDocument/2006/relationships/slide" Target="/ppt/slides/slide17.xml" Id="R0c2c0906f952475a" /><Relationship Type="http://schemas.openxmlformats.org/officeDocument/2006/relationships/slide" Target="/ppt/slides/slide18.xml" Id="Re4a0650387de47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030bf26e2c48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875e0adbbc437d" /><Relationship Type="http://schemas.openxmlformats.org/officeDocument/2006/relationships/notesMaster" Target="/ppt/notesMasters/notesMaster1.xml" Id="Rf4950aa95a8e44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709069797e4f8b" /><Relationship Type="http://schemas.openxmlformats.org/officeDocument/2006/relationships/notesMaster" Target="/ppt/notesMasters/notesMaster1.xml" Id="Ra1f115c959b7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57c23afcfc450a" /><Relationship Type="http://schemas.openxmlformats.org/officeDocument/2006/relationships/notesMaster" Target="/ppt/notesMasters/notesMaster1.xml" Id="R4a2ec810487241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89da6c3a894029" /><Relationship Type="http://schemas.openxmlformats.org/officeDocument/2006/relationships/notesMaster" Target="/ppt/notesMasters/notesMaster1.xml" Id="R6918dad9198c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3bbd57ecc4622" /><Relationship Type="http://schemas.openxmlformats.org/officeDocument/2006/relationships/notesMaster" Target="/ppt/notesMasters/notesMaster1.xml" Id="R3873574c5547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6ebf6e1ce9442d" /><Relationship Type="http://schemas.openxmlformats.org/officeDocument/2006/relationships/notesMaster" Target="/ppt/notesMasters/notesMaster1.xml" Id="R6ac2ccf2d82d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9b9a4a7cad4e82" /><Relationship Type="http://schemas.openxmlformats.org/officeDocument/2006/relationships/notesMaster" Target="/ppt/notesMasters/notesMaster1.xml" Id="R243834eecb5e41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dd234519d542ae" /><Relationship Type="http://schemas.openxmlformats.org/officeDocument/2006/relationships/notesMaster" Target="/ppt/notesMasters/notesMaster1.xml" Id="R9d89f730977644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30df51ee4044b9" /><Relationship Type="http://schemas.openxmlformats.org/officeDocument/2006/relationships/notesMaster" Target="/ppt/notesMasters/notesMaster1.xml" Id="R2a19514026ad46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444c01ad864052" /><Relationship Type="http://schemas.openxmlformats.org/officeDocument/2006/relationships/notesMaster" Target="/ppt/notesMasters/notesMaster1.xml" Id="Rca212726242847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490e4d0afc41c4" /><Relationship Type="http://schemas.openxmlformats.org/officeDocument/2006/relationships/notesMaster" Target="/ppt/notesMasters/notesMaster1.xml" Id="R44f58dd3cb3641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8ecb9618b3400d" /><Relationship Type="http://schemas.openxmlformats.org/officeDocument/2006/relationships/notesMaster" Target="/ppt/notesMasters/notesMaster1.xml" Id="R24ad0f0fe16d40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d0db2b6f8748e2" /><Relationship Type="http://schemas.openxmlformats.org/officeDocument/2006/relationships/notesMaster" Target="/ppt/notesMasters/notesMaster1.xml" Id="R5486389132d444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f5f57e9a484319" /><Relationship Type="http://schemas.openxmlformats.org/officeDocument/2006/relationships/notesMaster" Target="/ppt/notesMasters/notesMaster1.xml" Id="R9fc772b76d384f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25a49dd421416f" /><Relationship Type="http://schemas.openxmlformats.org/officeDocument/2006/relationships/notesMaster" Target="/ppt/notesMasters/notesMaster1.xml" Id="Re89dad7eb5b746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eb41ef9fb74e94" /><Relationship Type="http://schemas.openxmlformats.org/officeDocument/2006/relationships/notesMaster" Target="/ppt/notesMasters/notesMaster1.xml" Id="R43f021113a354b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1ed93aeaff4022" /><Relationship Type="http://schemas.openxmlformats.org/officeDocument/2006/relationships/notesMaster" Target="/ppt/notesMasters/notesMaster1.xml" Id="Rcd3fdd1a6cfb4e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1473e80933411e" /><Relationship Type="http://schemas.openxmlformats.org/officeDocument/2006/relationships/notesMaster" Target="/ppt/notesMasters/notesMaster1.xml" Id="R78449d3aac8f46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brief and confirmed €700k ask, 4 October 2026. Both models, with direct sales leading. Concept visual generated with OpenAI image generation for this presentation. All commercial projections are proposed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4 October 2026. Eurostat tour_cap_nat, freq A, accomunit ESTBL, unit NR, nace_r2 I553, time 2025: Spain 1431, Italy 2880, France 7996, Belgium 379, Netherlands 2630. API snapshot saved in .build/eurostat-market-source.json, updated 22 September 2026. https://ec.europa.eu/eurostat/databrowser/view/tour_cap_nat/default/table?lang=en . UKCCA 2024 report, 2023 operator base 6169 holiday parks and campsites: https://www.ukcca.org.uk/media/o3og4sel/ukcca-uk-report-2024.pdf tables 4.1 and 4.2. The six-country sum is indicative; UK scope and vintage differ. This inventory includes small and unclassified sites and is not the addressable 3–5-star / Small-Medium-Large segment. France adjacent segment: INSEE January 2026 mainland 3955 campsites at 3–5 stars and 799 holiday villages/family holiday homes https://www.insee.fr/fr/statistiques/8735173?geo=METRO-1 . Netherlands 1782 holiday-house parks, 2025 CBS https://www.cbs.nl/nl-nl/cijfers/detail/82062NED. These adjacent categories are outside the campsite totals and still need eligibility/deduplication.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five-part offer follows the user’s current brief. Product capability is planned scope, not a claim that production modules are deployed. Completion is a lead-interest signal. Technical and commercial qualification remain necessary.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The up-to-12,000-record database is a target against a 12,307 establishment broad inventory, all sizes and ratings. Eligible campaign records are a smaller segment; qualify decision-makers and deduplicate. 10% completion-to-install conversion, 20% completion-to-audit and 50% audit-to-install. Signed and commissioned counts are equal in this scenario. Acquisition cost includes €90k marketing and €90k sales expense.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sources reviewed 4 October 2026: IDAE RD477 programme https://www.idae.es/ayudas-y-financiacion/para-energias-renovables-en-autoconsumo-almacenamiento-y-termicas-sector/incentivos-autoconsumo-y-almacenamiento-con-fuentes-de-energias-renovables-rd-4772021 (programme ended 31 Dec 2023); https://www.ademe.fr/nos-missions/financement/; GSE https://assistenza.clienti.gse.it/csm/it/differenze-tra-configurazioni-di-autoconsumo?id=faq&amp;sys_id=8d36cf8ec34246143fd7bffb05013182; https://energie.wallonie.be/home/soutiens-financiers/entreprises/audits-et-etudes-amureba/amureba-pour-les-entreprises.html; https://www.vlaio.be/nl/subsidies-financiering/subsidiedatabank/maatregelen/zonnepanelen-steun; https://english.rvo.nl/subsidies-financiering/sde; https://www.ofgem.gov.uk/environmental-and-social-schemes/smart-export-guarantee-seg/electricity-suppliers; https://cinea.ec.europa.eu/programmes/life/clean-energy-transition_en; https://green-forum.ec.europa.eu/green-business/eu-ecolabel/product-groups-and-criteria/tourist-accommodation_en. No blanket grants promised. Ecolabel eligibility does not itself confer grant entitlement.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energy demonstration. Noon balance: 150 kW solar = 95 kW site + 35 kW charging + 20 kW export. Evening 20 kW solar + 60 kW battery = 80 kW site. Not a battery sizing or state-of-charge simulation. No export or flexibility income in forecasts. Founder brief defines planned inverter/battery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The reference case asset payback exceeds the earlier 15-year contract assumption, so the financed route requires a different structure before approval. Financed comparison uses the quoted client installation price as SPV capital invested, including EPC margin. Maintenance is borne by asset owner. Asset-owner cash deducts maintenance and excludes software revenue, which belongs to ECOGRID. Resort cash after software equals 40% of gross energy savings less software. No grant assumed. Simple payback does not prove a financeable return within the contract term. No financed installations in opco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Forecast formulas: works revenue = new sites × weighted quoted price. Works COGS = new sites × weighted delivery cost. Service revenue = (opening sites + 50% of new sites) × weighted annual fees. Service COGS = 35% of service revenue. Gross profit = works revenue minus works COGS plus 65% of service revenue. OPEX = €590k / €1.1m / €1.8m. Software development €250k remains outside EBITDA. Very high EBITDA depends on unvalidated 35% project margin and conversion. No asset or grant revenues.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geography sequence. Proposed delivery capacity 20/60/120 sites divided by 10 per crew per year. Confirm contractor coverage and two approved alternatives for each critical region. Sales + marketing expense €180k/€360k/€600k, included in OPEX rather than charged twice. Schedule installation around seasonal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Confirmed founder ask €700,000. Proposed allocation sums exactly €700,000. €250k software development from June interview. The €300k team+campaign allocation covers about six months of €590k annual OPEX; subsequent expenses rely on collected project margin. €100k working capital and €50k reserve. Negotiate 40% client order / 50% before delivery / 10% acceptance versus supplier payment milestones. Four concurrent average projects and 90% supplier prepayment imply roughly €453k initial bridge need, above the allocation. A monthly cash plan and finance facility may be required. Allocation is not additional to P&amp;L OPEX.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 Fixed average client price €612530.346, delivery cost €398144.725, gross contribution €214385.621. Four projects contribute €857542.485 before fixed launch costs. Eight contribute €1715084.969; deduct €250000 development and €590000 full year-1 OPEX once, leaving €875084.969. This is a business-surplus illustration, not investor principal recovery or a guaranteed cash return. Recurring contribution excluded. Costs already overlap round allocations; allocations are not added again. Capital and project cash timing, working capital, taxes, debt and extra CAPEX excluded. At 20% of fixed average quoted price, margin contribution is €122506.069; ceil(700000/contribution)=6, ceil((700000+840000)/contribution)=13. No signed orders or independently validated cost quotes. Risk is controlled through milestones, direct sales and contract cash terms, not inherently minimal.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requests a first round to test the water and a more precise second round after the marketing campaign returns. Proposed readiness: a full campaign-to-collection cohort, at least four commissioned and collected projects to test gross contribution coverage, measured customer savings, reproducible realised margins and validated supplier/contractor capacity. Four projects do not statistically establish country- or segment-wide conversion. Measure completed applications / unique decision-makers reached, completion-to-audit, audit-to-contract, contract-to-commissioning, collections, CAC and margin by country/star/size. Review after the full cycle and repeat by segment. Next-round funding = expansion development, hiring and market launch spend + peak modelled cash deficit + contingency reserve − cash available for expansion. Keep earned operating cash and any separate asset-finance commitment distinct from opco equity. No arbitrary second-round amount is offered before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SmartGrid/Commercial/notes_segmentation_energie_2026-06-12.md; BP/BP_interview_notes.md; BP/ECOGRID_Business_Plan_EN.docx; Investor_Package_2026-07/English/ECOGRID_RESORT_Investment_Memorandum_EN.html. New package rates and rollout assumptions: investor-teaser/scenario-data.json and assumptions-and-sources.md. All values are planning hypotheses unless explicitly identified as documented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653669b6a41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fd103415d45fe" /><Relationship Type="http://schemas.openxmlformats.org/officeDocument/2006/relationships/slideLayout" Target="/ppt/slideLayouts/slideLayout1.xml" Id="R1ab784222532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b784222532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ba69e25bc4cb3" /><Relationship Type="http://schemas.openxmlformats.org/officeDocument/2006/relationships/image" Target="/ppt/media/image.png" Id="R2b3741e605574431" /><Relationship Type="http://schemas.openxmlformats.org/officeDocument/2006/relationships/notesSlide" Target="/ppt/notesSlides/notesSlide1.xml" Id="Re0af675a4c124c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c09a741974d17" /><Relationship Type="http://schemas.openxmlformats.org/officeDocument/2006/relationships/notesSlide" Target="/ppt/notesSlides/notesSlide2.xml" Id="Rd519be50ae9442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de0fa484949b2" /><Relationship Type="http://schemas.openxmlformats.org/officeDocument/2006/relationships/notesSlide" Target="/ppt/notesSlides/notesSlide3.xml" Id="R7b691f7954d6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ce78984da40c3" /><Relationship Type="http://schemas.openxmlformats.org/officeDocument/2006/relationships/notesSlide" Target="/ppt/notesSlides/notesSlide4.xml" Id="R57de2be722b44d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1ad44271d4b47" /><Relationship Type="http://schemas.openxmlformats.org/officeDocument/2006/relationships/notesSlide" Target="/ppt/notesSlides/notesSlide5.xml" Id="R50a6b65be28c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ea45c1c84c46" /><Relationship Type="http://schemas.openxmlformats.org/officeDocument/2006/relationships/notesSlide" Target="/ppt/notesSlides/notesSlide6.xml" Id="Rdc4b0e9bee5e4f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2b3a3a4594067" /><Relationship Type="http://schemas.openxmlformats.org/officeDocument/2006/relationships/notesSlide" Target="/ppt/notesSlides/notesSlide7.xml" Id="R90f0a2ef36a44b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bd2e729db472c" /><Relationship Type="http://schemas.openxmlformats.org/officeDocument/2006/relationships/notesSlide" Target="/ppt/notesSlides/notesSlide8.xml" Id="R3f69dcee193d45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5a17e9114035" /><Relationship Type="http://schemas.openxmlformats.org/officeDocument/2006/relationships/chart" Target="/ppt/slides/charts/chart1.xml" Id="R37f43f157beb486f" /><Relationship Type="http://schemas.openxmlformats.org/officeDocument/2006/relationships/notesSlide" Target="/ppt/notesSlides/notesSlide9.xml" Id="Rc9ae48d0987b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1fb1ebb9149e7" /><Relationship Type="http://schemas.openxmlformats.org/officeDocument/2006/relationships/notesSlide" Target="/ppt/notesSlides/notesSlide10.xml" Id="Rcae4030672af4a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766a72c2489d" /><Relationship Type="http://schemas.openxmlformats.org/officeDocument/2006/relationships/chart" Target="/ppt/slides/charts/chart2.xml" Id="R2aad1f3a05ab4a3c" /><Relationship Type="http://schemas.openxmlformats.org/officeDocument/2006/relationships/notesSlide" Target="/ppt/notesSlides/notesSlide11.xml" Id="R1825ea60a0694d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215037ab94633" /><Relationship Type="http://schemas.openxmlformats.org/officeDocument/2006/relationships/notesSlide" Target="/ppt/notesSlides/notesSlide12.xml" Id="R3aac29c5e8aa47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294b7c0d64677" /><Relationship Type="http://schemas.openxmlformats.org/officeDocument/2006/relationships/notesSlide" Target="/ppt/notesSlides/notesSlide13.xml" Id="R014a47d606734f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29bfa4477450c" /><Relationship Type="http://schemas.openxmlformats.org/officeDocument/2006/relationships/notesSlide" Target="/ppt/notesSlides/notesSlide14.xml" Id="R70a8c16670e94b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219e691b24f3f" /><Relationship Type="http://schemas.openxmlformats.org/officeDocument/2006/relationships/notesSlide" Target="/ppt/notesSlides/notesSlide15.xml" Id="Rd5c2ecca2b8147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e15d05715437d" /><Relationship Type="http://schemas.openxmlformats.org/officeDocument/2006/relationships/notesSlide" Target="/ppt/notesSlides/notesSlide16.xml" Id="R1c65f4101ba041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1fb0de1824a64" /><Relationship Type="http://schemas.openxmlformats.org/officeDocument/2006/relationships/notesSlide" Target="/ppt/notesSlides/notesSlide17.xml" Id="R28091563cdef45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ba63d5dfb4456" /><Relationship Type="http://schemas.openxmlformats.org/officeDocument/2006/relationships/notesSlide" Target="/ppt/notesSlides/notesSlide18.xml" Id="R4073768b94c040e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Solar production</c:v>
          </c:tx>
          <c:spPr>
            <a:ln xmlns:a="http://schemas.openxmlformats.org/drawingml/2006/main" w="38100">
              <a:solidFill>
                <a:srgbClr val="1F7A6D"/>
              </a:solidFill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06:00</c:v>
                </c:pt>
                <c:pt idx="1">
                  <c:v>09:00</c:v>
                </c:pt>
                <c:pt idx="2">
                  <c:v>12:00</c:v>
                </c:pt>
                <c:pt idx="3">
                  <c:v>18:00</c:v>
                </c:pt>
                <c:pt idx="4">
                  <c:v>23:00</c:v>
                </c:pt>
              </c:strCache>
            </c:strRef>
          </c:cat>
          <c:val>
            <c:numRef>
              <c:f>'Chart Data'!$B$2:$B$6</c:f>
              <c:numCache>
                <c:formatCode>0" kW"</c:formatCode>
                <c:ptCount val="5"/>
                <c:pt idx="0">
                  <c:v>0</c:v>
                </c:pt>
                <c:pt idx="1">
                  <c:v>80</c:v>
                </c:pt>
                <c:pt idx="2">
                  <c:v>150</c:v>
                </c:pt>
                <c:pt idx="3">
                  <c:v>20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Site consumption</c:v>
          </c:tx>
          <c:spPr>
            <a:ln xmlns:a="http://schemas.openxmlformats.org/drawingml/2006/main" w="38100">
              <a:solidFill>
                <a:srgbClr val="F4B740"/>
              </a:solidFill>
            </a:ln>
          </c:spPr>
          <c:marker>
            <c:symbol val="none"/>
          </c:marker>
          <c:cat>
            <c:strRef>
              <c:f>'Chart Data'!$C$2:$C$6</c:f>
              <c:strCache>
                <c:ptCount val="5"/>
                <c:pt idx="0">
                  <c:v>06:00</c:v>
                </c:pt>
                <c:pt idx="1">
                  <c:v>09:00</c:v>
                </c:pt>
                <c:pt idx="2">
                  <c:v>12:00</c:v>
                </c:pt>
                <c:pt idx="3">
                  <c:v>18:00</c:v>
                </c:pt>
                <c:pt idx="4">
                  <c:v>23:00</c:v>
                </c:pt>
              </c:strCache>
            </c:strRef>
          </c:cat>
          <c:val>
            <c:numRef>
              <c:f>'Chart Data'!$D$2:$D$6</c:f>
              <c:numCache>
                <c:formatCode>0" kW"</c:formatCode>
                <c:ptCount val="5"/>
                <c:pt idx="0">
                  <c:v>35</c:v>
                </c:pt>
                <c:pt idx="1">
                  <c:v>65</c:v>
                </c:pt>
                <c:pt idx="2">
                  <c:v>95</c:v>
                </c:pt>
                <c:pt idx="3">
                  <c:v>80</c:v>
                </c:pt>
                <c:pt idx="4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"/>
                  <a:ea typeface="Ubuntu"/>
                  <a:cs typeface="Ubuntu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D3CF"/>
              </a:solidFill>
            </a:ln>
          </c:spPr>
        </c:majorGridlines>
        <c:numFmt formatCode="0&quot; kW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3F3E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12D35"/>
              </a:solidFill>
              <a:latin typeface="Ubuntu"/>
              <a:ea typeface="Ubuntu"/>
              <a:cs typeface="Ubuntu"/>
            </a:defRPr>
          </a:pPr>
        </a:p>
      </c:txPr>
    </c:legend>
    <c:plotVisOnly val="1"/>
  </c:chart>
  <c:spPr>
    <a:solidFill xmlns:a="http://schemas.openxmlformats.org/drawingml/2006/main">
      <a:srgbClr val="F3F3E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Cumulative sites</c:v>
          </c:tx>
          <c:spPr>
            <a:solidFill xmlns:a="http://schemas.openxmlformats.org/drawingml/2006/main">
              <a:srgbClr val="1F7A6D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20</c:v>
                </c:pt>
                <c:pt idx="1">
                  <c:v>80</c:v>
                </c:pt>
                <c:pt idx="2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12D35"/>
                  </a:solidFill>
                  <a:latin typeface="Ubuntu"/>
                  <a:ea typeface="Ubuntu"/>
                  <a:cs typeface="Ubuntu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D3C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3F3EB"/>
        </a:solidFill>
      </c:spPr>
    </c:plotArea>
    <c:plotVisOnly val="1"/>
  </c:chart>
  <c:spPr>
    <a:solidFill xmlns:a="http://schemas.openxmlformats.org/drawingml/2006/main">
      <a:srgbClr val="F3F3E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741e605574431"/>
          <a:srcRect xmlns:a="http://schemas.openxmlformats.org/drawingml/2006/main" l="22446" t="0" r="224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0"/>
            <a:ext cx="6715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A5D87F-B2C5-4D27-99AE-1C5A860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4619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465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ECOGRID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465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RESORT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8A6BF4-61E1-48A3-9255-899EA3B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6958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35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Outdoor hospitality.</a:t>
            </a:r>
          </a:p>
          <a:p xmlns:a="http://schemas.openxmlformats.org/drawingml/2006/main">
            <a:pPr>
              <a:defRPr sz="35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35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Powered smarter.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5A5C8B-3D99-42D9-A245-4F44CED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624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1EFEB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E1EFEB"/>
                </a:solidFill>
                <a:latin typeface="Ubuntu"/>
                <a:ea typeface="Ubuntu"/>
                <a:cs typeface="Ubuntu"/>
              </a:rPr>
              <a:t>Solar installations, funding support</a:t>
            </a:r>
          </a:p>
          <a:p xmlns:a="http://schemas.openxmlformats.org/drawingml/2006/main">
            <a:pPr>
              <a:defRPr sz="1875" b="0">
                <a:solidFill>
                  <a:srgbClr val="E1EFEB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E1EFEB"/>
                </a:solidFill>
                <a:latin typeface="Ubuntu"/>
                <a:ea typeface="Ubuntu"/>
                <a:cs typeface="Ubuntu"/>
              </a:rPr>
              <a:t>and energy control for campsites</a:t>
            </a:r>
          </a:p>
          <a:p xmlns:a="http://schemas.openxmlformats.org/drawingml/2006/main">
            <a:pPr>
              <a:defRPr sz="1875" b="0">
                <a:solidFill>
                  <a:srgbClr val="E1EFEB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E1EFEB"/>
                </a:solidFill>
                <a:latin typeface="Ubuntu"/>
                <a:ea typeface="Ubuntu"/>
                <a:cs typeface="Ubuntu"/>
              </a:rPr>
              <a:t>and holiday resorts.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3B7AB2-B10C-410F-8155-101354F9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€700,000 market-validation round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223C19-13B8-4D34-B96F-0214E294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008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Confidential · October 2026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59463E4-3B38-4C82-A67F-462E975C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900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AI-generated concept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124698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E1D55B8-0DF2-4925-8EFF-14F102B0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 12,307-site launch-country inventory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79CF62E8-2C0C-4DD5-B3DC-BED51BA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Campsites first. Spain, Italy and France establish the starting prospect universe.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3A60E3A2-08AE-4643-A06E-800ED2F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A612D9D7-71FC-4A80-84D2-32BC46B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02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E22BCD90-D34A-44F1-85BE-F8488F9F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EU: 2025 NACE I553 establishments, all sizes / ratings. UK: broader parks + campsites, 2023. Eligible market is smaller.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04850" y="2647950"/>
          <a:ext xmlns:a="http://schemas.openxmlformats.org/drawingml/2006/main" cx="10782300" cy="2809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2762250"/>
                <a:gridCol w="2190750"/>
                <a:gridCol w="2400300"/>
              </a:tblGrid>
              <a:tr h="40141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Country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Establishments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Reference year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Phase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Spain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1,431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2025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Launch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Italy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2,880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2025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Launch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France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7,996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2025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Launch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Belgium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379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2025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Expansion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Netherlands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2,630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2025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Expansion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United Kingdom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6,169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2023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Expansion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5E78A336-0A6B-4616-ACB4-6A0E210C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21,485 indicative sites across six markets · mixed scope and years</a:t>
            </a:r>
          </a:p>
        </p:txBody>
      </p:sp>
    </p:spTree>
    <p:extLst>
      <p:ext uri="{BB962C8B-B14F-4D97-AF65-F5344CB8AC3E}">
        <p14:creationId xmlns:p14="http://schemas.microsoft.com/office/powerpoint/2010/main" val="795149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3">
            <a:extLst xmlns:a="http://schemas.openxmlformats.org/drawingml/2006/main">
              <a:ext uri="{FF2B5EF4-FFF2-40B4-BE49-F238E27FC236}">
                <a16:creationId xmlns:a16="http://schemas.microsoft.com/office/drawing/2014/main" id="{78DC50C8-8CC7-4D6F-AA9F-649CF91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Five parts of one offer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A16883AF-C0A7-4827-8F7A-F6C6DB3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A shared back office connects acquisition, funding, engineering, delivery and operation.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F0547A52-FBA0-4D92-B605-ED7689BF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A67175FD-5B12-4CAB-B535-69C7DFDF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03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9856A65A-312D-4756-8B63-D02BF25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1</a:t>
            </a:r>
          </a:p>
        </p:txBody>
      </p:sp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252DDAEB-42D2-4432-8D70-B7F98FDA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955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CampaignBuilder + wizard</a:t>
            </a:r>
          </a:p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C2A635E9-033D-4080-B2DB-65733942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9557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Complete site data and purchasing intent before technical review.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D9348FDA-DB5F-44F5-956E-B0A9834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1D23E8C5-E99F-44D8-A2D0-1425AB51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Grant team + back office</a:t>
            </a:r>
          </a:p>
        </p:txBody>
      </p:sp>
      <p:sp>
        <p:nvSpPr>
          <p:cNvPr id="10" name="text-22">
            <a:extLst xmlns:a="http://schemas.openxmlformats.org/drawingml/2006/main">
              <a:ext uri="{FF2B5EF4-FFF2-40B4-BE49-F238E27FC236}">
                <a16:creationId xmlns:a16="http://schemas.microsoft.com/office/drawing/2014/main" id="{FD99CE58-CD49-40AD-91E9-39B0093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Screen support, prepare applications and track eco-label evidence.</a:t>
            </a:r>
          </a:p>
        </p:txBody>
      </p:sp>
      <p:sp>
        <p:nvSpPr>
          <p:cNvPr id="11" name="text-23">
            <a:extLst xmlns:a="http://schemas.openxmlformats.org/drawingml/2006/main">
              <a:ext uri="{FF2B5EF4-FFF2-40B4-BE49-F238E27FC236}">
                <a16:creationId xmlns:a16="http://schemas.microsoft.com/office/drawing/2014/main" id="{9D001E9F-BF8B-4736-BC94-2294CA1A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3</a:t>
            </a:r>
          </a:p>
        </p:txBody>
      </p: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A91716C7-3B96-4061-B5C8-7944A893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Engineering + cost model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709FEB6A-BA52-404E-96DB-E1B7213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Size PV and storage. Price carports by square metre. Validate quotes.</a:t>
            </a:r>
          </a:p>
        </p:txBody>
      </p:sp>
      <p:sp>
        <p:nvSpPr>
          <p:cNvPr id="14" name="text-26">
            <a:extLst xmlns:a="http://schemas.openxmlformats.org/drawingml/2006/main">
              <a:ext uri="{FF2B5EF4-FFF2-40B4-BE49-F238E27FC236}">
                <a16:creationId xmlns:a16="http://schemas.microsoft.com/office/drawing/2014/main" id="{6FF67EDB-D114-4BD7-8FF4-E46C34C5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4</a:t>
            </a:r>
          </a:p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ADFB1F6A-1AC7-4AE3-B5AA-97A7112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Supplier + contractor portals</a:t>
            </a:r>
          </a:p>
        </p:txBody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A546F365-677D-4C0B-9F5D-83847A46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Confirm stock, lead times and installation slots with approved alternatives.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96E35405-FB56-471D-A592-8BB3FDC8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5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B420BFB8-F431-4F6F-9313-C73CDFE8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9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Eco Grid Pilot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72D89FC9-57B6-4E46-A020-19EB58B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Connect supported inverters and batteries to dispatch available energy.</a:t>
            </a:r>
          </a:p>
        </p:txBody>
      </p:sp>
    </p:spTree>
    <p:extLst>
      <p:ext uri="{BB962C8B-B14F-4D97-AF65-F5344CB8AC3E}">
        <p14:creationId xmlns:p14="http://schemas.microsoft.com/office/powerpoint/2010/main" val="73412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2">
            <a:extLst xmlns:a="http://schemas.openxmlformats.org/drawingml/2006/main">
              <a:ext uri="{FF2B5EF4-FFF2-40B4-BE49-F238E27FC236}">
                <a16:creationId xmlns:a16="http://schemas.microsoft.com/office/drawing/2014/main" id="{8D7867DA-11CD-4383-9603-5178A7C0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Acquisition starts with a completed wizard</a:t>
            </a:r>
          </a:p>
        </p:txBody>
      </p:sp>
      <p:sp>
        <p:nvSpPr>
          <p:cNvPr id="2" name="text-33">
            <a:extLst xmlns:a="http://schemas.openxmlformats.org/drawingml/2006/main">
              <a:ext uri="{FF2B5EF4-FFF2-40B4-BE49-F238E27FC236}">
                <a16:creationId xmlns:a16="http://schemas.microsoft.com/office/drawing/2014/main" id="{5365CB6A-3670-45AC-9820-E0BD2060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Year-1 targets convert 200 complete applications into 20 commissioned sites.</a:t>
            </a:r>
          </a:p>
        </p:txBody>
      </p:sp>
      <p:sp>
        <p:nvSpPr>
          <p:cNvPr id="3" name="text-34">
            <a:extLst xmlns:a="http://schemas.openxmlformats.org/drawingml/2006/main">
              <a:ext uri="{FF2B5EF4-FFF2-40B4-BE49-F238E27FC236}">
                <a16:creationId xmlns:a16="http://schemas.microsoft.com/office/drawing/2014/main" id="{1A7EE1E0-9D21-4CCF-B101-40B5DBDB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35">
            <a:extLst xmlns:a="http://schemas.openxmlformats.org/drawingml/2006/main">
              <a:ext uri="{FF2B5EF4-FFF2-40B4-BE49-F238E27FC236}">
                <a16:creationId xmlns:a16="http://schemas.microsoft.com/office/drawing/2014/main" id="{94496CCD-B42F-47C6-8CCC-778ACBDD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04</a:t>
            </a:r>
          </a:p>
        </p:txBody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E5CFD0BA-EF4D-47C8-B5FD-31A652BA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New targets. Conversion and campaign reach require validation. Completion alone does not prove technical fit.</a:t>
            </a:r>
          </a:p>
        </p:txBody>
      </p:sp>
      <p:sp>
        <p:nvSpPr>
          <p:cNvPr id="6" name="text-37">
            <a:extLst xmlns:a="http://schemas.openxmlformats.org/drawingml/2006/main">
              <a:ext uri="{FF2B5EF4-FFF2-40B4-BE49-F238E27FC236}">
                <a16:creationId xmlns:a16="http://schemas.microsoft.com/office/drawing/2014/main" id="{38D39962-FB0E-4133-8E52-7A36B7EC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8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200</a:t>
            </a:r>
          </a:p>
        </p:txBody>
      </p:sp>
      <p:sp>
        <p:nvSpPr>
          <p:cNvPr id="7" name="text-38">
            <a:extLst xmlns:a="http://schemas.openxmlformats.org/drawingml/2006/main">
              <a:ext uri="{FF2B5EF4-FFF2-40B4-BE49-F238E27FC236}">
                <a16:creationId xmlns:a16="http://schemas.microsoft.com/office/drawing/2014/main" id="{653E6317-6866-4267-9A77-80EDFDC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3350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Completed wizards</a:t>
            </a:r>
          </a:p>
        </p:txBody>
      </p: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0587B366-3607-402C-BFAE-FDB041F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8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40</a:t>
            </a:r>
          </a:p>
        </p:txBody>
      </p:sp>
      <p:sp>
        <p:nvSpPr>
          <p:cNvPr id="9" name="text-40">
            <a:extLst xmlns:a="http://schemas.openxmlformats.org/drawingml/2006/main">
              <a:ext uri="{FF2B5EF4-FFF2-40B4-BE49-F238E27FC236}">
                <a16:creationId xmlns:a16="http://schemas.microsoft.com/office/drawing/2014/main" id="{BE3FDE90-7EBB-412E-8E02-DEFCDDA7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Audited opportunities</a:t>
            </a:r>
          </a:p>
        </p:txBody>
      </p:sp>
      <p:sp>
        <p:nvSpPr>
          <p:cNvPr id="10" name="text-41">
            <a:extLst xmlns:a="http://schemas.openxmlformats.org/drawingml/2006/main">
              <a:ext uri="{FF2B5EF4-FFF2-40B4-BE49-F238E27FC236}">
                <a16:creationId xmlns:a16="http://schemas.microsoft.com/office/drawing/2014/main" id="{2FC3D18B-725F-45CD-A352-18B9A42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58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20</a:t>
            </a:r>
          </a:p>
        </p:txBody>
      </p:sp>
      <p:sp>
        <p:nvSpPr>
          <p:cNvPr id="11" name="text-42">
            <a:extLst xmlns:a="http://schemas.openxmlformats.org/drawingml/2006/main">
              <a:ext uri="{FF2B5EF4-FFF2-40B4-BE49-F238E27FC236}">
                <a16:creationId xmlns:a16="http://schemas.microsoft.com/office/drawing/2014/main" id="{C1985707-1D58-4552-8241-AFF8DD7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43350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Installed customers</a:t>
            </a:r>
          </a:p>
        </p:txBody>
      </p:sp>
      <p:sp>
        <p:nvSpPr>
          <p:cNvPr id="12" name="text-43">
            <a:extLst xmlns:a="http://schemas.openxmlformats.org/drawingml/2006/main">
              <a:ext uri="{FF2B5EF4-FFF2-40B4-BE49-F238E27FC236}">
                <a16:creationId xmlns:a16="http://schemas.microsoft.com/office/drawing/2014/main" id="{6AA1584F-4117-47C9-B24D-025298A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Up to 12,000 prospect records, then filter the 12,307-site launch inventory</a:t>
            </a:r>
          </a:p>
        </p:txBody>
      </p:sp>
      <p:sp>
        <p:nvSpPr>
          <p:cNvPr id="13" name="text-44">
            <a:extLst xmlns:a="http://schemas.openxmlformats.org/drawingml/2006/main">
              <a:ext uri="{FF2B5EF4-FFF2-40B4-BE49-F238E27FC236}">
                <a16:creationId xmlns:a16="http://schemas.microsoft.com/office/drawing/2014/main" id="{A3919B99-C9E8-43E0-A2DB-A34011F8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€180k sales + marketing budget. €9,000 acquisition cost per installed site.</a:t>
            </a:r>
          </a:p>
        </p:txBody>
      </p:sp>
    </p:spTree>
    <p:extLst>
      <p:ext uri="{BB962C8B-B14F-4D97-AF65-F5344CB8AC3E}">
        <p14:creationId xmlns:p14="http://schemas.microsoft.com/office/powerpoint/2010/main" val="1912963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D94F3183-5FC0-42F3-A6A6-09EBC8FC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Nine profiles across size and star rating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3FF91C66-4913-4EC6-9E35-A4306B45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delivery cost and net facility savings for the proposed solar-first package.</a:t>
            </a:r>
          </a:p>
        </p:txBody>
      </p:sp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15E1B171-D209-4128-95C3-DBFFDC48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4147ED6A-9A09-48FE-9700-8DEC734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05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DF3A04B2-1B64-4D6E-B4C1-384536A6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Baseline €0.22/kWh, no grant. Net savings deduct software + maintenance. Costs are budget estimates, excluding VAT.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571750"/>
          <a:ext xmlns:a="http://schemas.openxmlformats.org/drawingml/2006/main" cx="107823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428875"/>
                <a:gridCol w="2428875"/>
                <a:gridCol w="2828925"/>
              </a:tblGrid>
              <a:tr h="3086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Facility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ECOGRID cost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Client price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Net savings / yr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€50.2k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€77.2k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€4.6k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€60.7k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€93.3k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€7.0k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€80.0k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€123.0k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€11.2k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€229.6k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€353.2k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€31.9k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€301.5k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€463.8k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€45.8k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€399.6k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€614.8k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€64.6k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€600.2k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€923.4k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€95.9k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€790.5k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€1.22m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€131.6k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€982.6k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€1.51m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€168.5k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699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8B700486-3B25-441E-A3F3-F722D166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Medium and Large sites lead the rollout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A59A1500-DDCA-4E6E-BE09-19EB19BB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The mix weights project scale without forcing costly storage onto smaller sites.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A5656302-787F-439C-804A-4BEE1B2B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B0C51AE5-F8DA-411D-958B-5B9405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06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8B58F703-6186-420A-8CA2-B7221C42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Small-site paybacks are weaker. Selective solar-only entry offers need individual commercial validation.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48B58601-748E-414D-8EC9-E6427BD2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20%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FEAFD8EC-F34F-4F84-9FA9-0BDF7B51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95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Small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F065CC0C-5D84-4CB8-9F24-2AE28C8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50–150 pitches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09EE1B4D-90F7-4A0A-9D07-96EEE2EE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517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55%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86E81564-4179-4FF0-8D3A-117C35A1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Medium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2279DAF6-DDE7-4844-9BFD-8D05F33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150–350 pitches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5916DCBC-94F5-4974-95D3-5D67876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5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25%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42B4EAAD-198E-45CB-8F43-19FB985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95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Large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16870014-985B-4624-8F12-CEA4D55F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350–700 pitches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822A2B56-B04D-4B5C-B665-3A75B902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Weighted delivery cost €398.1k / site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288628AA-FB7D-419A-B333-6F478BE3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911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Weighted client price €612.5k</a:t>
            </a:r>
          </a:p>
        </p:txBody>
      </p:sp>
    </p:spTree>
    <p:extLst>
      <p:ext uri="{BB962C8B-B14F-4D97-AF65-F5344CB8AC3E}">
        <p14:creationId xmlns:p14="http://schemas.microsoft.com/office/powerpoint/2010/main" val="1319597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6">
            <a:extLst xmlns:a="http://schemas.openxmlformats.org/drawingml/2006/main">
              <a:ext uri="{FF2B5EF4-FFF2-40B4-BE49-F238E27FC236}">
                <a16:creationId xmlns:a16="http://schemas.microsoft.com/office/drawing/2014/main" id="{AFE2B1C8-3994-4A55-BD4C-C6BF17D3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 4-star Medium site, priced by quantity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47B02DB0-32CE-4727-9B10-69B41B29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374 modules. 205.7 kWp PV. 130 kWh storage. 194 m² carport structure.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4D3022AA-8F92-4271-910C-EFDAE010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919C9080-8BA0-4715-8929-23642CB0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07</a:t>
            </a:r>
          </a:p>
        </p:txBody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112D85B1-17B5-4D2B-9B23-C7A38B5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PV €900/kWp. Battery €300/kWh. Structure €180/m². New budget hypotheses, subject to engineering and partner quotes.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647950"/>
          <a:ext xmlns:a="http://schemas.openxmlformats.org/drawingml/2006/main" cx="107823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86200"/>
                <a:gridCol w="4067175"/>
                <a:gridCol w="2828925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Installation scope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Cost basis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Budget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PV package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205.7 kWp × €900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€185,130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Battery package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130 kWh × €300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€39,000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Carport structure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194 m² × €180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€34,920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Engineering + controls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Medium-site allowance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€15,000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Delivery contingency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10% of subtotal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€27,405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Total delivery cost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Excluding VAT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€301,455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905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1">
            <a:extLst xmlns:a="http://schemas.openxmlformats.org/drawingml/2006/main">
              <a:ext uri="{FF2B5EF4-FFF2-40B4-BE49-F238E27FC236}">
                <a16:creationId xmlns:a16="http://schemas.microsoft.com/office/drawing/2014/main" id="{D77D653D-590D-4716-B2DB-06149B49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Funding support is a dedicated service</a:t>
            </a:r>
          </a:p>
        </p:txBody>
      </p:sp>
      <p:sp>
        <p:nvSpPr>
          <p:cNvPr id="2" name="text-72">
            <a:extLst xmlns:a="http://schemas.openxmlformats.org/drawingml/2006/main">
              <a:ext uri="{FF2B5EF4-FFF2-40B4-BE49-F238E27FC236}">
                <a16:creationId xmlns:a16="http://schemas.microsoft.com/office/drawing/2014/main" id="{5EB8DB8D-3929-4623-99BD-B64B6468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Country rules and application evidence live in one back-office workflow.</a:t>
            </a:r>
          </a:p>
        </p:txBody>
      </p:sp>
      <p:sp>
        <p:nvSpPr>
          <p:cNvPr id="3" name="text-73">
            <a:extLst xmlns:a="http://schemas.openxmlformats.org/drawingml/2006/main">
              <a:ext uri="{FF2B5EF4-FFF2-40B4-BE49-F238E27FC236}">
                <a16:creationId xmlns:a16="http://schemas.microsoft.com/office/drawing/2014/main" id="{1CC35028-711D-46E3-8664-61E9BC67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BE4F09B9-0843-4392-B8A0-E938A1A8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08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16060A1C-8D47-46CE-854E-52DA097A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No grant awards or success fees in the forecast. Grants, tax relief, loans and export payments are different instruments.</a:t>
            </a: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018C777F-5BE4-4190-AC68-9BA04C8F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Launch markets</a:t>
            </a: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B6371DB8-4D30-4DBF-B9E6-FF00633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Spain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Current regional / IDAE eligibility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47A0A38B-A27B-491C-9B5C-31F0B89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Italy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Regional calls / GSE configuration checks</a:t>
            </a:r>
          </a:p>
        </p:txBody>
      </p:sp>
      <p:sp>
        <p:nvSpPr>
          <p:cNvPr id="9" name="text-79">
            <a:extLst xmlns:a="http://schemas.openxmlformats.org/drawingml/2006/main">
              <a:ext uri="{FF2B5EF4-FFF2-40B4-BE49-F238E27FC236}">
                <a16:creationId xmlns:a16="http://schemas.microsoft.com/office/drawing/2014/main" id="{70D51AE6-351F-4102-AFCC-973CCD8E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France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ADEME / regional funding eligibility</a:t>
            </a:r>
          </a:p>
        </p:txBody>
      </p:sp>
      <p:sp>
        <p:nvSpPr>
          <p:cNvPr id="10" name="text-80">
            <a:extLst xmlns:a="http://schemas.openxmlformats.org/drawingml/2006/main">
              <a:ext uri="{FF2B5EF4-FFF2-40B4-BE49-F238E27FC236}">
                <a16:creationId xmlns:a16="http://schemas.microsoft.com/office/drawing/2014/main" id="{A863BC32-6F1F-41F7-BA7A-541392B1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Expansion and EU routes</a:t>
            </a:r>
          </a:p>
        </p:txBody>
      </p: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2B630205-F4F2-4A1E-A4F0-E1FD2497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Belgium, Netherlands, UK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Separate country and regional support screens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33FD0041-A0DB-426D-8F87-36D9E234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European Union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Competitive LIFE calls and eco-label criteria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1A2C591B-5F26-462F-9ECD-3193B16F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768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Dedicated team prepares and tracks dossiers</a:t>
            </a:r>
          </a:p>
        </p:txBody>
      </p:sp>
    </p:spTree>
    <p:extLst>
      <p:ext uri="{BB962C8B-B14F-4D97-AF65-F5344CB8AC3E}">
        <p14:creationId xmlns:p14="http://schemas.microsoft.com/office/powerpoint/2010/main" val="367520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4">
            <a:extLst xmlns:a="http://schemas.openxmlformats.org/drawingml/2006/main">
              <a:ext uri="{FF2B5EF4-FFF2-40B4-BE49-F238E27FC236}">
                <a16:creationId xmlns:a16="http://schemas.microsoft.com/office/drawing/2014/main" id="{08E632EA-7337-405D-83C9-806A5A0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Eco Grid Pilot follows the site load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FC0E6DD0-A345-41E6-9C8F-6DF33385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Planned control software directs production, storage and permitted export.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83F5DE6F-8111-497A-803A-A9955CF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87">
            <a:extLst xmlns:a="http://schemas.openxmlformats.org/drawingml/2006/main">
              <a:ext uri="{FF2B5EF4-FFF2-40B4-BE49-F238E27FC236}">
                <a16:creationId xmlns:a16="http://schemas.microsoft.com/office/drawing/2014/main" id="{3556AFC4-D846-417A-855D-E5AD827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09</a:t>
            </a:r>
          </a:p>
        </p:txBody>
      </p:sp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F03B4166-1412-431E-A481-B1D6CFC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Illustrative kW values, not telemetry. Battery availability, local controls and grid permission constrain dispatch.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2714625"/>
          <a:ext xmlns:a="http://schemas.openxmlformats.org/drawingml/2006/main" cx="6667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f43f157beb486f"/>
          </a:graphicData>
        </a:graphic>
      </p:graphicFrame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3245F322-127D-46D8-B9BC-34AEAC9F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40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At noon</a:t>
            </a:r>
          </a:p>
        </p:txBody>
      </p: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CF2B235B-D0EB-4DC0-A9F0-D1C326CD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29000"/>
            <a:ext cx="34290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95 kW serves the site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35 kW charges storage</a:t>
            </a:r>
          </a:p>
          <a:p xmlns:a="http://schemas.openxmlformats.org/drawingml/2006/main">
            <a:pPr>
              <a:defRPr sz="1800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 kW exports to the grid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A007A13C-DD8D-4EFD-9F7E-F785901B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05375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Supported device APIs and fail-safe settings govern automation.</a:t>
            </a:r>
          </a:p>
        </p:txBody>
      </p:sp>
    </p:spTree>
    <p:extLst>
      <p:ext uri="{BB962C8B-B14F-4D97-AF65-F5344CB8AC3E}">
        <p14:creationId xmlns:p14="http://schemas.microsoft.com/office/powerpoint/2010/main" val="1171880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79C762ED-24F1-444C-81D7-D20384D0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Direct sales lead. Asset finance stays separate.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A3CB6C71-2231-4F26-A842-9CC164C8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Both routes use the same platform. The €700k raise funds the operating company.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5FB087CE-D6C7-4C4D-A7B9-909FAADD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95">
            <a:extLst xmlns:a="http://schemas.openxmlformats.org/drawingml/2006/main">
              <a:ext uri="{FF2B5EF4-FFF2-40B4-BE49-F238E27FC236}">
                <a16:creationId xmlns:a16="http://schemas.microsoft.com/office/drawing/2014/main" id="{FED65B56-A611-4DB1-A389-8BD7140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5" name="text-96">
            <a:extLst xmlns:a="http://schemas.openxmlformats.org/drawingml/2006/main">
              <a:ext uri="{FF2B5EF4-FFF2-40B4-BE49-F238E27FC236}">
                <a16:creationId xmlns:a16="http://schemas.microsoft.com/office/drawing/2014/main" id="{CD36AD39-A737-4F57-A3D6-7F46DC2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4★ Medium baseline. Financed partner funds quoted plant price. Asset returns exclude debt, tax and replacement reserves.</a:t>
            </a:r>
          </a:p>
        </p:txBody>
      </p:sp>
      <p:sp>
        <p:nvSpPr>
          <p:cNvPr id="6" name="text-97">
            <a:extLst xmlns:a="http://schemas.openxmlformats.org/drawingml/2006/main">
              <a:ext uri="{FF2B5EF4-FFF2-40B4-BE49-F238E27FC236}">
                <a16:creationId xmlns:a16="http://schemas.microsoft.com/office/drawing/2014/main" id="{A68B2DBB-31A4-4919-B5D9-5487D96F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Resort-funded installation</a:t>
            </a:r>
          </a:p>
        </p:txBody>
      </p:sp>
      <p:sp>
        <p:nvSpPr>
          <p:cNvPr id="7" name="text-98">
            <a:extLst xmlns:a="http://schemas.openxmlformats.org/drawingml/2006/main">
              <a:ext uri="{FF2B5EF4-FFF2-40B4-BE49-F238E27FC236}">
                <a16:creationId xmlns:a16="http://schemas.microsoft.com/office/drawing/2014/main" id="{31D320F8-DD07-43B1-B68E-BCF033F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718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6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€463,777</a:t>
            </a:r>
          </a:p>
        </p:txBody>
      </p:sp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E94BAC3B-BC3A-4A4C-AC8E-5FFBBCDF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504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ECOGRID earns 35% target project margin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€8,000 annual software + maintenance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Resort retains €45,845 net savings / year</a:t>
            </a:r>
          </a:p>
        </p:txBody>
      </p:sp>
      <p:sp>
        <p:nvSpPr>
          <p:cNvPr id="9" name="text-100">
            <a:extLst xmlns:a="http://schemas.openxmlformats.org/drawingml/2006/main">
              <a:ext uri="{FF2B5EF4-FFF2-40B4-BE49-F238E27FC236}">
                <a16:creationId xmlns:a16="http://schemas.microsoft.com/office/drawing/2014/main" id="{D746D1DB-398C-4D7E-94F2-9ABAEAEF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Separately funded asset</a:t>
            </a:r>
          </a:p>
        </p:txBody>
      </p:sp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A3806771-3F56-49C1-9BE6-4E8A3ED7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501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62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Proposed €0 resort plant CAPEX</a:t>
            </a:r>
          </a:p>
        </p:txBody>
      </p:sp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7C526693-D074-4EF0-9F10-16E5403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5038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60% asset-owner / 40% resort savings share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€28,307 asset cash / year before reserves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16.4 years simple asset payback</a:t>
            </a:r>
          </a:p>
        </p:txBody>
      </p:sp>
    </p:spTree>
    <p:extLst>
      <p:ext uri="{BB962C8B-B14F-4D97-AF65-F5344CB8AC3E}">
        <p14:creationId xmlns:p14="http://schemas.microsoft.com/office/powerpoint/2010/main" val="1331680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03">
            <a:extLst xmlns:a="http://schemas.openxmlformats.org/drawingml/2006/main">
              <a:ext uri="{FF2B5EF4-FFF2-40B4-BE49-F238E27FC236}">
                <a16:creationId xmlns:a16="http://schemas.microsoft.com/office/drawing/2014/main" id="{38AE37C2-94A0-4D35-8205-0846700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200 connected sites in three commercial years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20DD7478-5212-4024-801F-1C2DC94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20 / 60 / 120 new installations. An acceleration of the July plan’s 15 / 40 / 80.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4E64F25C-B9E0-4809-A583-4561E0E9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14E91F5D-89A1-435A-972E-767D877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11</a:t>
            </a:r>
          </a:p>
        </p:txBody>
      </p:sp>
      <p:sp>
        <p:nvSpPr>
          <p:cNvPr id="5" name="text-107">
            <a:extLst xmlns:a="http://schemas.openxmlformats.org/drawingml/2006/main">
              <a:ext uri="{FF2B5EF4-FFF2-40B4-BE49-F238E27FC236}">
                <a16:creationId xmlns:a16="http://schemas.microsoft.com/office/drawing/2014/main" id="{D28E7A8A-4A90-47ED-AA5C-FF2F9CF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Growth target, not signed pipeline. Direct sales only. Half-year service revenue for new cohorts, no churn.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2686050"/>
          <a:ext xmlns:a="http://schemas.openxmlformats.org/drawingml/2006/main" cx="6143625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ad1f3a05ab4a3c"/>
          </a:graphicData>
        </a:graphic>
      </p:graphicFrame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438B3CF7-8D8E-41FE-966F-198618B9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76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412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€1.71m</a:t>
            </a:r>
          </a:p>
        </p:txBody>
      </p:sp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F7ED0045-85F4-4AF4-8A74-61B128E7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67125"/>
            <a:ext cx="3476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Year-3 software + maintenance run rate</a:t>
            </a:r>
          </a:p>
        </p:txBody>
      </p:sp>
      <p:sp>
        <p:nvSpPr>
          <p:cNvPr id="9" name="text-110">
            <a:extLst xmlns:a="http://schemas.openxmlformats.org/drawingml/2006/main">
              <a:ext uri="{FF2B5EF4-FFF2-40B4-BE49-F238E27FC236}">
                <a16:creationId xmlns:a16="http://schemas.microsoft.com/office/drawing/2014/main" id="{76598F83-A48B-42A6-845D-CE99BF38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72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€790.0k</a:t>
            </a:r>
          </a:p>
        </p:txBody>
      </p:sp>
      <p:sp>
        <p:nvSpPr>
          <p:cNvPr id="10" name="text-111">
            <a:extLst xmlns:a="http://schemas.openxmlformats.org/drawingml/2006/main">
              <a:ext uri="{FF2B5EF4-FFF2-40B4-BE49-F238E27FC236}">
                <a16:creationId xmlns:a16="http://schemas.microsoft.com/office/drawing/2014/main" id="{AECFBB6B-4E1D-4B84-8B13-F28CF877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Software-only run rate within that total</a:t>
            </a:r>
          </a:p>
        </p:txBody>
      </p:sp>
    </p:spTree>
    <p:extLst>
      <p:ext uri="{BB962C8B-B14F-4D97-AF65-F5344CB8AC3E}">
        <p14:creationId xmlns:p14="http://schemas.microsoft.com/office/powerpoint/2010/main" val="70201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A7CC6D8D-1BC6-4405-AE87-CE1448C8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Revenue and cost grow with delivered projects</a:t>
            </a:r>
          </a:p>
        </p:txBody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CD9E37D6-FF2E-4575-BEE8-A918F6D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Illustrative operating-company performance. All values in EUR millions.</a:t>
            </a:r>
          </a:p>
        </p:txBody>
      </p:sp>
      <p:sp>
        <p:nvSpPr>
          <p:cNvPr id="3" name="text-114">
            <a:extLst xmlns:a="http://schemas.openxmlformats.org/drawingml/2006/main">
              <a:ext uri="{FF2B5EF4-FFF2-40B4-BE49-F238E27FC236}">
                <a16:creationId xmlns:a16="http://schemas.microsoft.com/office/drawing/2014/main" id="{EE8199D1-7F9A-4840-BAE3-8BB2BD0B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B2192F2C-6987-4984-8123-C5F5435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12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CA9D1A1E-20B9-424F-A216-68B22518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Targets: 35% works / 65% service gross margin. EBITDA excludes software CAPEX, depreciation, financing and tax.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647950"/>
          <a:ext xmlns:a="http://schemas.openxmlformats.org/drawingml/2006/main" cx="10782300" cy="3057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24400"/>
                <a:gridCol w="2019300"/>
                <a:gridCol w="2019300"/>
                <a:gridCol w="2019300"/>
              </a:tblGrid>
              <a:tr h="43678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EUR millions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2027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2028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2029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Revenue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12.34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37.18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74.70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Installation cost of sales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7.96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23.89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47.78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Service revenue recognised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0.09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0.43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1.20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Gross profit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4.34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13.14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26.50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Operating expenses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0.59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1.10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1.80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Illustrative EBITDA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3.75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12.04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24.70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0281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D3FDD752-30C6-43B1-ACB6-6FDA6821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Delivery capacity is part of the growth plan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ACE7EBF0-1AA2-4AF6-A849-004A4C8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Supplier and contractor portals turn demand into confirmed delivery slots.</a:t>
            </a:r>
          </a:p>
        </p:txBody>
      </p:sp>
      <p:sp>
        <p:nvSpPr>
          <p:cNvPr id="3" name="text-119">
            <a:extLst xmlns:a="http://schemas.openxmlformats.org/drawingml/2006/main">
              <a:ext uri="{FF2B5EF4-FFF2-40B4-BE49-F238E27FC236}">
                <a16:creationId xmlns:a16="http://schemas.microsoft.com/office/drawing/2014/main" id="{75EE1A3C-B608-4019-846D-9348AA1E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B12FA9FF-9F35-49F4-9279-684B0E3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13</a:t>
            </a:r>
          </a:p>
        </p:txBody>
      </p:sp>
      <p:sp>
        <p:nvSpPr>
          <p:cNvPr id="5" name="text-121">
            <a:extLst xmlns:a="http://schemas.openxmlformats.org/drawingml/2006/main">
              <a:ext uri="{FF2B5EF4-FFF2-40B4-BE49-F238E27FC236}">
                <a16:creationId xmlns:a16="http://schemas.microsoft.com/office/drawing/2014/main" id="{45AB211B-2E11-4FFE-BC23-4265F25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Crew capacity is a planning assumption. Country expansion follows demonstrated delivery and collections.</a:t>
            </a:r>
          </a:p>
        </p:txBody>
      </p:sp>
      <p:sp>
        <p:nvSpPr>
          <p:cNvPr id="6" name="text-122">
            <a:extLst xmlns:a="http://schemas.openxmlformats.org/drawingml/2006/main">
              <a:ext uri="{FF2B5EF4-FFF2-40B4-BE49-F238E27FC236}">
                <a16:creationId xmlns:a16="http://schemas.microsoft.com/office/drawing/2014/main" id="{CE5D44CC-0367-48E1-AEA4-F00042D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35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427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2 / 6 / 12</a:t>
            </a:r>
          </a:p>
        </p:txBody>
      </p:sp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B262B2A8-81CA-4903-B94B-80131E0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Installation crews</a:t>
            </a:r>
          </a:p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 1 / 2 / 3</a:t>
            </a:r>
          </a:p>
        </p:txBody>
      </p:sp>
      <p:sp>
        <p:nvSpPr>
          <p:cNvPr id="8" name="text-124">
            <a:extLst xmlns:a="http://schemas.openxmlformats.org/drawingml/2006/main">
              <a:ext uri="{FF2B5EF4-FFF2-40B4-BE49-F238E27FC236}">
                <a16:creationId xmlns:a16="http://schemas.microsoft.com/office/drawing/2014/main" id="{6106A1E8-721D-418C-84E9-40A8B96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335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4275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10</a:t>
            </a:r>
          </a:p>
        </p:txBody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D6287C6B-0CBB-4541-A6B0-2A210930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Sites commissioned</a:t>
            </a:r>
          </a:p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per crew per year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83B3D223-9D3B-43CD-A138-529CA159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5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0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€9k / €6k / €5k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F71FFE4B-94F5-4968-9120-7515117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Sales + marketing CAC</a:t>
            </a:r>
          </a:p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Year 1 / 2 / 3</a:t>
            </a:r>
          </a:p>
        </p:txBody>
      </p:sp>
      <p:sp>
        <p:nvSpPr>
          <p:cNvPr id="12" name="text-128">
            <a:extLst xmlns:a="http://schemas.openxmlformats.org/drawingml/2006/main">
              <a:ext uri="{FF2B5EF4-FFF2-40B4-BE49-F238E27FC236}">
                <a16:creationId xmlns:a16="http://schemas.microsoft.com/office/drawing/2014/main" id="{3D9AA50B-6B49-441B-9EDB-A4F8A87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Launch: Spain, Italy and France</a:t>
            </a:r>
          </a:p>
        </p:txBody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05241664-1F45-4829-B40C-95285A61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Then Belgium, Netherlands and UK after repeatable site economics</a:t>
            </a:r>
          </a:p>
        </p:txBody>
      </p:sp>
    </p:spTree>
    <p:extLst>
      <p:ext uri="{BB962C8B-B14F-4D97-AF65-F5344CB8AC3E}">
        <p14:creationId xmlns:p14="http://schemas.microsoft.com/office/powerpoint/2010/main" val="7283540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30">
            <a:extLst xmlns:a="http://schemas.openxmlformats.org/drawingml/2006/main">
              <a:ext uri="{FF2B5EF4-FFF2-40B4-BE49-F238E27FC236}">
                <a16:creationId xmlns:a16="http://schemas.microsoft.com/office/drawing/2014/main" id="{448D66E3-E36E-48DE-BE32-74BAE6E1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Round 1: €700k to test the market</a:t>
            </a:r>
          </a:p>
        </p:txBody>
      </p:sp>
      <p:sp>
        <p:nvSpPr>
          <p:cNvPr id="2" name="text-131">
            <a:extLst xmlns:a="http://schemas.openxmlformats.org/drawingml/2006/main">
              <a:ext uri="{FF2B5EF4-FFF2-40B4-BE49-F238E27FC236}">
                <a16:creationId xmlns:a16="http://schemas.microsoft.com/office/drawing/2014/main" id="{A91BFDFD-1913-405C-B713-B30C78FF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Prove acquisition, delivery margins and cash collection before funding expansion.</a:t>
            </a:r>
          </a:p>
        </p:txBody>
      </p:sp>
      <p:sp>
        <p:nvSpPr>
          <p:cNvPr id="3" name="text-132">
            <a:extLst xmlns:a="http://schemas.openxmlformats.org/drawingml/2006/main">
              <a:ext uri="{FF2B5EF4-FFF2-40B4-BE49-F238E27FC236}">
                <a16:creationId xmlns:a16="http://schemas.microsoft.com/office/drawing/2014/main" id="{D9C6F08F-D495-4FFE-8248-4F88269A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745809D0-1C3E-4B79-9145-8DEA204E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14</a:t>
            </a:r>
          </a:p>
        </p:txBody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3BE0F063-C3FE-4DD5-9223-60DA872E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Staged customer receipts fund delivery. Financed assets need separate capital. Valuation and investment terms remain open.</a:t>
            </a:r>
          </a:p>
        </p:txBody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E4D41A1F-194A-4FD9-9E79-F96B114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4333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68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€700k</a:t>
            </a:r>
          </a:p>
        </p:txBody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0DB0F92A-889E-4BF5-B633-E62745CE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Control capital exposure</a:t>
            </a:r>
          </a:p>
        </p:txBody>
      </p:sp>
      <p:sp>
        <p:nvSpPr>
          <p:cNvPr id="8" name="text-137">
            <a:extLst xmlns:a="http://schemas.openxmlformats.org/drawingml/2006/main">
              <a:ext uri="{FF2B5EF4-FFF2-40B4-BE49-F238E27FC236}">
                <a16:creationId xmlns:a16="http://schemas.microsoft.com/office/drawing/2014/main" id="{F220E9AD-32AF-4D70-ADE4-1DFF3A37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95825"/>
            <a:ext cx="4505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Stage campaign and hiring spend</a:t>
            </a:r>
          </a:p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Secure deposits and delivery terms</a:t>
            </a:r>
          </a:p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Measure savings on commissioned sites</a:t>
            </a:r>
          </a:p>
        </p:txBody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763EF6CD-CFE9-47F0-9E80-F1843FC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Software + integrations</a:t>
            </a:r>
          </a:p>
        </p:txBody>
      </p:sp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DD22C7C3-9BA5-4DD4-B0DC-DBA61A7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€250k</a:t>
            </a:r>
          </a:p>
        </p:txBody>
      </p:sp>
      <p:sp>
        <p:nvSpPr>
          <p:cNvPr id="11" name="text-140">
            <a:extLst xmlns:a="http://schemas.openxmlformats.org/drawingml/2006/main">
              <a:ext uri="{FF2B5EF4-FFF2-40B4-BE49-F238E27FC236}">
                <a16:creationId xmlns:a16="http://schemas.microsoft.com/office/drawing/2014/main" id="{ACBCD206-EC96-4511-BC44-3BF5EFE3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242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Launch hires + grant capability</a:t>
            </a:r>
          </a:p>
        </p:txBody>
      </p:sp>
      <p:sp>
        <p:nvSpPr>
          <p:cNvPr id="12" name="text-141">
            <a:extLst xmlns:a="http://schemas.openxmlformats.org/drawingml/2006/main">
              <a:ext uri="{FF2B5EF4-FFF2-40B4-BE49-F238E27FC236}">
                <a16:creationId xmlns:a16="http://schemas.microsoft.com/office/drawing/2014/main" id="{517DE8E6-9728-4B9C-8B51-E6F150D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24225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€180k</a:t>
            </a:r>
          </a:p>
        </p:txBody>
      </p:sp>
      <p:sp>
        <p:nvSpPr>
          <p:cNvPr id="13" name="text-142">
            <a:extLst xmlns:a="http://schemas.openxmlformats.org/drawingml/2006/main">
              <a:ext uri="{FF2B5EF4-FFF2-40B4-BE49-F238E27FC236}">
                <a16:creationId xmlns:a16="http://schemas.microsoft.com/office/drawing/2014/main" id="{BCE041D2-987D-4BF3-85C8-5458D4A7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862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Campaigns + commercial launch</a:t>
            </a:r>
          </a:p>
        </p:txBody>
      </p:sp>
      <p:sp>
        <p:nvSpPr>
          <p:cNvPr id="14" name="text-143">
            <a:extLst xmlns:a="http://schemas.openxmlformats.org/drawingml/2006/main">
              <a:ext uri="{FF2B5EF4-FFF2-40B4-BE49-F238E27FC236}">
                <a16:creationId xmlns:a16="http://schemas.microsoft.com/office/drawing/2014/main" id="{95A68E66-A786-41DA-BEA4-2513B44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8620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€120k</a:t>
            </a:r>
          </a:p>
        </p:txBody>
      </p:sp>
      <p:sp>
        <p:nvSpPr>
          <p:cNvPr id="15" name="text-144">
            <a:extLst xmlns:a="http://schemas.openxmlformats.org/drawingml/2006/main">
              <a:ext uri="{FF2B5EF4-FFF2-40B4-BE49-F238E27FC236}">
                <a16:creationId xmlns:a16="http://schemas.microsoft.com/office/drawing/2014/main" id="{4B892EC6-9499-4D47-B448-AE0A7C4D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481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Working capital</a:t>
            </a:r>
          </a:p>
        </p:txBody>
      </p:sp>
      <p:sp>
        <p:nvSpPr>
          <p:cNvPr id="16" name="text-145">
            <a:extLst xmlns:a="http://schemas.openxmlformats.org/drawingml/2006/main">
              <a:ext uri="{FF2B5EF4-FFF2-40B4-BE49-F238E27FC236}">
                <a16:creationId xmlns:a16="http://schemas.microsoft.com/office/drawing/2014/main" id="{3184EBE9-A3B3-45BB-8822-C10244F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48175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€100k</a:t>
            </a:r>
          </a:p>
        </p:txBody>
      </p:sp>
      <p:sp>
        <p:nvSpPr>
          <p:cNvPr id="17" name="text-146">
            <a:extLst xmlns:a="http://schemas.openxmlformats.org/drawingml/2006/main">
              <a:ext uri="{FF2B5EF4-FFF2-40B4-BE49-F238E27FC236}">
                <a16:creationId xmlns:a16="http://schemas.microsoft.com/office/drawing/2014/main" id="{0E2CE60F-A559-4BD2-8645-2013B919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1015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Contingency reserve</a:t>
            </a:r>
          </a:p>
        </p:txBody>
      </p:sp>
      <p:sp>
        <p:nvSpPr>
          <p:cNvPr id="18" name="text-147">
            <a:extLst xmlns:a="http://schemas.openxmlformats.org/drawingml/2006/main">
              <a:ext uri="{FF2B5EF4-FFF2-40B4-BE49-F238E27FC236}">
                <a16:creationId xmlns:a16="http://schemas.microsoft.com/office/drawing/2014/main" id="{5D8BD47B-C442-473C-B93B-56DB8C4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120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€50k</a:t>
            </a:r>
          </a:p>
        </p:txBody>
      </p:sp>
    </p:spTree>
    <p:extLst>
      <p:ext uri="{BB962C8B-B14F-4D97-AF65-F5344CB8AC3E}">
        <p14:creationId xmlns:p14="http://schemas.microsoft.com/office/powerpoint/2010/main" val="1080644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48">
            <a:extLst xmlns:a="http://schemas.openxmlformats.org/drawingml/2006/main">
              <a:ext uri="{FF2B5EF4-FFF2-40B4-BE49-F238E27FC236}">
                <a16:creationId xmlns:a16="http://schemas.microsoft.com/office/drawing/2014/main" id="{598FEDCD-DA7D-4E1F-89E6-277D5A58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First projects can support launch economics</a:t>
            </a:r>
          </a:p>
        </p:txBody>
      </p:sp>
      <p:sp>
        <p:nvSpPr>
          <p:cNvPr id="2" name="text-149">
            <a:extLst xmlns:a="http://schemas.openxmlformats.org/drawingml/2006/main">
              <a:ext uri="{FF2B5EF4-FFF2-40B4-BE49-F238E27FC236}">
                <a16:creationId xmlns:a16="http://schemas.microsoft.com/office/drawing/2014/main" id="{FA0167A4-5C04-46A7-B511-783B06A3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The proposed mix produces €214k average project contribution at a 35% gross margin.</a:t>
            </a:r>
          </a:p>
        </p:txBody>
      </p:sp>
      <p:sp>
        <p:nvSpPr>
          <p:cNvPr id="3" name="text-150">
            <a:extLst xmlns:a="http://schemas.openxmlformats.org/drawingml/2006/main">
              <a:ext uri="{FF2B5EF4-FFF2-40B4-BE49-F238E27FC236}">
                <a16:creationId xmlns:a16="http://schemas.microsoft.com/office/drawing/2014/main" id="{3C22FDB1-E549-4AA5-AF55-5FC3847F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51">
            <a:extLst xmlns:a="http://schemas.openxmlformats.org/drawingml/2006/main">
              <a:ext uri="{FF2B5EF4-FFF2-40B4-BE49-F238E27FC236}">
                <a16:creationId xmlns:a16="http://schemas.microsoft.com/office/drawing/2014/main" id="{32E9D346-85BB-4FE3-83C7-9256E711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15</a:t>
            </a:r>
          </a:p>
        </p:txBody>
      </p:sp>
      <p:sp>
        <p:nvSpPr>
          <p:cNvPr id="5" name="text-152">
            <a:extLst xmlns:a="http://schemas.openxmlformats.org/drawingml/2006/main">
              <a:ext uri="{FF2B5EF4-FFF2-40B4-BE49-F238E27FC236}">
                <a16:creationId xmlns:a16="http://schemas.microsoft.com/office/drawing/2014/main" id="{24498D98-1B75-477D-BD96-F782571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Conditional scenario. Surplus excludes tax, financing, cash-cycle changes and further CAPEX. No investor repayment promised.</a:t>
            </a:r>
          </a:p>
        </p:txBody>
      </p:sp>
      <p:sp>
        <p:nvSpPr>
          <p:cNvPr id="6" name="text-153">
            <a:extLst xmlns:a="http://schemas.openxmlformats.org/drawingml/2006/main">
              <a:ext uri="{FF2B5EF4-FFF2-40B4-BE49-F238E27FC236}">
                <a16:creationId xmlns:a16="http://schemas.microsoft.com/office/drawing/2014/main" id="{DC0044AA-9609-4D13-9EF5-0D00FC31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63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4</a:t>
            </a:r>
          </a:p>
        </p:txBody>
      </p:sp>
      <p:sp>
        <p:nvSpPr>
          <p:cNvPr id="7" name="text-154">
            <a:extLst xmlns:a="http://schemas.openxmlformats.org/drawingml/2006/main">
              <a:ext uri="{FF2B5EF4-FFF2-40B4-BE49-F238E27FC236}">
                <a16:creationId xmlns:a16="http://schemas.microsoft.com/office/drawing/2014/main" id="{B7E3D5F5-8FD7-4F2E-BDD9-A3651ECA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projects exceed €700k</a:t>
            </a:r>
          </a:p>
        </p:txBody>
      </p:sp>
      <p:sp>
        <p:nvSpPr>
          <p:cNvPr id="8" name="text-155">
            <a:extLst xmlns:a="http://schemas.openxmlformats.org/drawingml/2006/main">
              <a:ext uri="{FF2B5EF4-FFF2-40B4-BE49-F238E27FC236}">
                <a16:creationId xmlns:a16="http://schemas.microsoft.com/office/drawing/2014/main" id="{965505F5-2B58-43D5-B381-3488A8C8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29125"/>
            <a:ext cx="4905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€858k project gross contribution</a:t>
            </a:r>
          </a:p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Before software development + OPEX</a:t>
            </a:r>
          </a:p>
        </p:txBody>
      </p:sp>
      <p:sp>
        <p:nvSpPr>
          <p:cNvPr id="9" name="text-156">
            <a:extLst xmlns:a="http://schemas.openxmlformats.org/drawingml/2006/main">
              <a:ext uri="{FF2B5EF4-FFF2-40B4-BE49-F238E27FC236}">
                <a16:creationId xmlns:a16="http://schemas.microsoft.com/office/drawing/2014/main" id="{31C6BE9F-A6E3-4598-81C1-5144A5B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241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63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8</a:t>
            </a:r>
          </a:p>
        </p:txBody>
      </p:sp>
      <p:sp>
        <p:nvSpPr>
          <p:cNvPr id="10" name="text-157">
            <a:extLst xmlns:a="http://schemas.openxmlformats.org/drawingml/2006/main">
              <a:ext uri="{FF2B5EF4-FFF2-40B4-BE49-F238E27FC236}">
                <a16:creationId xmlns:a16="http://schemas.microsoft.com/office/drawing/2014/main" id="{BF2E83F3-4349-4B02-A1E0-0A5FE36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8142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projects exceed €700k after costs</a:t>
            </a:r>
          </a:p>
        </p:txBody>
      </p:sp>
      <p:sp>
        <p:nvSpPr>
          <p:cNvPr id="11" name="text-158">
            <a:extLst xmlns:a="http://schemas.openxmlformats.org/drawingml/2006/main">
              <a:ext uri="{FF2B5EF4-FFF2-40B4-BE49-F238E27FC236}">
                <a16:creationId xmlns:a16="http://schemas.microsoft.com/office/drawing/2014/main" id="{2342258E-6B2C-4343-AE74-2C9B2FF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29125"/>
            <a:ext cx="4991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€875k business surplus after deducting</a:t>
            </a:r>
          </a:p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€250k development + €590k year-1 OPEX</a:t>
            </a:r>
          </a:p>
        </p:txBody>
      </p:sp>
      <p:sp>
        <p:nvSpPr>
          <p:cNvPr id="12" name="text-159">
            <a:extLst xmlns:a="http://schemas.openxmlformats.org/drawingml/2006/main">
              <a:ext uri="{FF2B5EF4-FFF2-40B4-BE49-F238E27FC236}">
                <a16:creationId xmlns:a16="http://schemas.microsoft.com/office/drawing/2014/main" id="{300FA3BB-4331-4075-925A-00240518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911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At 20% achieved margin, these thresholds rise to 6 and 13 projects.</a:t>
            </a:r>
          </a:p>
        </p:txBody>
      </p:sp>
    </p:spTree>
    <p:extLst>
      <p:ext uri="{BB962C8B-B14F-4D97-AF65-F5344CB8AC3E}">
        <p14:creationId xmlns:p14="http://schemas.microsoft.com/office/powerpoint/2010/main" val="3331774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60">
            <a:extLst xmlns:a="http://schemas.openxmlformats.org/drawingml/2006/main">
              <a:ext uri="{FF2B5EF4-FFF2-40B4-BE49-F238E27FC236}">
                <a16:creationId xmlns:a16="http://schemas.microsoft.com/office/drawing/2014/main" id="{1C4A214B-B67D-4A9C-8077-792ABE1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Round 2 follows campaign and delivery evidence</a:t>
            </a:r>
          </a:p>
        </p:txBody>
      </p:sp>
      <p:sp>
        <p:nvSpPr>
          <p:cNvPr id="2" name="text-161">
            <a:extLst xmlns:a="http://schemas.openxmlformats.org/drawingml/2006/main">
              <a:ext uri="{FF2B5EF4-FFF2-40B4-BE49-F238E27FC236}">
                <a16:creationId xmlns:a16="http://schemas.microsoft.com/office/drawing/2014/main" id="{C2AD0167-F51D-4C24-BF7E-EF7EB1ED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Use observed acquisition, project economics and collections to size expansion capital.</a:t>
            </a:r>
          </a:p>
        </p:txBody>
      </p:sp>
      <p:sp>
        <p:nvSpPr>
          <p:cNvPr id="3" name="text-162">
            <a:extLst xmlns:a="http://schemas.openxmlformats.org/drawingml/2006/main">
              <a:ext uri="{FF2B5EF4-FFF2-40B4-BE49-F238E27FC236}">
                <a16:creationId xmlns:a16="http://schemas.microsoft.com/office/drawing/2014/main" id="{95630318-1F7B-4FEF-99A9-AC471433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63">
            <a:extLst xmlns:a="http://schemas.openxmlformats.org/drawingml/2006/main">
              <a:ext uri="{FF2B5EF4-FFF2-40B4-BE49-F238E27FC236}">
                <a16:creationId xmlns:a16="http://schemas.microsoft.com/office/drawing/2014/main" id="{55401D07-F261-408A-9C7B-FF99874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16</a:t>
            </a:r>
          </a:p>
        </p:txBody>
      </p:sp>
      <p:sp>
        <p:nvSpPr>
          <p:cNvPr id="5" name="text-164">
            <a:extLst xmlns:a="http://schemas.openxmlformats.org/drawingml/2006/main">
              <a:ext uri="{FF2B5EF4-FFF2-40B4-BE49-F238E27FC236}">
                <a16:creationId xmlns:a16="http://schemas.microsoft.com/office/drawing/2014/main" id="{1A8A8D1A-458A-4387-B193-434F2947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Second-round amount and valuation remain open. Owned energy assets need separate committed capital.</a:t>
            </a:r>
          </a:p>
        </p:txBody>
      </p:sp>
      <p:sp>
        <p:nvSpPr>
          <p:cNvPr id="6" name="text-165">
            <a:extLst xmlns:a="http://schemas.openxmlformats.org/drawingml/2006/main">
              <a:ext uri="{FF2B5EF4-FFF2-40B4-BE49-F238E27FC236}">
                <a16:creationId xmlns:a16="http://schemas.microsoft.com/office/drawing/2014/main" id="{1D4E056A-6412-4B05-80E5-E4D649D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01</a:t>
            </a:r>
          </a:p>
        </p:txBody>
      </p:sp>
      <p:sp>
        <p:nvSpPr>
          <p:cNvPr id="7" name="text-166">
            <a:extLst xmlns:a="http://schemas.openxmlformats.org/drawingml/2006/main">
              <a:ext uri="{FF2B5EF4-FFF2-40B4-BE49-F238E27FC236}">
                <a16:creationId xmlns:a16="http://schemas.microsoft.com/office/drawing/2014/main" id="{40F70004-4D86-475B-A52A-FA876FFD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Demand by country and facility</a:t>
            </a:r>
          </a:p>
        </p:txBody>
      </p:sp>
      <p:sp>
        <p:nvSpPr>
          <p:cNvPr id="8" name="text-167">
            <a:extLst xmlns:a="http://schemas.openxmlformats.org/drawingml/2006/main">
              <a:ext uri="{FF2B5EF4-FFF2-40B4-BE49-F238E27FC236}">
                <a16:creationId xmlns:a16="http://schemas.microsoft.com/office/drawing/2014/main" id="{7BF9CFB4-7D2A-4A28-9986-FA741782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5752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Reach, complete wizards, audits, signed orders and paid deposits.</a:t>
            </a:r>
          </a:p>
        </p:txBody>
      </p:sp>
      <p:sp>
        <p:nvSpPr>
          <p:cNvPr id="9" name="text-168">
            <a:extLst xmlns:a="http://schemas.openxmlformats.org/drawingml/2006/main">
              <a:ext uri="{FF2B5EF4-FFF2-40B4-BE49-F238E27FC236}">
                <a16:creationId xmlns:a16="http://schemas.microsoft.com/office/drawing/2014/main" id="{2823789A-0BFD-4258-B078-636EDF60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337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02</a:t>
            </a:r>
          </a:p>
        </p:txBody>
      </p:sp>
      <p:sp>
        <p:nvSpPr>
          <p:cNvPr id="10" name="text-169">
            <a:extLst xmlns:a="http://schemas.openxmlformats.org/drawingml/2006/main">
              <a:ext uri="{FF2B5EF4-FFF2-40B4-BE49-F238E27FC236}">
                <a16:creationId xmlns:a16="http://schemas.microsoft.com/office/drawing/2014/main" id="{0806A7C6-8A8C-4FFC-81C7-18D2293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Economics of delivered projects</a:t>
            </a:r>
          </a:p>
        </p:txBody>
      </p:sp>
      <p:sp>
        <p:nvSpPr>
          <p:cNvPr id="11" name="text-170">
            <a:extLst xmlns:a="http://schemas.openxmlformats.org/drawingml/2006/main">
              <a:ext uri="{FF2B5EF4-FFF2-40B4-BE49-F238E27FC236}">
                <a16:creationId xmlns:a16="http://schemas.microsoft.com/office/drawing/2014/main" id="{D843DCFF-4F49-4DF4-92AA-6AD9C2CF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Realised gross margin, CAC, savings, installation time and collections.</a:t>
            </a:r>
          </a:p>
        </p:txBody>
      </p:sp>
      <p:sp>
        <p:nvSpPr>
          <p:cNvPr id="12" name="text-171">
            <a:extLst xmlns:a="http://schemas.openxmlformats.org/drawingml/2006/main">
              <a:ext uri="{FF2B5EF4-FFF2-40B4-BE49-F238E27FC236}">
                <a16:creationId xmlns:a16="http://schemas.microsoft.com/office/drawing/2014/main" id="{EB821BC3-2A73-43CE-8C10-42A8029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00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03</a:t>
            </a:r>
          </a:p>
        </p:txBody>
      </p:sp>
      <p:sp>
        <p:nvSpPr>
          <p:cNvPr id="13" name="text-172">
            <a:extLst xmlns:a="http://schemas.openxmlformats.org/drawingml/2006/main">
              <a:ext uri="{FF2B5EF4-FFF2-40B4-BE49-F238E27FC236}">
                <a16:creationId xmlns:a16="http://schemas.microsoft.com/office/drawing/2014/main" id="{DF28DBDC-37FA-4492-B930-7065353B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FFFFFF"/>
                </a:solidFill>
                <a:latin typeface="Ubuntu"/>
                <a:ea typeface="Ubuntu"/>
                <a:cs typeface="Ubuntu"/>
              </a:rPr>
              <a:t>Capital required by the proven pipeline</a:t>
            </a:r>
          </a:p>
        </p:txBody>
      </p:sp>
      <p:sp>
        <p:nvSpPr>
          <p:cNvPr id="14" name="text-173">
            <a:extLst xmlns:a="http://schemas.openxmlformats.org/drawingml/2006/main">
              <a:ext uri="{FF2B5EF4-FFF2-40B4-BE49-F238E27FC236}">
                <a16:creationId xmlns:a16="http://schemas.microsoft.com/office/drawing/2014/main" id="{7578CD96-2E0A-47DC-8DF0-822AB2D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9107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4D2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D4D2"/>
                </a:solidFill>
                <a:latin typeface="Ubuntu"/>
                <a:ea typeface="Ubuntu"/>
                <a:cs typeface="Ubuntu"/>
              </a:rPr>
              <a:t>Monthly cash gaps, signed backlog, crew capacity and staged hiring.</a:t>
            </a:r>
          </a:p>
        </p:txBody>
      </p:sp>
      <p:sp>
        <p:nvSpPr>
          <p:cNvPr id="15" name="text-174">
            <a:extLst xmlns:a="http://schemas.openxmlformats.org/drawingml/2006/main">
              <a:ext uri="{FF2B5EF4-FFF2-40B4-BE49-F238E27FC236}">
                <a16:creationId xmlns:a16="http://schemas.microsoft.com/office/drawing/2014/main" id="{F8F7E9DD-1103-4F54-A146-5B071CA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81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1E2CF"/>
                </a:solidFill>
                <a:latin typeface="Ubuntu"/>
                <a:ea typeface="Ubuntu"/>
                <a:cs typeface="Ubuntu"/>
              </a:defRPr>
            </a:pPr>
            <a:r>
              <a:rPr sz="2025" b="1">
                <a:solidFill>
                  <a:srgbClr val="81E2CF"/>
                </a:solidFill>
                <a:latin typeface="Ubuntu"/>
                <a:ea typeface="Ubuntu"/>
                <a:cs typeface="Ubuntu"/>
              </a:rPr>
              <a:t>Expansion spend + peak cash gap + reserve − available cash</a:t>
            </a:r>
          </a:p>
        </p:txBody>
      </p:sp>
    </p:spTree>
    <p:extLst>
      <p:ext uri="{BB962C8B-B14F-4D97-AF65-F5344CB8AC3E}">
        <p14:creationId xmlns:p14="http://schemas.microsoft.com/office/powerpoint/2010/main" val="2080326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75">
            <a:extLst xmlns:a="http://schemas.openxmlformats.org/drawingml/2006/main">
              <a:ext uri="{FF2B5EF4-FFF2-40B4-BE49-F238E27FC236}">
                <a16:creationId xmlns:a16="http://schemas.microsoft.com/office/drawing/2014/main" id="{438A97A0-6245-4649-9250-E90415F4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Appendix: acquisition by facility profile</a:t>
            </a:r>
          </a:p>
        </p:txBody>
      </p:sp>
      <p:sp>
        <p:nvSpPr>
          <p:cNvPr id="2" name="text-176">
            <a:extLst xmlns:a="http://schemas.openxmlformats.org/drawingml/2006/main">
              <a:ext uri="{FF2B5EF4-FFF2-40B4-BE49-F238E27FC236}">
                <a16:creationId xmlns:a16="http://schemas.microsoft.com/office/drawing/2014/main" id="{19DBC012-CB69-4A4D-A8EB-CB8F0D30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New commissioned sites by year. Mix remains fixed in the growth-target scenario.</a:t>
            </a:r>
          </a:p>
        </p:txBody>
      </p:sp>
      <p:sp>
        <p:nvSpPr>
          <p:cNvPr id="3" name="text-177">
            <a:extLst xmlns:a="http://schemas.openxmlformats.org/drawingml/2006/main">
              <a:ext uri="{FF2B5EF4-FFF2-40B4-BE49-F238E27FC236}">
                <a16:creationId xmlns:a16="http://schemas.microsoft.com/office/drawing/2014/main" id="{3DDB30D7-8D6E-49A7-9731-7920CC1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78">
            <a:extLst xmlns:a="http://schemas.openxmlformats.org/drawingml/2006/main">
              <a:ext uri="{FF2B5EF4-FFF2-40B4-BE49-F238E27FC236}">
                <a16:creationId xmlns:a16="http://schemas.microsoft.com/office/drawing/2014/main" id="{7E6E4A95-BD16-4E53-9B33-5CE2728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17</a:t>
            </a:r>
          </a:p>
        </p:txBody>
      </p:sp>
      <p:sp>
        <p:nvSpPr>
          <p:cNvPr id="5" name="text-179">
            <a:extLst xmlns:a="http://schemas.openxmlformats.org/drawingml/2006/main">
              <a:ext uri="{FF2B5EF4-FFF2-40B4-BE49-F238E27FC236}">
                <a16:creationId xmlns:a16="http://schemas.microsoft.com/office/drawing/2014/main" id="{7205283B-94E4-4B71-AB69-3FFB5B27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Representative pitches: S 100 / M 250 / L 500. Star-specific loads are modelling assumptions.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2600325"/>
          <a:ext xmlns:a="http://schemas.openxmlformats.org/drawingml/2006/main" cx="10782300" cy="3152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000375"/>
                <a:gridCol w="1609725"/>
                <a:gridCol w="1609725"/>
                <a:gridCol w="1609725"/>
              </a:tblGrid>
              <a:tr h="28661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Profile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Demand MWh / yr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2027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2028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  <a:ea typeface="Ubuntu"/>
                          <a:cs typeface="Ubuntu"/>
                        </a:rPr>
                        <a:t>2029</a:t>
                      </a:r>
                    </a:p>
                  </a:txBody>
                  <a:tcPr marL="114300" marR="114300" marT="28575" marB="28575" anchor="ctr">
                    <a:solidFill>
                      <a:srgbClr val="1F7A6D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75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95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Small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445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Medium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24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900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3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4★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1195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5★ Large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1500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  <a:tr h="28661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Total new sites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/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60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12D35"/>
                          </a:solidFill>
                          <a:latin typeface="Ubuntu"/>
                          <a:ea typeface="Ubuntu"/>
                          <a:cs typeface="Ubuntu"/>
                        </a:rPr>
                        <a:t>120</a:t>
                      </a:r>
                    </a:p>
                  </a:txBody>
                  <a:tcPr marL="114300" marR="114300" marT="28575" marB="28575" anchor="ctr">
                    <a:solidFill>
                      <a:srgbClr val="F3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090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80">
            <a:extLst xmlns:a="http://schemas.openxmlformats.org/drawingml/2006/main">
              <a:ext uri="{FF2B5EF4-FFF2-40B4-BE49-F238E27FC236}">
                <a16:creationId xmlns:a16="http://schemas.microsoft.com/office/drawing/2014/main" id="{6F53AA16-BFF6-4FCB-9C38-E4DB20B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3900" b="1">
                <a:solidFill>
                  <a:srgbClr val="112D35"/>
                </a:solidFill>
                <a:latin typeface="Ubuntu"/>
                <a:ea typeface="Ubuntu"/>
                <a:cs typeface="Ubuntu"/>
              </a:rPr>
              <a:t>Appendix: assumptions and package boundaries</a:t>
            </a:r>
          </a:p>
        </p:txBody>
      </p:sp>
      <p:sp>
        <p:nvSpPr>
          <p:cNvPr id="2" name="text-181">
            <a:extLst xmlns:a="http://schemas.openxmlformats.org/drawingml/2006/main">
              <a:ext uri="{FF2B5EF4-FFF2-40B4-BE49-F238E27FC236}">
                <a16:creationId xmlns:a16="http://schemas.microsoft.com/office/drawing/2014/main" id="{0DE1DB4B-E205-46EE-81F5-013BB701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New solar-first economics are distinct from the earlier full-microgrid packages.</a:t>
            </a:r>
          </a:p>
        </p:txBody>
      </p:sp>
      <p:sp>
        <p:nvSpPr>
          <p:cNvPr id="3" name="text-182">
            <a:extLst xmlns:a="http://schemas.openxmlformats.org/drawingml/2006/main">
              <a:ext uri="{FF2B5EF4-FFF2-40B4-BE49-F238E27FC236}">
                <a16:creationId xmlns:a16="http://schemas.microsoft.com/office/drawing/2014/main" id="{022F63BC-CABC-45E8-ADD7-7044A07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12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ECOGRID RESORT · Confidential investor proposal · October 2026</a:t>
            </a:r>
          </a:p>
        </p:txBody>
      </p:sp>
      <p:sp>
        <p:nvSpPr>
          <p:cNvPr id="4" name="text-183">
            <a:extLst xmlns:a="http://schemas.openxmlformats.org/drawingml/2006/main">
              <a:ext uri="{FF2B5EF4-FFF2-40B4-BE49-F238E27FC236}">
                <a16:creationId xmlns:a16="http://schemas.microsoft.com/office/drawing/2014/main" id="{BF10C7A3-4EA2-45A9-A23F-B43436B7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18</a:t>
            </a:r>
          </a:p>
        </p:txBody>
      </p:sp>
      <p:sp>
        <p:nvSpPr>
          <p:cNvPr id="5" name="text-184">
            <a:extLst xmlns:a="http://schemas.openxmlformats.org/drawingml/2006/main">
              <a:ext uri="{FF2B5EF4-FFF2-40B4-BE49-F238E27FC236}">
                <a16:creationId xmlns:a16="http://schemas.microsoft.com/office/drawing/2014/main" id="{7387F9D6-6196-4A57-80D9-1850E45B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2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No granted aid, export revenue, EV income or flexibility revenue. Simple payback is not IRR.</a:t>
            </a:r>
          </a:p>
        </p:txBody>
      </p:sp>
      <p:sp>
        <p:nvSpPr>
          <p:cNvPr id="6" name="text-185">
            <a:extLst xmlns:a="http://schemas.openxmlformats.org/drawingml/2006/main">
              <a:ext uri="{FF2B5EF4-FFF2-40B4-BE49-F238E27FC236}">
                <a16:creationId xmlns:a16="http://schemas.microsoft.com/office/drawing/2014/main" id="{1B7CD8A1-95C5-4428-AB8D-01C36EAC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Documented planning inputs</a:t>
            </a:r>
          </a:p>
        </p:txBody>
      </p:sp>
      <p:sp>
        <p:nvSpPr>
          <p:cNvPr id="7" name="text-186">
            <a:extLst xmlns:a="http://schemas.openxmlformats.org/drawingml/2006/main">
              <a:ext uri="{FF2B5EF4-FFF2-40B4-BE49-F238E27FC236}">
                <a16:creationId xmlns:a16="http://schemas.microsoft.com/office/drawing/2014/main" id="{C630C2B7-3B0E-4E41-A6AD-29B1DEAD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95650"/>
            <a:ext cx="5124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 50–150 / M 150–350 / L 350–700 pitches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1,400 kWh/kWp Southern Europe reference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35% target works gross margin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€250k software CAPEX + €590k year-1 OPEX</a:t>
            </a:r>
          </a:p>
        </p:txBody>
      </p:sp>
      <p:sp>
        <p:nvSpPr>
          <p:cNvPr id="8" name="text-187">
            <a:extLst xmlns:a="http://schemas.openxmlformats.org/drawingml/2006/main">
              <a:ext uri="{FF2B5EF4-FFF2-40B4-BE49-F238E27FC236}">
                <a16:creationId xmlns:a16="http://schemas.microsoft.com/office/drawing/2014/main" id="{D54050BC-6E15-4112-8408-C54ED479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510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Earlier full packages: S €0.20–0.35m,</a:t>
            </a:r>
          </a:p>
          <a:p xmlns:a="http://schemas.openxmlformats.org/drawingml/2006/main">
            <a:pPr>
              <a:defRPr sz="15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M €0.9–1.2m, L €2.1–2.7m, with larger</a:t>
            </a:r>
          </a:p>
          <a:p xmlns:a="http://schemas.openxmlformats.org/drawingml/2006/main">
            <a:pPr>
              <a:defRPr sz="1500" b="0">
                <a:solidFill>
                  <a:srgbClr val="44616A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44616A"/>
                </a:solidFill>
                <a:latin typeface="Ubuntu"/>
                <a:ea typeface="Ubuntu"/>
                <a:cs typeface="Ubuntu"/>
              </a:rPr>
              <a:t>batteries and EV equipment.</a:t>
            </a:r>
          </a:p>
        </p:txBody>
      </p:sp>
      <p:sp>
        <p:nvSpPr>
          <p:cNvPr id="9" name="text-188">
            <a:extLst xmlns:a="http://schemas.openxmlformats.org/drawingml/2006/main">
              <a:ext uri="{FF2B5EF4-FFF2-40B4-BE49-F238E27FC236}">
                <a16:creationId xmlns:a16="http://schemas.microsoft.com/office/drawing/2014/main" id="{CE597104-8C12-470B-8175-83109F7B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955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7A6D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1F7A6D"/>
                </a:solidFill>
                <a:latin typeface="Ubuntu"/>
                <a:ea typeface="Ubuntu"/>
                <a:cs typeface="Ubuntu"/>
              </a:rPr>
              <a:t>New budget hypotheses</a:t>
            </a:r>
          </a:p>
        </p:txBody>
      </p:sp>
      <p:sp>
        <p:nvSpPr>
          <p:cNvPr id="10" name="text-189">
            <a:extLst xmlns:a="http://schemas.openxmlformats.org/drawingml/2006/main">
              <a:ext uri="{FF2B5EF4-FFF2-40B4-BE49-F238E27FC236}">
                <a16:creationId xmlns:a16="http://schemas.microsoft.com/office/drawing/2014/main" id="{0436876A-12D8-4A75-9F2A-4772A239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86125"/>
            <a:ext cx="50196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55% bill offset / 85% PV self-use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€900/kWp PV / €300/kWh battery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€180/m² carport / 10% contingency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Limited M/L storage. No S battery.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Software €2.5k / €4k / €5k per year</a:t>
            </a:r>
          </a:p>
          <a:p xmlns:a="http://schemas.openxmlformats.org/drawingml/2006/main">
            <a:pPr>
              <a:defRPr sz="1725" b="0">
                <a:solidFill>
                  <a:srgbClr val="112D35"/>
                </a:solidFill>
                <a:latin typeface="Ubuntu"/>
                <a:ea typeface="Ubuntu"/>
                <a:cs typeface="Ubuntu"/>
              </a:defRPr>
            </a:pPr>
            <a:r>
              <a:rPr sz="1725" b="0">
                <a:solidFill>
                  <a:srgbClr val="112D35"/>
                </a:solidFill>
                <a:latin typeface="Ubuntu"/>
                <a:ea typeface="Ubuntu"/>
                <a:cs typeface="Ubuntu"/>
              </a:rPr>
              <a:t>Maintenance €2k / €4k / €8k per year</a:t>
            </a:r>
          </a:p>
        </p:txBody>
      </p:sp>
    </p:spTree>
    <p:extLst>
      <p:ext uri="{BB962C8B-B14F-4D97-AF65-F5344CB8AC3E}">
        <p14:creationId xmlns:p14="http://schemas.microsoft.com/office/powerpoint/2010/main" val="191772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2026-10-04T18:47:19.3920000Z</dcterms:created>
  <dcterms:modified xsi:type="dcterms:W3CDTF">2026-10-04T18:47:19.3920000Z</dcterms:modified>
</coreProperties>
</file>