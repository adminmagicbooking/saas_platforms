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465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E4651"/>
                </a:solidFill>
                <a:latin typeface="Calibri"/>
              </a:rPr>
              <a:t>Y5 revenue · ~£23m mid-case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Y5 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7A8C"/>
              </a:solidFill>
              <a:effectLst/>
            </c:spPr>
          </c:dPt>
          <c:dPt>
            <c:idx val="1"/>
            <c:bubble3D val="0"/>
            <c:spPr>
              <a:solidFill>
                <a:srgbClr val="5C8A7D"/>
              </a:solidFill>
              <a:effectLst/>
            </c:spPr>
          </c:dPt>
          <c:dPt>
            <c:idx val="2"/>
            <c:bubble3D val="0"/>
            <c:spPr>
              <a:solidFill>
                <a:srgbClr val="DCA84A"/>
              </a:solidFill>
              <a:effectLst/>
            </c:spPr>
          </c:dPt>
          <c:dPt>
            <c:idx val="3"/>
            <c:bubble3D val="0"/>
            <c:spPr>
              <a:solidFill>
                <a:srgbClr val="B85042"/>
              </a:solidFill>
              <a:effectLst/>
            </c:spPr>
          </c:dPt>
          <c:dPt>
            <c:idx val="4"/>
            <c:bubble3D val="0"/>
            <c:spPr>
              <a:solidFill>
                <a:srgbClr val="0E4651"/>
              </a:solidFill>
              <a:effectLst/>
            </c:spPr>
          </c:dPt>
          <c:dPt>
            <c:idx val="5"/>
            <c:bubble3D val="0"/>
            <c:spPr>
              <a:solidFill>
                <a:srgbClr val="8B7355"/>
              </a:solidFill>
              <a:effectLst/>
            </c:spPr>
          </c:dPt>
          <c:dPt>
            <c:idx val="6"/>
            <c:bubble3D val="0"/>
            <c:spPr>
              <a:solidFill>
                <a:srgbClr val="A2B5BB"/>
              </a:solidFill>
              <a:effectLst/>
            </c:spPr>
          </c:dPt>
          <c:dPt>
            <c:idx val="7"/>
            <c:bubble3D val="0"/>
            <c:spPr>
              <a:solidFill>
                <a:srgbClr val="C2876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Lettings agent subs</c:v>
                </c:pt>
                <c:pt idx="1">
                  <c:v>Tenant referencing &amp; insurance</c:v>
                </c:pt>
                <c:pt idx="2">
                  <c:v>Pay-for-leads</c:v>
                </c:pt>
                <c:pt idx="3">
                  <c:v>Featured Landlord</c:v>
                </c:pt>
                <c:pt idx="4">
                  <c:v>Sales-side vendor leads</c:v>
                </c:pt>
                <c:pt idx="5">
                  <c:v>Move-in affiliate</c:v>
                </c:pt>
                <c:pt idx="6">
                  <c:v>Mortgage referrals</c:v>
                </c:pt>
                <c:pt idx="7">
                  <c:v>Deposit-free partner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5</c:v>
                </c:pt>
                <c:pt idx="1">
                  <c:v>3.5</c:v>
                </c:pt>
                <c:pt idx="2">
                  <c:v>3.2</c:v>
                </c:pt>
                <c:pt idx="3">
                  <c:v>3</c:v>
                </c:pt>
                <c:pt idx="4">
                  <c:v>2.8</c:v>
                </c:pt>
                <c:pt idx="5">
                  <c:v>2.1</c:v>
                </c:pt>
                <c:pt idx="6">
                  <c:v>2</c:v>
                </c:pt>
                <c:pt idx="7">
                  <c:v>1.5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365760"/>
            <a:ext cx="640080" cy="640080"/>
          </a:xfrm>
          <a:prstGeom prst="ellipse">
            <a:avLst/>
          </a:prstGeom>
          <a:solidFill>
            <a:srgbClr val="B85042">
              <a:alpha val="70000"/>
            </a:srgbClr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94360"/>
            <a:ext cx="320040" cy="320040"/>
          </a:xfrm>
          <a:prstGeom prst="ellipse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FindAllProperty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9CC8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.co.uk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3886200"/>
            <a:ext cx="64008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069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v2 — Lettings-First AI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£4m capital cap · £15–25m Year 5 revenue · 25–30% EBITDA · £50–175m exit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349240"/>
            <a:ext cx="457200" cy="36576"/>
          </a:xfrm>
          <a:prstGeom prst="rect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440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alternative to the v1 three-scenario Rightmove-clone plan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briefing · May 2026 ·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not building a Rightmove-clone. We're building the AI lettings agent that lives in your phone.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v2 Lettings-First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5486400" cy="457200"/>
          </a:xfrm>
          <a:prstGeom prst="rect">
            <a:avLst/>
          </a:prstGeom>
          <a:solidFill>
            <a:srgbClr val="6B6058"/>
          </a:solidFill>
          <a:ln w="12700">
            <a:solidFill>
              <a:srgbClr val="6B60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Rightmove clone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for-sale search portal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scenarios from Modest to Ambitious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£3–40m capital across scenarios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only if Rightmove looks weak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Fights a 25-year consumer brand moat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pool: for-sale leads (Zillow took 20yrs to clear GAAP-zero)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486400" cy="4434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7A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783080"/>
            <a:ext cx="5486400" cy="457200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Lettings-first AI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AI tenant agent + landlord/agent tools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focused plan, hard-capped at £4m total capital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Lettings: a £2bn+ TAM Rightmove undervalues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on tenant experience whether Rightmove changes or not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relationship: Rightmove has barely contested it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pool: rentals advertising — biggest in property tech globally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355080"/>
            <a:ext cx="11247120" cy="411480"/>
          </a:xfrm>
          <a:prstGeom prst="rect">
            <a:avLst/>
          </a:prstGeom>
          <a:solidFill>
            <a:srgbClr val="0E4651"/>
          </a:solidFill>
          <a:ln w="12700">
            <a:solidFill>
              <a:srgbClr val="0E46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C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brand. Same anchor investor. Same enemy. Sharper wedge.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lettings — three numbers that broke the v1 plan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v2 Lettings-First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703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92808"/>
            <a:ext cx="333756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4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$1.25bn</a:t>
            </a:r>
            <a:endParaRPr lang="en-US" sz="3040" dirty="0"/>
          </a:p>
        </p:txBody>
      </p:sp>
      <p:sp>
        <p:nvSpPr>
          <p:cNvPr id="8" name="Text 6"/>
          <p:cNvSpPr/>
          <p:nvPr/>
        </p:nvSpPr>
        <p:spPr>
          <a:xfrm>
            <a:off x="640080" y="2831897"/>
            <a:ext cx="333756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Apartments.com revenue (CoStar FY25) — the most profitable single asset in property tech, at very high margin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703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1892808"/>
            <a:ext cx="333756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80" b="1" dirty="0">
                <a:solidFill>
                  <a:srgbClr val="1B7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17.1%</a:t>
            </a:r>
            <a:endParaRPr lang="en-US" sz="3280" dirty="0"/>
          </a:p>
        </p:txBody>
      </p:sp>
      <p:sp>
        <p:nvSpPr>
          <p:cNvPr id="11" name="Text 9"/>
          <p:cNvSpPr/>
          <p:nvPr/>
        </p:nvSpPr>
        <p:spPr>
          <a:xfrm>
            <a:off x="4480560" y="2831897"/>
            <a:ext cx="333756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OpenRent share of new UK lettings instructions — bootstrapped, profitable, +11.5% YoY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566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1892808"/>
            <a:ext cx="320040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40" b="1" dirty="0">
                <a:solidFill>
                  <a:srgbClr val="6B60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$2.58bn</a:t>
            </a:r>
            <a:endParaRPr lang="en-US" sz="3040" dirty="0"/>
          </a:p>
        </p:txBody>
      </p:sp>
      <p:sp>
        <p:nvSpPr>
          <p:cNvPr id="14" name="Text 12"/>
          <p:cNvSpPr/>
          <p:nvPr/>
        </p:nvSpPr>
        <p:spPr>
          <a:xfrm>
            <a:off x="8321040" y="2831897"/>
            <a:ext cx="3200400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Zillow needed to reach to clear GAAP-zero profit for the first time in 20 years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11247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49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40690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 advertising is the single largest profit pool in global property tech.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For-sale consumer search is the worst. Zillow took 20 years to clear profit; CoStar has spent ~$3bn trying to clone it and produced ~$80m ARR. Meanwhile Apartments.com prints over $1bn a year for the same parent, and OpenRent has 17% of UK lettings with no VC money.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212080"/>
            <a:ext cx="3703320" cy="1417320"/>
          </a:xfrm>
          <a:prstGeom prst="rect">
            <a:avLst/>
          </a:prstGeom>
          <a:solidFill>
            <a:srgbClr val="0E4651"/>
          </a:solidFill>
          <a:ln w="12700">
            <a:solidFill>
              <a:srgbClr val="0E46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Goodlord — UK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577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$45m ARR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" y="6080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5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Lettings-agent SaaS · EBITDA-profitable · +40% YoY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5212080"/>
            <a:ext cx="3703320" cy="1417320"/>
          </a:xfrm>
          <a:prstGeom prst="rect">
            <a:avLst/>
          </a:prstGeom>
          <a:solidFill>
            <a:srgbClr val="0E4651"/>
          </a:solidFill>
          <a:ln w="12700">
            <a:solidFill>
              <a:srgbClr val="0E46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EliseAI — US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5577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$2.2bn valuation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480560" y="6080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5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multifamily leasing · $100m+ ARR · the AI-in-lettings proof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38160" y="5212080"/>
            <a:ext cx="3566160" cy="1417320"/>
          </a:xfrm>
          <a:prstGeom prst="rect">
            <a:avLst/>
          </a:prstGeom>
          <a:solidFill>
            <a:srgbClr val="0E4651"/>
          </a:solidFill>
          <a:ln w="12700">
            <a:solidFill>
              <a:srgbClr val="0E46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5303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Dwelly — UK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5577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$93m raise (Feb '26)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321040" y="6080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D5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lettings agency roll-up · captive supply we can be the surface for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 lettings is the largest, most fragmented, most under-served pool in residential property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v2 Lettings-First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lettings revenue pools (TAM)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59436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9202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65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65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Lettings agent fees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£600–900m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referencing &amp; 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£250–400m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Landlord insurance / rent 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£600m+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Deposit-free schemes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£150–250m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Rentals advertising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£200–400m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Lettings SaaS (Goodlord-class)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£200–350m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Move-in affiliate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£150–300m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A8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£2.0–2.7bn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A84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675120" y="1783080"/>
            <a:ext cx="5029200" cy="4526280"/>
          </a:xfrm>
          <a:prstGeom prst="rect">
            <a:avLst/>
          </a:prstGeom>
          <a:solidFill>
            <a:srgbClr val="0E4651"/>
          </a:solidFill>
          <a:ln w="12700">
            <a:solidFill>
              <a:srgbClr val="0E46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0" y="1874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C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market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A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50392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private-rented households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0" y="2834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A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1.0–1.2m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50392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tenancies per year (more than home sales)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0" y="3383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A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£75bn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50392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UK rent paid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0" y="3931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A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17–20k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503920" y="3931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lettings agency branches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0" y="4480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A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50392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landlords already DIY (no agent)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58000" y="5029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A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503920" y="5029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renters are under 35 (mobile-first)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858000" y="5577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A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£1,290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503920" y="5577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UK monthly rent (May 2026), +5% YoY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Rightmove's lettings business is operationally subsidised by sales — and now distracted by a £1.5bn class action. The lettings tenant experience has not been improved in a decade.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— TENANT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lettings agent in your pocket.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v2 Lettings-First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657600" cy="73152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10512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search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“2-bed near a Tube, dog-friendly, under £2,000.” The AI gets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1688" y="1737360"/>
            <a:ext cx="3657600" cy="73152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1810512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36008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 listing Q&amp;A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36008" y="2606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was the boiler serviced? Bills included?” Answered instantly, day or night.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66176" y="1737360"/>
            <a:ext cx="3657600" cy="73152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1810512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40496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Affordability built-in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40496" y="2606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or open-banking link → only see homes you can rent. Right-to-Rent pre-checked.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3657600" cy="73152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050792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251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referencing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1520" y="48463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one digital reference to every landlord. Goodlord-rails. Done in minutes.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61688" y="3977640"/>
            <a:ext cx="3657600" cy="73152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61688" y="4050792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36008" y="4251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Deposit-free ranked first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636008" y="48463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 / Zero Deposit / Canopy integrated. Pre-qualifying tenants see them first.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66176" y="3977640"/>
            <a:ext cx="3657600" cy="73152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66176" y="4050792"/>
            <a:ext cx="36576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540496" y="4251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Off-market alerts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540496" y="48463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direct landlord &amp; agent feeds — 24–72 hours before Rightmove.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solidFill>
            <a:srgbClr val="0E4651"/>
          </a:solidFill>
          <a:ln w="12700">
            <a:solidFill>
              <a:srgbClr val="0E46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09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natively on iOS + Android · WhatsApp/SMS notifications · the AI agent learns and proactively surfaces matches.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— LANDLORD &amp; AGENT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money comes from.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v2 Lettings-First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0" cy="594360"/>
          </a:xfrm>
          <a:prstGeom prst="rect">
            <a:avLst/>
          </a:prstGeom>
          <a:solidFill>
            <a:srgbClr val="5C8A7D"/>
          </a:solidFill>
          <a:ln w="12700">
            <a:solidFill>
              <a:srgbClr val="5C8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01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baseline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 / forever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6032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listing for any UK landlord or letting agent. Web form, XML, or CRM integration (Reapit / Alto / Jupix / Street / Goodlord). Supply density = consumer comprehensiveness = traffic.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1783080"/>
            <a:ext cx="3657600" cy="594360"/>
          </a:xfrm>
          <a:prstGeom prst="rect">
            <a:avLst/>
          </a:prstGeom>
          <a:solidFill>
            <a:srgbClr val="1B7A8C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801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Landlord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£29–£99 / mo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61688" y="237744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256032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placement. AI listing writer (description from photos + 4 inputs). Photo enhancement. Auto-scheduled viewings. AI tenant pre-qualification.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66176" y="1783080"/>
            <a:ext cx="3657600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94776" y="1801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Lettings Agent Pro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94776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£99–£299 / branch / mo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66176" y="2377440"/>
            <a:ext cx="3657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0496" y="256032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dashboard, tenant lead allocation, AI compliance check (Section 21, EICR, gas, EPC, Right to Rent), AI listing writer at scale, white-label tenant agent embed for agent's own site.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349240"/>
            <a:ext cx="11247120" cy="914400"/>
          </a:xfrm>
          <a:prstGeom prst="rect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440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pay-for-leads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£15–60 per qualified tenant lead · pre-screened by affordability, referencing and intent · agents pay only on viewing or booking.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solidFill>
            <a:srgbClr val="0E4651"/>
          </a:solidFill>
          <a:ln w="12700">
            <a:solidFill>
              <a:srgbClr val="0E46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revenue line connects to a tenant outcome — not to monopoly pricing. Regulator-proof by design.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Year-by-year — one focused path, hard-capped at £4m total capital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v2 Lettings-First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2011680"/>
                <a:gridCol w="201168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6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6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6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raised cumulative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£400k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£2.4m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Opt. £4.0m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 (FTE)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75–100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monthly tenants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Landlords on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Paying agent branches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60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£180k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46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£1.5m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8A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£4.2m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8A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£15–25m (mid £23m)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(burn)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(burn)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Breakeven Q4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937760"/>
            <a:ext cx="5486400" cy="1691640"/>
          </a:xfrm>
          <a:prstGeom prst="rect">
            <a:avLst/>
          </a:prstGeom>
          <a:solidFill>
            <a:srgbClr val="0E4651"/>
          </a:solidFill>
          <a:ln w="12700">
            <a:solidFill>
              <a:srgbClr val="0E46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029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C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v1 Realistic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534924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Y5 revenue band (£15–25m vs v1's £18m). Higher EBITDA margin (25–30% vs 20–25%). Lower capital cap (£4m vs £6m). Higher confidence in Year 3 breakeven.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4937760"/>
            <a:ext cx="5486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5029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anchor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0" y="534924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5–10× ARR comp = £75–175m at Y5. Buyers: Houseful (Zoopla post-review), CoStar (UK consolidation), News Corp / REA, European portal (Funda / ImmoScout24 / Idealista UK entry).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streams · none more than 22% concentration · all outcome-based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v2 Lettings-First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83080"/>
          <a:ext cx="5212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principles that govern this mix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0" y="219456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83680" y="2194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stream &gt;22% of mix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0" y="25146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Rightmove's 72% concentration in core agency subs — we are not exposed to a single regulatory change.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0" y="324612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583680" y="3246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 eight are outcome-based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83680" y="35661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referenced, deposit replaced, mortgage completed, utilities switched, viewing booked. Regulator-proof.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0" y="429768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583680" y="4297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to Apartments.com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583680" y="4617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most profitable single property-tech asset ($1.25bn at very high margin). Same pool, UK-side.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43600" y="5349240"/>
            <a:ext cx="502920" cy="5029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583680" y="5349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is upside, not core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83680" y="56692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Y3 our rental traffic naturally becomes first-time buyers. Sales-side vendor leads ride that for free.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£4m is the cap — and the discipline IS the moat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v2 Lettings-First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1064240" cy="0"/>
          </a:xfrm>
          <a:prstGeom prst="line">
            <a:avLst/>
          </a:prstGeom>
          <a:noFill/>
          <a:ln w="25400">
            <a:solidFill>
              <a:srgbClr val="D5CF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2788920"/>
            <a:ext cx="274320" cy="274320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83080"/>
            <a:ext cx="2468880" cy="868680"/>
          </a:xfrm>
          <a:prstGeom prst="rect">
            <a:avLst/>
          </a:prstGeom>
          <a:solidFill>
            <a:srgbClr val="0E4651"/>
          </a:solidFill>
          <a:ln w="12700">
            <a:solidFill>
              <a:srgbClr val="0E46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C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£100k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3886200"/>
            <a:ext cx="1920240" cy="18288"/>
          </a:xfrm>
          <a:prstGeom prst="rect">
            <a:avLst/>
          </a:prstGeom>
          <a:solidFill>
            <a:srgbClr val="E5DDD0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4206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2788920"/>
            <a:ext cx="274320" cy="274320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1783080"/>
            <a:ext cx="2468880" cy="868680"/>
          </a:xfrm>
          <a:prstGeom prst="rect">
            <a:avLst/>
          </a:prstGeom>
          <a:solidFill>
            <a:srgbClr val="0E4651"/>
          </a:solidFill>
          <a:ln w="12700">
            <a:solidFill>
              <a:srgbClr val="0E46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C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2026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337560" y="324612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£300k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611880" y="3886200"/>
            <a:ext cx="1920240" cy="18288"/>
          </a:xfrm>
          <a:prstGeom prst="rect">
            <a:avLst/>
          </a:prstGeom>
          <a:solidFill>
            <a:srgbClr val="E5DDD0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4206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+ 100 landlords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69480" y="2788920"/>
            <a:ext cx="274320" cy="274320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1783080"/>
            <a:ext cx="2468880" cy="868680"/>
          </a:xfrm>
          <a:prstGeom prst="rect">
            <a:avLst/>
          </a:prstGeom>
          <a:solidFill>
            <a:srgbClr val="0E4651"/>
          </a:solidFill>
          <a:ln w="12700">
            <a:solidFill>
              <a:srgbClr val="0E46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C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2027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172200" y="324612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£2.0m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446520" y="3886200"/>
            <a:ext cx="1920240" cy="18288"/>
          </a:xfrm>
          <a:prstGeom prst="rect">
            <a:avLst/>
          </a:prstGeom>
          <a:solidFill>
            <a:srgbClr val="E5DDD0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4206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 MAU + £400k ARR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104120" y="2788920"/>
            <a:ext cx="274320" cy="274320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0" y="1783080"/>
            <a:ext cx="2468880" cy="868680"/>
          </a:xfrm>
          <a:prstGeom prst="rect">
            <a:avLst/>
          </a:prstGeom>
          <a:solidFill>
            <a:srgbClr val="0E4651"/>
          </a:solidFill>
          <a:ln w="12700">
            <a:solidFill>
              <a:srgbClr val="0E46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06840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C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06840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2028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9006840" y="324612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98280" y="3383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Opt. £1.6m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281160" y="3886200"/>
            <a:ext cx="1920240" cy="18288"/>
          </a:xfrm>
          <a:prstGeom prst="rect">
            <a:avLst/>
          </a:prstGeom>
          <a:solidFill>
            <a:srgbClr val="E5DDD0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98280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098280" y="4206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not breakeven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5166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CAP: £4.0m total. NO Series B.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85800" y="5532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CoStar spent $3bn on Homes.com for $80m ARR (0.027× return on capital). Boomin raised &gt;£10m to clone Rightmove and went bust. Casavo raised €400m+ to iBuy UK and exited. In this market, raising more than necessary destroys returns faster than under-raising.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0E4651"/>
          </a:solidFill>
          <a:ln w="12700">
            <a:solidFill>
              <a:srgbClr val="0E46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6172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return on £100k angel: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754880" y="61722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£40m exit → ~50× · Mid £100m → ~140× · High £175m → ~250×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supply, then landlord supply — in that order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v2 Lettings-First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5C8A7D"/>
          </a:solidFill>
          <a:ln w="12700">
            <a:solidFill>
              <a:srgbClr val="5C8A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1920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communities, not Google ads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337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r/HousingUK, university accommodation officers, employer relocation teams, Generation Rent advocacy. Free, high-trust, repeatable.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1688" y="173736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1920240"/>
            <a:ext cx="640080" cy="640080"/>
          </a:xfrm>
          <a:prstGeom prst="ellipse">
            <a:avLst/>
          </a:prstGeom>
          <a:solidFill>
            <a:srgbClr val="5C8A7D"/>
          </a:solidFill>
          <a:ln w="12700">
            <a:solidFill>
              <a:srgbClr val="5C8A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21808" y="1920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/ Reels / Insta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44568" y="2697480"/>
            <a:ext cx="3337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renters under 35 actually are. "Renting in London week 1" content. The AI agent as the protagonist.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66176" y="173736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49056" y="1920240"/>
            <a:ext cx="640080" cy="640080"/>
          </a:xfrm>
          <a:prstGeom prst="ellipse">
            <a:avLst/>
          </a:prstGeom>
          <a:solidFill>
            <a:srgbClr val="5C8A7D"/>
          </a:solidFill>
          <a:ln w="12700">
            <a:solidFill>
              <a:srgbClr val="5C8A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9056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226296" y="1920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 acquisition: OpenRent-feed first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49056" y="2697480"/>
            <a:ext cx="3337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OpenRent is incentivised to syndicate. Then direct landlord onboarding via Goodlord and Reapit/PayProp partnerships.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251960"/>
            <a:ext cx="640080" cy="640080"/>
          </a:xfrm>
          <a:prstGeom prst="ellipse">
            <a:avLst/>
          </a:prstGeom>
          <a:solidFill>
            <a:srgbClr val="5C8A7D"/>
          </a:solidFill>
          <a:ln w="12700">
            <a:solidFill>
              <a:srgbClr val="5C8A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17320" y="4251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Renters' Rights Act compliance hook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029200"/>
            <a:ext cx="3337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landlord needs help with the new rules. Free compliance check is the hook; paid features are the conversion.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61688" y="4069080"/>
            <a:ext cx="3657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44568" y="4251960"/>
            <a:ext cx="640080" cy="640080"/>
          </a:xfrm>
          <a:prstGeom prst="ellipse">
            <a:avLst/>
          </a:prstGeom>
          <a:solidFill>
            <a:srgbClr val="5C8A7D"/>
          </a:solidFill>
          <a:ln w="12700">
            <a:solidFill>
              <a:srgbClr val="5C8A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4568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21808" y="42519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Dwelly partnership conversation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44568" y="5029200"/>
            <a:ext cx="3337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buying lettings agencies; they need a tenant-facing AI surface. We are it. Worth opening the dialogue NOW.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66176" y="4069080"/>
            <a:ext cx="3657600" cy="2148840"/>
          </a:xfrm>
          <a:prstGeom prst="rect">
            <a:avLst/>
          </a:prstGeom>
          <a:solidFill>
            <a:srgbClr val="0E4651"/>
          </a:solidFill>
          <a:ln w="12700">
            <a:solidFill>
              <a:srgbClr val="0E46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49056" y="4251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49056" y="45720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Tenants → demand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31936" y="4937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Landlords list free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814816" y="5303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Agents pay for leads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997696" y="56692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A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More tenants come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else is in UK lettings — and where we sit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v2 Lettings-First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3017520"/>
                <a:gridCol w="31089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6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6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they're weak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6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angle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65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17.1% of UK new lettings; profitable; landlord-side leader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UX is functional, not AI-native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 on TENANT experience; long-term: partner or acquire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Rightmove (lettings)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Distribution; brand recognition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relationship barely contested; sales-distracted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the tenant; agents follow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Goodlord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$45m ARR; lettings-agent SaaS leader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Agent-side only; no consumer brand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for referencing rails, not compete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Zoopla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+ Alto CRM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review distraction; no AI tenant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 AI-native; be acquired by new Zoopla owner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SpareRoom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9m+ users; flatshare niche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Vertical-specific; not whole-of-lettings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Adjacent; not direct competition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Dwelly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$93m to roll up letting agencies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consumer/tenant 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 conversation NOW — they need 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Reapit + PayProp (AKKR)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CRM + payments rail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Operates B2B; no tenant brand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as feed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 / Zero Deposit / Canopy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Deposit-free leadership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distribution to tenants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Affiliate partners + ranking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D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owns the AI tenant experience. Everyone else owns either the landlord, the agent, the CRM, the payments rail, or the deposit. We sit on the tenant.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Lettings-industry credibility + consumer product chops + AI engineering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v2 Lettings-First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and early team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5720" cy="320040"/>
          </a:xfrm>
          <a:prstGeom prst="rect">
            <a:avLst/>
          </a:prstGeom>
          <a:solidFill>
            <a:srgbClr val="5C8A7D"/>
          </a:solidFill>
          <a:ln w="12700">
            <a:solidFill>
              <a:srgbClr val="5C8A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1752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Lettings industry credibility · ex-OpenRent / Goodlord / portal lettings lead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45720" cy="320040"/>
          </a:xfrm>
          <a:prstGeom prst="rect">
            <a:avLst/>
          </a:prstGeom>
          <a:solidFill>
            <a:srgbClr val="5C8A7D"/>
          </a:solidFill>
          <a:ln w="12700">
            <a:solidFill>
              <a:srgbClr val="5C8A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151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17520" y="2615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£100k anchor investor (lettings-active agent)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5720" cy="320040"/>
          </a:xfrm>
          <a:prstGeom prst="rect">
            <a:avLst/>
          </a:prstGeom>
          <a:solidFill>
            <a:srgbClr val="5C8A7D"/>
          </a:solidFill>
          <a:ln w="12700">
            <a:solidFill>
              <a:srgbClr val="5C8A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Co-founder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17520" y="3035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/ consumer mobile · equity-heavy in Y1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56432"/>
            <a:ext cx="45720" cy="320040"/>
          </a:xfrm>
          <a:prstGeom prst="rect">
            <a:avLst/>
          </a:prstGeom>
          <a:solidFill>
            <a:srgbClr val="5C8A7D"/>
          </a:solidFill>
          <a:ln w="12700">
            <a:solidFill>
              <a:srgbClr val="5C8A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Landlord Acquisition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17520" y="3456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Ex-OpenRent / Goodlord / indie agent — the highest-leverage hire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77056"/>
            <a:ext cx="45720" cy="320040"/>
          </a:xfrm>
          <a:prstGeom prst="rect">
            <a:avLst/>
          </a:prstGeom>
          <a:solidFill>
            <a:srgbClr val="5C8A7D"/>
          </a:solidFill>
          <a:ln w="12700">
            <a:solidFill>
              <a:srgbClr val="5C8A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770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Tenant Product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17520" y="38770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Ex-Wise / Monzo / Trainline / Citymapper · owns AI tenant agent UX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45720" cy="320040"/>
          </a:xfrm>
          <a:prstGeom prst="rect">
            <a:avLst/>
          </a:prstGeom>
          <a:solidFill>
            <a:srgbClr val="5C8A7D"/>
          </a:solidFill>
          <a:ln w="12700">
            <a:solidFill>
              <a:srgbClr val="5C8A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AI/ML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1752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agent · ranking · scoring · pricing models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718304"/>
            <a:ext cx="45720" cy="320040"/>
          </a:xfrm>
          <a:prstGeom prst="rect">
            <a:avLst/>
          </a:prstGeom>
          <a:solidFill>
            <a:srgbClr val="5C8A7D"/>
          </a:solidFill>
          <a:ln w="12700">
            <a:solidFill>
              <a:srgbClr val="5C8A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7183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Compliance (Y2)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17520" y="47183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Renters' Rights Act · Right to Rent · FCA AR pathway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5138928"/>
            <a:ext cx="45720" cy="320040"/>
          </a:xfrm>
          <a:prstGeom prst="rect">
            <a:avLst/>
          </a:prstGeom>
          <a:solidFill>
            <a:srgbClr val="5C8A7D"/>
          </a:solidFill>
          <a:ln w="12700">
            <a:solidFill>
              <a:srgbClr val="5C8A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138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FS Partnerships (Y2)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017520" y="5138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Goodlord · Reposit · ZeroDeposit · Canopy · mortgage broker · insurance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1783080"/>
            <a:ext cx="4846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2194560"/>
            <a:ext cx="4572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Ex-OpenRent founding-era operator (if available)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named landlords (portfolio + accidental)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Renters' Reform advocate (Generation Rent / Shelter)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McCallion / Bryan McCallion — narrative ally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product leader from UK consumer app (Wise / Monzo / Octopus)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0" y="4389120"/>
            <a:ext cx="4846320" cy="2286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explicitly DON'T need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40880" y="480060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heavyweight Head of New Homes (deferred Y3+)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15-person sales team flying around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£3m brand-campaign budget</a:t>
            </a:r>
            <a:endParaRPr lang="en-US" sz="1100" dirty="0"/>
          </a:p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Counsel from day one (fractional Y1)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&amp; RETURNS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credible bidders within 12 months of £8–10m ARR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v2 Lettings-First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6B605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892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£40m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£100k angel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60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~50×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3858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Lower-end ARR; partial multiple compression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1688" y="1783080"/>
            <a:ext cx="365760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5C8A7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90288" y="1892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90288" y="2240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£100m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90288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£100k angel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90288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8A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~140×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90288" y="3858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£20m ARR · 5× multiple · Houseful / strategic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66176" y="1783080"/>
            <a:ext cx="365760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94776" y="1892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94776" y="2240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£175m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494776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£100k angel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94776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~250×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94776" y="3858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£23m ARR · 7–8× · CoStar / Houseful bidding war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11247120" cy="2240280"/>
          </a:xfrm>
          <a:prstGeom prst="rect">
            <a:avLst/>
          </a:prstGeom>
          <a:solidFill>
            <a:srgbClr val="0E4651"/>
          </a:solidFill>
          <a:ln w="12700">
            <a:solidFill>
              <a:srgbClr val="0E46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343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 us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" y="4892040"/>
            <a:ext cx="164592" cy="164592"/>
          </a:xfrm>
          <a:prstGeom prst="ellipse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846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Houseful (Zoopla, Silver Lake)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51389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8D5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Lettings-AI add-on for Alto + Hometrack stack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4892040"/>
            <a:ext cx="164592" cy="164592"/>
          </a:xfrm>
          <a:prstGeom prst="ellipse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4846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CoStar Group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51389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8D5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consolidation: OnTheMarket + us = real #2 vs RM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83880" y="4892040"/>
            <a:ext cx="164592" cy="164592"/>
          </a:xfrm>
          <a:prstGeom prst="ellipse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4846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Corp / REA Group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58200" y="51389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8D5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Jitty; clear UK lettings adjacency interest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" y="5669280"/>
            <a:ext cx="164592" cy="164592"/>
          </a:xfrm>
          <a:prstGeom prst="ellipse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623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portal entrant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0120" y="59161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8D5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 · ImmoScout24 · Idealista — UK entry vehicle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34840" y="5669280"/>
            <a:ext cx="164592" cy="164592"/>
          </a:xfrm>
          <a:prstGeom prst="ellipse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5623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Goodlord / Dwelly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09160" y="59161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8D5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merger — agent stack + tenant surface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83880" y="5669280"/>
            <a:ext cx="164592" cy="164592"/>
          </a:xfrm>
          <a:prstGeom prst="ellipse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58200" y="5623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Rightmove (defensive)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458200" y="59161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8D5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purchase — a price they may pay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KILLS THIS COMPANY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risk register (smaller and shorter than v1's — by design)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v2 Lettings-First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91440" cy="1051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874520"/>
            <a:ext cx="914400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OpenRent extends to AI before we reach scale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Speed; tenant-side wedge they have not built; partnership / acquisition path open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737360"/>
            <a:ext cx="91440" cy="1051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61320" y="1874520"/>
            <a:ext cx="914400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6132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550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 acquisition stalls below 10k actives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21945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OpenRent feed first; Goodlord and Reapit/PayProp partnerships; Renters' Rights compliance hook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26080"/>
            <a:ext cx="91440" cy="1051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3063240"/>
            <a:ext cx="914400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angel resists the v1 → v2 pivot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3832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+ this deck designed to bring him with us; lettings still embarrasses Rightmove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926080"/>
            <a:ext cx="91440" cy="1051560"/>
          </a:xfrm>
          <a:prstGeom prst="rect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61320" y="3063240"/>
            <a:ext cx="914400" cy="274320"/>
          </a:xfrm>
          <a:prstGeom prst="rect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6132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Rightmove launches a credible AI tenant product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33832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UX legacy makes this hard; their incentive is to defend sales-side first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114800"/>
            <a:ext cx="91440" cy="1051560"/>
          </a:xfrm>
          <a:prstGeom prst="rect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4251960"/>
            <a:ext cx="914400" cy="274320"/>
          </a:xfrm>
          <a:prstGeom prst="rect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Renters' Rights Act creates compliance overhead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45720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pro-Renter — most rule changes are tailwind, not headwind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411480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4114800"/>
            <a:ext cx="91440" cy="1051560"/>
          </a:xfrm>
          <a:prstGeom prst="rect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61320" y="4251960"/>
            <a:ext cx="914400" cy="274320"/>
          </a:xfrm>
          <a:prstGeom prst="rect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6132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5508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CAC runs away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55080" y="45720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&lt;12-month payback discipline; if breached, slow growth not borrow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30352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5303520"/>
            <a:ext cx="91440" cy="1051560"/>
          </a:xfrm>
          <a:prstGeom prst="rect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92040" y="5440680"/>
            <a:ext cx="914400" cy="274320"/>
          </a:xfrm>
          <a:prstGeom prst="rect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5440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" y="5394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spike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open/frontier model stack; small models for routine work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26480" y="5303520"/>
            <a:ext cx="5440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26480" y="5303520"/>
            <a:ext cx="91440" cy="1051560"/>
          </a:xfrm>
          <a:prstGeom prst="rect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561320" y="5440680"/>
            <a:ext cx="914400" cy="274320"/>
          </a:xfrm>
          <a:prstGeom prst="rect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61320" y="5440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55080" y="5394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Dwelly executes faster on the same thesis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3550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partnership conversation NOW — they need our tenant surface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46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365760"/>
            <a:ext cx="640080" cy="640080"/>
          </a:xfrm>
          <a:prstGeom prst="ellipse">
            <a:avLst/>
          </a:prstGeom>
          <a:solidFill>
            <a:srgbClr val="B85042">
              <a:alpha val="70000"/>
            </a:srgbClr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594360"/>
            <a:ext cx="320040" cy="320040"/>
          </a:xfrm>
          <a:prstGeom prst="ellipse">
            <a:avLst/>
          </a:prstGeom>
          <a:solidFill>
            <a:srgbClr val="DCA84A"/>
          </a:solidFill>
          <a:ln w="12700">
            <a:solidFill>
              <a:srgbClr val="DCA8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DC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143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£100k angel — but for v2.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B8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brand. Same investor. Same enemy. A sharper wedge that gives him a defensible board seat and a better risk-adjusted return.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37160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429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C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from v1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Wedge: lettings-first AI (not sales-first portal)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cap: £4m total (not £3–40m across three scenarios)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pool: rentals advertising + outcome-based fees (not for-sale agent subs)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Y5: 25–30% (vs v1's 20–25%) at the same revenue band</a:t>
            </a:r>
            <a:endParaRPr lang="en-US" sz="1600" dirty="0"/>
          </a:p>
          <a:p>
            <a:pPr marL="342900" indent="-342900">
              <a:buSzPct val="100000"/>
              <a:buChar char="●"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Default-alive at every stage. No Series B. No CoStar-style write-off path.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6263640"/>
            <a:ext cx="54864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9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FindAllProperty.co.uk · Plan v2 (Lettings-First AI) · Confidential · May 2026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4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I'd back this version, in one slide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961120" y="384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FindAllProperty · v2 Lettings-First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5486400" cy="502920"/>
          </a:xfrm>
          <a:prstGeom prst="rect">
            <a:avLst/>
          </a:prstGeom>
          <a:solidFill>
            <a:srgbClr val="0E4651"/>
          </a:solidFill>
          <a:ln w="12700">
            <a:solidFill>
              <a:srgbClr val="0E46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reasons v2 beats v1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needs Rightmove to look weak; v2 succeeds whether or not.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attacks the largest profit pool in property tech (rentals ads); v1 the worst (for-sale leads).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reaches breakeven Y3 with high confidence; v1's path was Series B dependent.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stays default-alive at £4m raised; v1 needed continual fundraising to keep up.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has 8 revenue streams (none &gt;22%); v1 had 6 with higher concentration risk.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v2's lower capital cap means higher implied return per £ angel cheque, not lower.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4864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783080"/>
            <a:ext cx="548640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783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tension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42316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seed-investor agent is emotionally bought into a Rightmove-killer narrative.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Pitching lettings-first to him is harder on day one. </a:t>
            </a:r>
            <a:pPr indent="0" marL="0"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much easier on day two when the question becomes “what was the return?”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move is to walk him through both decks — v1 to acknowledge the brief, v2 to recommend.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Lettings still embarrasses Rightmove. It just does so from supply not from press.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E4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brand. Same investor. Same enemy. Sharper wedge. Better return on capital.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FindAllProperty.co.uk - Plan v2 - Lettings-First AI</dc:title>
  <dc:subject>PptxGenJS Presentation</dc:subject>
  <dc:creator>FindAllProperty.co.uk</dc:creator>
  <cp:lastModifiedBy>FindAllProperty.co.uk</cp:lastModifiedBy>
  <cp:revision>1</cp:revision>
  <dcterms:created xsi:type="dcterms:W3CDTF">2026-05-27T09:18:38Z</dcterms:created>
  <dcterms:modified xsi:type="dcterms:W3CDTF">2026-05-27T09:18:38Z</dcterms:modified>
</cp:coreProperties>
</file>