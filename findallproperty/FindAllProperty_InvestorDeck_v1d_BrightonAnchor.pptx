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79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80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82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240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4D3D"/>
                </a:solidFill>
                <a:latin typeface="Calibri"/>
              </a:defRPr>
            </a:pPr>
            <a:r>
              <a:rPr lang="en-GB" sz="1300" b="0" i="0" u="none" strike="noStrike">
                <a:solidFill>
                  <a:srgbClr val="1A4D3D"/>
                </a:solidFill>
                <a:latin typeface="Calibri"/>
              </a:rPr>
              <a:t>Revenue mix · Tier 2 Y5 (£18m mid-case)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Y5 revenue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6B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B92-2848-9468-6EFB3C6D3062}"/>
              </c:ext>
            </c:extLst>
          </c:dPt>
          <c:dPt>
            <c:idx val="1"/>
            <c:bubble3D val="0"/>
            <c:spPr>
              <a:solidFill>
                <a:srgbClr val="1A4D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B92-2848-9468-6EFB3C6D3062}"/>
              </c:ext>
            </c:extLst>
          </c:dPt>
          <c:dPt>
            <c:idx val="2"/>
            <c:bubble3D val="0"/>
            <c:spPr>
              <a:solidFill>
                <a:srgbClr val="C9A4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B92-2848-9468-6EFB3C6D3062}"/>
              </c:ext>
            </c:extLst>
          </c:dPt>
          <c:dPt>
            <c:idx val="3"/>
            <c:bubble3D val="0"/>
            <c:spPr>
              <a:solidFill>
                <a:srgbClr val="7C2D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B92-2848-9468-6EFB3C6D3062}"/>
              </c:ext>
            </c:extLst>
          </c:dPt>
          <c:dPt>
            <c:idx val="4"/>
            <c:bubble3D val="0"/>
            <c:spPr>
              <a:solidFill>
                <a:srgbClr val="8B73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B92-2848-9468-6EFB3C6D3062}"/>
              </c:ext>
            </c:extLst>
          </c:dPt>
          <c:dPt>
            <c:idx val="5"/>
            <c:bubble3D val="0"/>
            <c:spPr>
              <a:solidFill>
                <a:srgbClr val="8B7E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B92-2848-9468-6EFB3C6D306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937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B92-2848-9468-6EFB3C6D306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937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B92-2848-9468-6EFB3C6D306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937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B92-2848-9468-6EFB3C6D306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937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B92-2848-9468-6EFB3C6D3062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937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B92-2848-9468-6EFB3C6D3062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937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B92-2848-9468-6EFB3C6D306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Vendor lead-gen</c:v>
                </c:pt>
                <c:pt idx="1">
                  <c:v>Agent subscriptions</c:v>
                </c:pt>
                <c:pt idx="2">
                  <c:v>Mortgage referrals</c:v>
                </c:pt>
                <c:pt idx="3">
                  <c:v>Advertising / new homes</c:v>
                </c:pt>
                <c:pt idx="4">
                  <c:v>Data / API licensing</c:v>
                </c:pt>
                <c:pt idx="5">
                  <c:v>Conveyancing + affiliate + consumer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5.6</c:v>
                </c:pt>
                <c:pt idx="2">
                  <c:v>3</c:v>
                </c:pt>
                <c:pt idx="3">
                  <c:v>2</c:v>
                </c:pt>
                <c:pt idx="4">
                  <c:v>1.4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B92-2848-9468-6EFB3C6D30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 (£k)</c:v>
                </c:pt>
              </c:strCache>
            </c:strRef>
          </c:tx>
          <c:spPr>
            <a:solidFill>
              <a:srgbClr val="2D6B5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Cloud + AI APIs</c:v>
                </c:pt>
                <c:pt idx="1">
                  <c:v>Legal (Ltd, IP, GDPR, FCA-AR)</c:v>
                </c:pt>
                <c:pt idx="2">
                  <c:v>Brand + domain + design</c:v>
                </c:pt>
                <c:pt idx="3">
                  <c:v>Pilot agent acquisition</c:v>
                </c:pt>
                <c:pt idx="4">
                  <c:v>Contractor (designer / junior eng)</c:v>
                </c:pt>
                <c:pt idx="5">
                  <c:v>SaaS (CRM, BI, devtools)</c:v>
                </c:pt>
                <c:pt idx="6">
                  <c:v>Insurance (D&amp;O, cyber, PI)</c:v>
                </c:pt>
                <c:pt idx="7">
                  <c:v>Pre-seed legals + SAFE</c:v>
                </c:pt>
                <c:pt idx="8">
                  <c:v>Customer Acquisition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</c:v>
                </c:pt>
                <c:pt idx="1">
                  <c:v>12</c:v>
                </c:pt>
                <c:pt idx="2">
                  <c:v>7</c:v>
                </c:pt>
                <c:pt idx="3">
                  <c:v>4</c:v>
                </c:pt>
                <c:pt idx="4">
                  <c:v>20</c:v>
                </c:pt>
                <c:pt idx="5">
                  <c:v>5</c:v>
                </c:pt>
                <c:pt idx="6">
                  <c:v>4</c:v>
                </c:pt>
                <c:pt idx="7">
                  <c:v>4</c:v>
                </c:pt>
                <c:pt idx="8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68-3648-9535-C38FC7307E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1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7E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6241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365760"/>
            <a:ext cx="640080" cy="640080"/>
          </a:xfrm>
          <a:prstGeom prst="ellipse">
            <a:avLst/>
          </a:prstGeom>
          <a:solidFill>
            <a:srgbClr val="C9A437">
              <a:alpha val="70000"/>
            </a:srgbClr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521440" y="594360"/>
            <a:ext cx="320040" cy="320040"/>
          </a:xfrm>
          <a:prstGeom prst="ellipse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FindAllProperty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C9D9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.co.uk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3886200"/>
            <a:ext cx="640080" cy="54864"/>
          </a:xfrm>
          <a:prstGeom prst="rect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The Future  ·  The Sequel  ·  National Challenger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Brighton-anchored, AI-native property portal — built where the last one started.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349240"/>
            <a:ext cx="457200" cy="36576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0080" y="5440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£100k cornerstone cheque · two founders' commitment · three credible tiers.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briefing · May 2026 ·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30-SECOND PITCH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5–10% of Rightmove's market — and stop paying them £80k a year while we do.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869680" y="384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v1d · Brighton Anchor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40080" y="2029968"/>
            <a:ext cx="2377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8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£425m</a:t>
            </a:r>
            <a:endParaRPr lang="en-US" sz="3280" dirty="0"/>
          </a:p>
        </p:txBody>
      </p:sp>
      <p:sp>
        <p:nvSpPr>
          <p:cNvPr id="8" name="Text 6"/>
          <p:cNvSpPr/>
          <p:nvPr/>
        </p:nvSpPr>
        <p:spPr>
          <a:xfrm>
            <a:off x="640080" y="2770632"/>
            <a:ext cx="23774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Rightmove FY25 revenue (+9% YoY)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9202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520440" y="2029968"/>
            <a:ext cx="2377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C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520440" y="2770632"/>
            <a:ext cx="23774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Rightmove operating margin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00800" y="2029968"/>
            <a:ext cx="2377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60" b="1" dirty="0">
                <a:solidFill>
                  <a:srgbClr val="7C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£1.5bn</a:t>
            </a:r>
            <a:endParaRPr lang="en-US" sz="3160" dirty="0"/>
          </a:p>
        </p:txBody>
      </p:sp>
      <p:sp>
        <p:nvSpPr>
          <p:cNvPr id="14" name="Text 12"/>
          <p:cNvSpPr/>
          <p:nvPr/>
        </p:nvSpPr>
        <p:spPr>
          <a:xfrm>
            <a:off x="6400800" y="2770632"/>
            <a:ext cx="23774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action filed Nov 2025 (CAT)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98280" y="192024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281160" y="2029968"/>
            <a:ext cx="22402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6B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9281160" y="2770632"/>
            <a:ext cx="2240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Time-spent share on UK portals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112471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9" name="Text 17"/>
          <p:cNvSpPr/>
          <p:nvPr/>
        </p:nvSpPr>
        <p:spPr>
          <a:xfrm>
            <a:off x="68580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40233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Rightmove charges small agents up to </a:t>
            </a: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£36,000 per branch per year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corporates pay £250/month. A 3-branch independent commonly spends </a:t>
            </a: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£60–100k/year on portals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2,800 branches signed the “Say No to Rightmove” campaign. A £1.5bn collective action — led by a </a:t>
            </a: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CMA panel member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reaches certification on 2–3 November 2026.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05443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D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542019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Free-to-consumer AI search · free baseline listing for any UK agent · revenue from vendor leads, mortgage and conveyancing referrals, low-cost agent tiers. </a:t>
            </a: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where Brighton built a portal challenger before — 1997. And again now, AI-native.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joint venture: anchor agent's industry network + domain + cheque · founders' product + AI · offshore-friendly cost base.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monopoly is no longer respected by the people who pay for it.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869680" y="384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v1d · Brighton Anchor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91440" cy="4114800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“Exploits its dominance to charge excessively and unfairly high subscription fees, both at face value and when compared with its competitors.”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4434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Jeremy Newman, ex-CMA panel member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754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£1.5bn class action filing, November 2025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fires burning at once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2103120"/>
            <a:ext cx="1280160" cy="64008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400800" y="2103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£1.5bn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63840" y="21488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action, CAT certification 2–3 Nov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880360"/>
            <a:ext cx="1280160" cy="64008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400800" y="2880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2,800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863840" y="29260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signed the “Say No to Rightmove” campaign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3657600"/>
            <a:ext cx="1280160" cy="64008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400800" y="3657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863840" y="3703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Rightmove fee hike Feb 2025 (vs UK inflation 2.5%)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4434840"/>
            <a:ext cx="1280160" cy="64008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400800" y="4434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863840" y="4480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Rightmove fee hike again 2026 → open letters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5212080"/>
            <a:ext cx="1280160" cy="64008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400800" y="5212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£300m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863840" y="5257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Wiped off Rightmove market cap on lawsuit news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Propertymark renewed its 3-year Rightmove sponsorship in Sept 2025. The industry is leaderless. Your investor can be the leader.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Rightmove actually costs a small estate agent — your investor's monthly reality.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869680" y="384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v1d · Brighton Anchor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two-tier secret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chains (Connells, LSL)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560320"/>
            <a:ext cx="3931920" cy="274320"/>
          </a:xfrm>
          <a:prstGeom prst="rect">
            <a:avLst/>
          </a:prstGeom>
          <a:solidFill>
            <a:srgbClr val="E8E1D0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85800" y="2560320"/>
            <a:ext cx="327660" cy="274320"/>
          </a:xfrm>
          <a:prstGeom prst="rect">
            <a:avLst/>
          </a:prstGeom>
          <a:solidFill>
            <a:srgbClr val="2D6B58"/>
          </a:solidFill>
          <a:ln w="12700">
            <a:solidFill>
              <a:srgbClr val="2D6B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709160" y="25328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£250/mo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154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Rightmove average ARPA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429000"/>
            <a:ext cx="3931920" cy="274320"/>
          </a:xfrm>
          <a:prstGeom prst="rect">
            <a:avLst/>
          </a:prstGeom>
          <a:solidFill>
            <a:srgbClr val="E8E1D0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85800" y="3429000"/>
            <a:ext cx="2005279" cy="27432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709160" y="34015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£1,530/mo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023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agent typical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297680"/>
            <a:ext cx="3931920" cy="274320"/>
          </a:xfrm>
          <a:prstGeom prst="rect">
            <a:avLst/>
          </a:prstGeom>
          <a:solidFill>
            <a:srgbClr val="E8E1D0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85800" y="4297680"/>
            <a:ext cx="2621280" cy="274320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709160" y="42702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£2,000/mo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4892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independents pay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5166360"/>
            <a:ext cx="3931920" cy="274320"/>
          </a:xfrm>
          <a:prstGeom prst="rect">
            <a:avLst/>
          </a:prstGeom>
          <a:solidFill>
            <a:srgbClr val="E8E1D0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85800" y="5166360"/>
            <a:ext cx="3931920" cy="274320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709160" y="51389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£2,500–3,000+/mo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5715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PIE 2025 analysis · Rightmove FY25 · The Negotiator 2025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1691640"/>
            <a:ext cx="5486400" cy="438912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40080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Rightmove fees as % of agency commission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0" y="2103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(by region, 2025 industry analysis)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Glasgow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0" y="2514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6C2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13.5%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0" y="2898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Newcastle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6C2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12.4%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32826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Liverpool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0" y="32826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6C2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10.8%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0" y="36667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Edinburgh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01200" y="36667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6C2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9.5%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0" y="4050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Cardiff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01200" y="40507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6C2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8.7%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0120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6C2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8.7%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0800" y="4818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Birmingham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601200" y="48188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6C2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8.7%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00800" y="52029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601200" y="52029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9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2.9%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3-branch regional independent pays £60–100k/year on Rightmove alone. £80k is the median, not the extreme.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wins for the anchor investor — beyond the financial return.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869680" y="384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v1d · Brighton Anchor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657600" cy="91440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85800" y="2011680"/>
            <a:ext cx="548640" cy="548640"/>
          </a:xfrm>
          <a:prstGeom prst="ellipse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paying Rightmove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agency uses FindAllProperty from day one. The fees you pay Rightmove starts being saved, not spent. </a:t>
            </a:r>
            <a:b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five years that could be as much as £400k+ recovered to your P&amp;L before any equity return.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61688" y="1737360"/>
            <a:ext cx="3657600" cy="91440"/>
          </a:xfrm>
          <a:prstGeom prst="rect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361688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590288" y="2011680"/>
            <a:ext cx="548640" cy="548640"/>
          </a:xfrm>
          <a:prstGeom prst="ellipse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59028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30368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the standard-bearer for your peers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36008" y="27432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peers are paying the same fees. They want a leader. The £1.5bn class action, the “Say No to Rightmove” campaign, the open letters — all need a credible figurehead who has built the alternative. Chairman seat. Speaking platform. Industry capital.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66176" y="1737360"/>
            <a:ext cx="3657600" cy="91440"/>
          </a:xfrm>
          <a:prstGeom prst="rect">
            <a:avLst/>
          </a:prstGeom>
          <a:solidFill>
            <a:srgbClr val="2D6B58"/>
          </a:solidFill>
          <a:ln w="12700">
            <a:solidFill>
              <a:srgbClr val="2D6B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8266176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8494776" y="2011680"/>
            <a:ext cx="548640" cy="548640"/>
          </a:xfrm>
          <a:prstGeom prst="ellipse">
            <a:avLst/>
          </a:prstGeom>
          <a:solidFill>
            <a:srgbClr val="2D6B58"/>
          </a:solidFill>
          <a:ln w="12700">
            <a:solidFill>
              <a:srgbClr val="2D6B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8494776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34856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foot in the software door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40496" y="27432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capital and software capital don't usually meet. This bridges them. A successful exit puts you on the cap table of a UK software business, not just another estate-agent valuation. Diversification of asset class.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return is a bonus on top of those three. £80k/year saved is an 80% cash-on-cash return on £100k before any exit.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UK property in one search. Free for buyers, fair for agents.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869680" y="384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v1d · Brighton Anchor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657600" cy="91440"/>
          </a:xfrm>
          <a:prstGeom prst="rect">
            <a:avLst/>
          </a:prstGeom>
          <a:solidFill>
            <a:srgbClr val="2D6B58"/>
          </a:solidFill>
          <a:ln w="12700">
            <a:solidFill>
              <a:srgbClr val="2D6B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6B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search (“3-bed near a Tube with garden under £600k”). Vision-tagged photos. Affordability embedded at point of search. Rightmove is retrofitting AI — we are built around it.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61688" y="1737360"/>
            <a:ext cx="3657600" cy="91440"/>
          </a:xfrm>
          <a:prstGeom prst="rect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361688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636008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Agent-Aligned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36008" y="274320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baseline listing forever, for every UK agent. Optional tiers at £99/£199/£399 per branch — 7–25% of Rightmove ARPA. Monthly cancellation. No “one other portal” rule.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66176" y="1737360"/>
            <a:ext cx="3657600" cy="91440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8266176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  <a:effectLst>
            <a:outerShdw blurRad="1016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540496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Pre-Market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540496" y="274320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agent feeds surface “coming-soon” listings, price drops, and instructions before Rightmove. The one piece of supply Rightmove does not have, by structure.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40080" y="6217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Feed-first ingestion from agent CRMs · deep-link only · UK Ltd, UK-hosted · no scraping of Rightmove at scale.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972800" y="365760"/>
            <a:ext cx="640080" cy="640080"/>
          </a:xfrm>
          <a:prstGeom prst="ellipse">
            <a:avLst/>
          </a:prstGeom>
          <a:solidFill>
            <a:srgbClr val="C9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521440" y="594360"/>
            <a:ext cx="320040" cy="320040"/>
          </a:xfrm>
          <a:prstGeom prst="ellipse">
            <a:avLst/>
          </a:prstGeom>
          <a:solidFill>
            <a:srgbClr val="7C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C9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spc="500">
                <a:solidFill>
                  <a:srgbClr val="C9A437"/>
                </a:solidFill>
                <a:latin typeface="Calibri"/>
              </a:rPr>
              <a:t>SO… WHERE TO START?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38404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C9D9CC"/>
                </a:solidFill>
                <a:latin typeface="Calibri"/>
              </a:rPr>
              <a:t>FindAllProperty · v1d · Brighton Anchor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1247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Georgia"/>
              </a:rPr>
              <a:t>Brighton &amp; the South-East.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23560" y="3383280"/>
            <a:ext cx="914400" cy="64008"/>
          </a:xfrm>
          <a:prstGeom prst="rect">
            <a:avLst/>
          </a:prstGeom>
          <a:solidFill>
            <a:srgbClr val="C9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0" i="1">
                <a:solidFill>
                  <a:srgbClr val="C9D9CC"/>
                </a:solidFill>
                <a:latin typeface="Georgia"/>
              </a:rPr>
              <a:t>Not London. And that's deliberate.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806440"/>
            <a:ext cx="11247120" cy="731520"/>
          </a:xfrm>
          <a:prstGeom prst="rect">
            <a:avLst/>
          </a:prstGeom>
          <a:solidFill>
            <a:srgbClr val="FA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 spc="400">
                <a:solidFill>
                  <a:srgbClr val="7C2D2D"/>
                </a:solidFill>
                <a:latin typeface="Calibri"/>
              </a:rPr>
              <a:t>WHY NOT LONDON YET?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1">
                <a:solidFill>
                  <a:srgbClr val="1A4D3D"/>
                </a:solidFill>
                <a:latin typeface="Calibri"/>
              </a:rPr>
              <a:t>London agents pay Rightmove only 2.9% of commission · founders cannot afford London CAC on £100k · proptech noise is highest in London · the named revolt voices live in Sussex/Kent.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BRIGHTON IN 2026?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forward-looking reasons… and the 1997 heritage as a bonus!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869680" y="384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v1d · Brighton Anchor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94360" cy="594360"/>
          </a:xfrm>
          <a:prstGeom prst="ellipse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9842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density without London noise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4–6,000 estate-agency branches across Brighton, Sussex and the South-Coast commuter belt. Less proptech competition for attention than London — agents return our calls.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1688" y="178308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544568" y="1965960"/>
            <a:ext cx="594360" cy="594360"/>
          </a:xfrm>
          <a:prstGeom prst="ellipse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544568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76088" y="19842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revolt voices live here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90288" y="269748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Shaun Adams (Cooper Adams, West Sussex, 15 miles). Rob Sargent (Acorn, Kent, 90 minutes). The Rightmove revolt originated in the Home Counties, not the North.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66176" y="178308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8449056" y="1965960"/>
            <a:ext cx="594360" cy="594360"/>
          </a:xfrm>
          <a:prstGeom prst="ellipse">
            <a:avLst/>
          </a:prstGeom>
          <a:solidFill>
            <a:srgbClr val="2D6B58"/>
          </a:solidFill>
          <a:ln w="12700">
            <a:solidFill>
              <a:srgbClr val="2D6B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8449056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80576" y="19842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+ investor accessibility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94776" y="269748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 in Brighton (even though agencies in London). Marc within reach. Franck remote-friendly. London too expensive for unpaid founders; Manchester/Glasgow too far. Brighton is the operational sweet spot.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40080" y="4206240"/>
            <a:ext cx="594360" cy="594360"/>
          </a:xfrm>
          <a:prstGeom prst="ellipse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371600" y="422452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and cost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5800" y="493776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Sussex · Digital Catapult cluster · serious design/product talent at 60–70% of London rates. Materially supports the £4m capital cap and offshore-friendly operating model.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61688" y="402336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544568" y="4206240"/>
            <a:ext cx="594360" cy="594360"/>
          </a:xfrm>
          <a:prstGeom prst="ellipse">
            <a:avLst/>
          </a:prstGeom>
          <a:solidFill>
            <a:srgbClr val="2D6B58"/>
          </a:solidFill>
          <a:ln w="12700">
            <a:solidFill>
              <a:srgbClr val="2D6B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544568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276088" y="422452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leverage outside the London echo chamber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90288" y="493776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 story has a Brighton angle. Argus, Sussex Business Times, regional broadcast pick it up first; national follows. London startups fight for the same coverage; we own ours.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66176" y="402336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8449056" y="4206240"/>
            <a:ext cx="594360" cy="594360"/>
          </a:xfrm>
          <a:prstGeom prst="ellipse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8449056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180576" y="422452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de-risks the cold call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494776" y="493776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remember FindaProperty was built in Brighton and worked. "We're doing it again, in Brighton, AI-native this time" opens a door faster than a London tech pitch ever will.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Tier-1 marketing: Brighton + Sussex + commuter belt. Platform access: national from day one — a London or Northern agent signing up via free tier is welcomed.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WHERE IT ALL STARTED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of course, Brighton was cornerstone to </a:t>
            </a:r>
            <a:r>
              <a:rPr lang="en-US" sz="2500" b="1" i="1" dirty="0" err="1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findAProperty</a:t>
            </a:r>
            <a:r>
              <a:rPr lang="en-US" sz="25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869680" y="384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v1d · Brighton Anchor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1997: Andrew Pendery starts FindaProperty.com — initially from a London bedroom, then operationally out of a Brighton office. He and his early team build supply agent by agent, street by street, across Brighton and Sussex.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10972800" cy="0"/>
          </a:xfrm>
          <a:prstGeom prst="line">
            <a:avLst/>
          </a:prstGeom>
          <a:noFill/>
          <a:ln w="381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508760" y="3520440"/>
            <a:ext cx="274320" cy="274320"/>
          </a:xfrm>
          <a:prstGeom prst="ellipse">
            <a:avLst/>
          </a:prstGeom>
          <a:solidFill>
            <a:srgbClr val="1A4D3D"/>
          </a:solidFill>
          <a:ln w="254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FindaProperty launches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9319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Pendery + Schustek build the first UK competitor to Rightmove — out of Brighton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94760" y="3520440"/>
            <a:ext cx="274320" cy="274320"/>
          </a:xfrm>
          <a:prstGeom prst="ellipse">
            <a:avLst/>
          </a:prstGeom>
          <a:solidFill>
            <a:srgbClr val="1A4D3D"/>
          </a:solidFill>
          <a:ln w="254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788920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8892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to Zoopla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80360" y="39319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Digital Property Group merger · deal value ~£447m · brand rolled into Zoopla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3520440"/>
            <a:ext cx="274320" cy="274320"/>
          </a:xfrm>
          <a:prstGeom prst="ellipse">
            <a:avLst/>
          </a:prstGeom>
          <a:solidFill>
            <a:srgbClr val="1A4D3D"/>
          </a:solidFill>
          <a:ln w="254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074920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7492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Lake buys Zoopla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66360" y="39319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£2.2bn buyout · peak of the portal-empire era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66760" y="3520440"/>
            <a:ext cx="274320" cy="274320"/>
          </a:xfrm>
          <a:prstGeom prst="ellipse">
            <a:avLst/>
          </a:prstGeom>
          <a:solidFill>
            <a:srgbClr val="1A4D3D"/>
          </a:solidFill>
          <a:ln w="254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360920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2025–26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6092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Zoopla on the block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52360" y="39319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Lake reportedly tagged ~£500m · ~75% writedown from 2018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652760" y="3520440"/>
            <a:ext cx="274320" cy="274320"/>
          </a:xfrm>
          <a:prstGeom prst="ellipse">
            <a:avLst/>
          </a:prstGeom>
          <a:solidFill>
            <a:srgbClr val="7C2D2D"/>
          </a:solidFill>
          <a:ln w="254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9646920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4692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FindAllProperty.co.uk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38360" y="39319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city. Same model. AI-native this time. Same enemy now distracted by £1.5bn class action.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Brighton built a UK property-portal challenger in 1997. It sold for £447m in 2012.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 same asset is on the block at Silver Lake — at a 75% writedown. The market is open again. And we're 5 miles from where it was built the first time.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6E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nostalgia. It's local talent · agent density · named revolt voices (Adams in West Sussex, Sargent in Kent) · and a story your investor's peers will tell each other unprompted.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TIERS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£100k alone builds — and what bigger capital could unlock.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869680" y="384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v1d · Brighton Anchor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657600" cy="4709160"/>
          </a:xfrm>
          <a:prstGeom prst="rect">
            <a:avLst/>
          </a:prstGeom>
          <a:solidFill>
            <a:srgbClr val="FFFFFF"/>
          </a:solidFill>
          <a:ln w="38100">
            <a:solidFill>
              <a:srgbClr val="C9A43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657600" cy="731520"/>
          </a:xfrm>
          <a:prstGeom prst="rect">
            <a:avLst/>
          </a:prstGeom>
          <a:solidFill>
            <a:srgbClr val="8B7E68"/>
          </a:solidFill>
          <a:ln w="12700">
            <a:solidFill>
              <a:srgbClr val="8B7E6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 TO THE FUTURE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029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· Starts in Brighton… where it all started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0332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4884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£100k + sweat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4884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founders + 1 contractor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3 rev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4884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£0.4–0.7m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5 rev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4884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£1.5–2.5m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5 exit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4884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£8–15m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572000"/>
            <a:ext cx="3200400" cy="18288"/>
          </a:xfrm>
          <a:prstGeom prst="rect">
            <a:avLst/>
          </a:prstGeom>
          <a:solidFill>
            <a:srgbClr val="E8E1D0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 sz="2000"/>
          </a:p>
        </p:txBody>
      </p:sp>
      <p:sp>
        <p:nvSpPr>
          <p:cNvPr id="22" name="Text 20"/>
          <p:cNvSpPr/>
          <p:nvPr/>
        </p:nvSpPr>
        <p:spPr>
          <a:xfrm>
            <a:off x="685800" y="46634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Franck &amp; Marc on technical and driving business forward — both unpaid on Yr1. Equivalent: £200k Yr1 / </a:t>
            </a:r>
            <a:b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Investor: £100k now + ~£130k of founder time deferred = ~£230k effective Y1. Brighton &amp; South Coast beachhead. Cash-flow profitable Year 3.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61688" y="1645920"/>
            <a:ext cx="365760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 sz="2000"/>
          </a:p>
        </p:txBody>
      </p:sp>
      <p:sp>
        <p:nvSpPr>
          <p:cNvPr id="24" name="Shape 22"/>
          <p:cNvSpPr/>
          <p:nvPr/>
        </p:nvSpPr>
        <p:spPr>
          <a:xfrm>
            <a:off x="4361688" y="1645920"/>
            <a:ext cx="3657600" cy="731520"/>
          </a:xfrm>
          <a:prstGeom prst="rect">
            <a:avLst/>
          </a:prstGeom>
          <a:solidFill>
            <a:srgbClr val="2D6B58"/>
          </a:solidFill>
          <a:ln w="12700">
            <a:solidFill>
              <a:srgbClr val="2D6B58"/>
            </a:solidFill>
            <a:prstDash val="solid"/>
          </a:ln>
        </p:spPr>
        <p:txBody>
          <a:bodyPr/>
          <a:lstStyle/>
          <a:p>
            <a:endParaRPr lang="en-GB" sz="2000"/>
          </a:p>
        </p:txBody>
      </p:sp>
      <p:sp>
        <p:nvSpPr>
          <p:cNvPr id="25" name="Text 23"/>
          <p:cNvSpPr/>
          <p:nvPr/>
        </p:nvSpPr>
        <p:spPr>
          <a:xfrm>
            <a:off x="4544568" y="16916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SEQUEL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44568" y="2029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Ambitious · regional expansion · if we earn the seed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90288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53328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+£1–2m seed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90288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53328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FTE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90288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3 rev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53328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£2–3m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90288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5 rev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53328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£8–14m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90288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5 exit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053328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£40–100m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90288" y="4572000"/>
            <a:ext cx="3200400" cy="18288"/>
          </a:xfrm>
          <a:prstGeom prst="rect">
            <a:avLst/>
          </a:prstGeom>
          <a:solidFill>
            <a:srgbClr val="E8E1D0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 sz="2000"/>
          </a:p>
        </p:txBody>
      </p:sp>
      <p:sp>
        <p:nvSpPr>
          <p:cNvPr id="38" name="Text 36"/>
          <p:cNvSpPr/>
          <p:nvPr/>
        </p:nvSpPr>
        <p:spPr>
          <a:xfrm>
            <a:off x="4590288" y="46634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when we hit 30k MAU + 500 agents + early ARR. Expansion to Manchester, Liverpool, Newcastle, Glasgow — where Rightmove fees hurt most. Aimed at the CAT-window catalyst.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266176" y="1645920"/>
            <a:ext cx="365760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8266176" y="1645920"/>
            <a:ext cx="3657600" cy="731520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8449056" y="16916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CHALLENGER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449056" y="2029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Ambitious · the scope of the prize — not the pitch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494776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957816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£20–40m total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494776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957816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100–200 FTE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494776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3 rev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957816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£10m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494776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5 rev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957816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£25–45m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494776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5 exit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957816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£200–500m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494776" y="4572000"/>
            <a:ext cx="3200400" cy="18288"/>
          </a:xfrm>
          <a:prstGeom prst="rect">
            <a:avLst/>
          </a:prstGeom>
          <a:solidFill>
            <a:srgbClr val="E8E1D0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 sz="2000"/>
          </a:p>
        </p:txBody>
      </p:sp>
      <p:sp>
        <p:nvSpPr>
          <p:cNvPr id="54" name="Text 52"/>
          <p:cNvSpPr/>
          <p:nvPr/>
        </p:nvSpPr>
        <p:spPr>
          <a:xfrm>
            <a:off x="8494776" y="46634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Multi-round capital. Genuine UK #2 ambition. Shown here as the scope of the opportunity if an institutional backer eventually wants to play — not what we are pitching today.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is funded by the £100k angel cornerstone alone. Tiers 2 and 3 are conditional on earning the capital.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BACK TO THE FUTURE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Realistic · Brighton &amp; South Coast · what £100k + two founders' commitment actually builds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869680" y="384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v1d · Brighton Anchor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022598"/>
              </p:ext>
            </p:extLst>
          </p:nvPr>
        </p:nvGraphicFramePr>
        <p:xfrm>
          <a:off x="457200" y="1691640"/>
          <a:ext cx="11247120" cy="315772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raised cumulative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£100k angel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+£150–300k F&amp;F or angel follow-on (if needed)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 (paid)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 (contractor)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Franck &amp; Marc unpaid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Founders draw modest salaries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salaries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salaries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on 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30–50 (Brighton + Sussex)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150–250 (south coast + named advocates)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300–500 (South-East)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600–900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users (MAU)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50–80k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150–250k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500–800k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£15–30k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4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£100–180k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6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£400–700k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6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£1.5–2.5m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positive (no salaries)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Modest burn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Cash-flow positive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£300–600k EBITDA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937760"/>
            <a:ext cx="5486400" cy="169164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40080" y="5029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real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5349240"/>
            <a:ext cx="5166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£100k cash + Franck + Marc unpaid= ~£230k effective Y1. Brighton/Sussex MVP. Offshore content/social. Automation-first ops. Default-alive at the angel cheque alone.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4937760"/>
            <a:ext cx="5486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8"/>
          <p:cNvSpPr/>
          <p:nvPr/>
        </p:nvSpPr>
        <p:spPr>
          <a:xfrm>
            <a:off x="6400800" y="5029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£100k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0" y="5349240"/>
            <a:ext cx="5166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£8–15m at Y5 = roughly 30–60× on £100k. Or hold for dividends. Or sell into Tier 2 if we earn the seed round. All three are real options.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THE SEQUEL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Ambitious · regional expansion · if we earn the seed round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869680" y="384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v1d · Brighton Anchor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274624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raised cumulative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£100k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+£1.0–2.0m seed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+£2–3m extension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founders + 1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10–15 FTE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20–25 FTE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40–60 FTE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Brighton + Sussex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Manchester / Liverpool flagship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Newcastle, Glasgow, Edinburgh, Cardiff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12 UK cities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on platform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(200 paying)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 (600 paying)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3,500 (1,200 paying)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users (MAU)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4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£500–800k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D6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£2–3m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D6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£8–14m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846320"/>
            <a:ext cx="5486400" cy="1783080"/>
          </a:xfrm>
          <a:prstGeom prst="rect">
            <a:avLst/>
          </a:prstGeom>
          <a:solidFill>
            <a:srgbClr val="2D6B58"/>
          </a:solidFill>
          <a:ln w="12700">
            <a:solidFill>
              <a:srgbClr val="2D6B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40080" y="4937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seed-round trigger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5257800"/>
            <a:ext cx="5166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unlocks only if Tier 1 produces: 30k+ MAU · 500+ agents · £20k+ ARR by month 10. If we don't hit these, we stay at Tier 1 — cash-flow positive, no further dilution required.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484632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400800" y="4937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comparables</a:t>
            </a:r>
            <a:endParaRPr lang="en-US" sz="1200" dirty="0"/>
          </a:p>
        </p:txBody>
      </p:sp>
      <p:sp>
        <p:nvSpPr>
          <p:cNvPr id="6" name="Text 9"/>
          <p:cNvSpPr/>
          <p:nvPr/>
        </p:nvSpPr>
        <p:spPr>
          <a:xfrm>
            <a:off x="6400800" y="5257800"/>
            <a:ext cx="5166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OnTheMarket → CoStar 2023: £99m
Zoopla reportedly tagged £500m by Silver Lake 2025
Return on £100k angel after seed dilution: </a:t>
            </a:r>
            <a:r>
              <a:rPr lang="en-US" sz="1200" b="1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~50–200×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£40–100m exit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NATIONAL CHALLENGER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Very Ambitious · the scope of the prize — not the pitch.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869680" y="384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v1d · Brighton Anchor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SLIDE AS: "what could happen if proper institutional capital eventually wants to play" — not "the round we're asking for today".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11247120" cy="2560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raised cumulative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£100k + £400k pre-seed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£4–6m Series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£15–25m Series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FTE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FTE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FTE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150–250 FTE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on 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8,000+ (4,000 paying)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users (MAU)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12–18m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£100k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4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£1.5m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6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£8–10m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6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£25–45m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(burn)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(burn)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(loss by design)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1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349240"/>
            <a:ext cx="5486400" cy="132588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40080" y="5440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still show this tier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5760720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defines the size of the prize. Even if we never run it, Tier 3's existence explains why a Tier 2 acquirer (CoStar, Houseful, REA) might pay 5–10× revenue — they're buying the option to run Tier 3 themselves.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534924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10"/>
          <p:cNvSpPr/>
          <p:nvPr/>
        </p:nvSpPr>
        <p:spPr>
          <a:xfrm>
            <a:off x="6400800" y="5440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0" y="5760720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CoStar spent ~$3bn on Homes.com to fight Zillow and got to ~$80m ARR. Frontal traffic-buying doesn't unseat the #1. Tier 3 is a credible UK #2 — not a #1 displacement plan.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COMES FROM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streams — none depending on monopoly extraction.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869680" y="384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v1d · Brighton Anchor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783080"/>
          <a:ext cx="5029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760720" y="17830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stream — what we get paid for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60720" y="2148840"/>
            <a:ext cx="91440" cy="548640"/>
          </a:xfrm>
          <a:prstGeom prst="rect">
            <a:avLst/>
          </a:prstGeom>
          <a:solidFill>
            <a:srgbClr val="2D6B5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5943600" y="2148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lead-gen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AI valuation captures intent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£20–500/lead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2788920"/>
            <a:ext cx="91440" cy="548640"/>
          </a:xfrm>
          <a:prstGeom prst="rect">
            <a:avLst/>
          </a:prstGeom>
          <a:solidFill>
            <a:srgbClr val="1A4D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943600" y="2788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subs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7–25% of Rightmove ARPA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4400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£99/£199/£399/branch/mo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760720" y="3429000"/>
            <a:ext cx="91440" cy="548640"/>
          </a:xfrm>
          <a:prstGeom prst="rect">
            <a:avLst/>
          </a:prstGeom>
          <a:solidFill>
            <a:srgbClr val="C9A4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5943600" y="3429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referrals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FCA-AR partner; lender-paid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14400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£100–400/completion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760720" y="4069080"/>
            <a:ext cx="91440" cy="548640"/>
          </a:xfrm>
          <a:prstGeom prst="rect">
            <a:avLst/>
          </a:prstGeom>
          <a:solidFill>
            <a:srgbClr val="7C2D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5943600" y="4069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New-homes advertising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4360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Zoopla runs at 68% of revenue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14400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£500–5,000/dev/mo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760720" y="4709160"/>
            <a:ext cx="91440" cy="548640"/>
          </a:xfrm>
          <a:prstGeom prst="rect">
            <a:avLst/>
          </a:prstGeom>
          <a:solidFill>
            <a:srgbClr val="8B735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5943600" y="4709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API to lenders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43600" y="4983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our AVM is live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144000" y="4754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£20–80k+ pa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760720" y="5349240"/>
            <a:ext cx="91440" cy="548640"/>
          </a:xfrm>
          <a:prstGeom prst="rect">
            <a:avLst/>
          </a:prstGeom>
          <a:solidFill>
            <a:srgbClr val="8B7E6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5943600" y="5349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Conveyancing / affiliate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943600" y="5623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plumbing, scales with traffic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9144000" y="5394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£40–400 + £10–80 CPAs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leads + mortgages + conveyancing scale with transaction volume — not with how much we extract from each agent.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to save agents real money — every tier is a fraction of Rightmove ARPA.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869680" y="384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v1d · Brighton Anchor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6576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657600" cy="548640"/>
          </a:xfrm>
          <a:prstGeom prst="rect">
            <a:avLst/>
          </a:prstGeom>
          <a:solidFill>
            <a:srgbClr val="2D6B58"/>
          </a:solidFill>
          <a:ln w="12700">
            <a:solidFill>
              <a:srgbClr val="2D6B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£99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8580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branch / month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£1,188 / yr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657600"/>
            <a:ext cx="3200400" cy="18288"/>
          </a:xfrm>
          <a:prstGeom prst="rect">
            <a:avLst/>
          </a:prstGeom>
          <a:solidFill>
            <a:srgbClr val="E8E1D0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8580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1-branch / solo independents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2D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Rightmove ARPA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61688" y="1737360"/>
            <a:ext cx="3657600" cy="2926080"/>
          </a:xfrm>
          <a:prstGeom prst="rect">
            <a:avLst/>
          </a:prstGeom>
          <a:solidFill>
            <a:srgbClr val="FFFFFF"/>
          </a:solidFill>
          <a:ln w="38100">
            <a:solidFill>
              <a:srgbClr val="C9A437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361688" y="1737360"/>
            <a:ext cx="3657600" cy="548640"/>
          </a:xfrm>
          <a:prstGeom prst="rect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590288" y="1737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90288" y="2423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£199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590288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branch / month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90288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£2,388 / yr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90288" y="3657600"/>
            <a:ext cx="3200400" cy="18288"/>
          </a:xfrm>
          <a:prstGeom prst="rect">
            <a:avLst/>
          </a:prstGeom>
          <a:solidFill>
            <a:srgbClr val="E8E1D0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590288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branch independents · most sign-ups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90288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9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of Rightmove ARPA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93408" y="1828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most sign-ups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66176" y="1737360"/>
            <a:ext cx="36576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8266176" y="1737360"/>
            <a:ext cx="3657600" cy="548640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8494776" y="1737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94776" y="2423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£399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8494776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branch / month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94776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£4,788 / yr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94776" y="3657600"/>
            <a:ext cx="3200400" cy="18288"/>
          </a:xfrm>
          <a:prstGeom prst="rect">
            <a:avLst/>
          </a:prstGeom>
          <a:solidFill>
            <a:srgbClr val="E8E1D0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8494776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· white-label widget · vendor-lead priority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94776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 of Rightmove ARPA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892040"/>
            <a:ext cx="11247120" cy="178308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85800" y="4983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to a 3-branch independent agency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7240" y="5349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Rightmove (3 branches × £18,300 average)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38160" y="5349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C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~£55,000 / year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7240" y="57332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PRO (3 branches × £2,388)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38160" y="5733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9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~£7,200 / year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77240" y="611733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 per agency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138160" y="61173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9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~£47,800 / year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free baseline tier forever · monthly cancellation · no “one other portal” rule · pay-for-leads at £15–60 per qualified buyer.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Online-first · no dedicated salesperson at Tier 1 · 30–50 agents in Year 1 for &lt;£10k.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869680" y="384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v1d · Brighton Anchor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channels to 30–50 agents — without anyone on a bicycle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01168" cy="201168"/>
          </a:xfrm>
          <a:prstGeom prst="ellipse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investor's peer network → 5–10 agents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introductions through his existing agency relationships in Sussex and the South-East. £0 cost. The fastest closes of the year.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201168" cy="201168"/>
          </a:xfrm>
          <a:prstGeom prst="ellipse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77240" y="30175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Named-advocate endorsements → 5–10 agents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2918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Adams (Cooper Adams) or Sargent (Acorn) says yes to advisory, their peer networks open up. £0 cost, 4–6 week timeline.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201168" cy="201168"/>
          </a:xfrm>
          <a:prstGeom prst="ellipse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77240" y="37947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outreach by Marc → 5–10 agents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069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 DMs founders/owners of Sussex independents directly. 15% of his time covers this — no dedicated salesperson needed. Offshore VA handles admin (£600/mo).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201168" cy="201168"/>
          </a:xfrm>
          <a:prstGeom prst="ellipse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77240" y="45720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+ content (Brighton heritage angle) → 5–10 agents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846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Argus, Property Industry Eye, Estate Agent Today pick up the FindaProperty/FindAllProperty story. Inbound enquiries follow. £0 cost.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5440680"/>
            <a:ext cx="201168" cy="201168"/>
          </a:xfrm>
          <a:prstGeom prst="ellipse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77240" y="5349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Brighton launch event + free-tier self-service → 10–15 agents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56235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Brighton evening event (£2–4k). Plus organic free-tier signups via the website. No human contact required for the long tail.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98080" y="1783080"/>
            <a:ext cx="4206240" cy="457200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680960" y="1874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Tier 1 does NOT need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8096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09244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salesperson on the phone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80960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09244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BDR / outbound calling team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80960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09244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acquisition budget (Google/LinkedIn ads)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80960" y="3840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09244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marketing in London at Tier 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0" y="4343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09244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campaign or out-of-home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80960" y="4846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092440" y="4846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office anywhere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680960" y="5486400"/>
            <a:ext cx="3840480" cy="777240"/>
          </a:xfrm>
          <a:prstGeom prst="rect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7818120" y="5532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passive access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818120" y="57790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platform from day 1 — London agents who sign up via free tier or referral are welcomed. Just no active acquisition spend there at Tier 1.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640080" y="6446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brings a Head of Agent Partnerships + 2–3 reps — needed to sign agents in cities founders cannot drive to. This is the single biggest cost-step between tiers.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ACQUISITION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get buyers and renters onto the site — tier by tier, with honest costs.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869680" y="384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v1d · Brighton Anchor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37160" cy="118872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BRIGHTON &amp; SUSSEX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10–15k MAU by end Y1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£15–28k Y1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214884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SEO · geo-targeted paid search (CPC £0.50–£2) · agent-listing badges · local PR (Argus, PIE) · community / social · mortgage-broker referrals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137160" cy="1188720"/>
          </a:xfrm>
          <a:prstGeom prst="rect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3152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REGIONAL EXPANSION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1.5–3m MAU by Y3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840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£150–300k Y2 · £300–500k Y3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347472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City-specific landing pages × 5 cities · per-city paid search (CPC £2–6) · regional PR campaigns · content marketing team · property-influencer partnerships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137160" cy="1188720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31520" y="4526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NATIONAL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12–18m MAU at Y5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" y="5166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17320" y="5166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£3–8m / year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0" y="48006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/ streaming · out-of-home (Tube, trams) · national PR + influencer · sponsorship (sports / property TV) · national SEO authority-build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5852160"/>
            <a:ext cx="11247120" cy="86868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85800" y="5897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AI-SEO / GEO — Generative Engine Optimisation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6172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AI-citable from day one (schema.org, JSON-LD on every listing, server-rendered HTML). Cost: £0 marginal — it's an architectural decision Franck makes at build, not a recurring spend. By the time 40% of property search runs through ChatGPT / Claude / Perplexity / AI Overviews, we are already in their answers.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JV STRUCTURE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Three-way joint venture: industry insider · technologists · early hires.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869680" y="384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v1d · Brighton Anchor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0" cy="548640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INVESTOR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Chairman / Lead Advisor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697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£100k cheque · domain · industry network · 1 day/week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520440"/>
            <a:ext cx="3200400" cy="18288"/>
          </a:xfrm>
          <a:prstGeom prst="rect">
            <a:avLst/>
          </a:prstGeom>
          <a:solidFill>
            <a:srgbClr val="E8E1D0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8580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840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credibility · first customer · peer network · the FindAllProperty domain · industry requirements · Brighton anchoring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61688" y="1783080"/>
            <a:ext cx="3657600" cy="548640"/>
          </a:xfrm>
          <a:prstGeom prst="rect">
            <a:avLst/>
          </a:prstGeom>
          <a:solidFill>
            <a:srgbClr val="2D6B58"/>
          </a:solidFill>
          <a:ln w="12700">
            <a:solidFill>
              <a:srgbClr val="2D6B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590288" y="1783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90288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Co-founder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61688" y="233172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590288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90288" y="2697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· unpaid Y1 · founder equity (vesting)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90288" y="3520440"/>
            <a:ext cx="3200400" cy="18288"/>
          </a:xfrm>
          <a:prstGeom prst="rect">
            <a:avLst/>
          </a:prstGeom>
          <a:solidFill>
            <a:srgbClr val="E8E1D0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590288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90288" y="3840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engineering · AI integration · product build · accountability for technology delivery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66176" y="1783080"/>
            <a:ext cx="3657600" cy="548640"/>
          </a:xfrm>
          <a:prstGeom prst="rect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8494776" y="1783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94776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Co-founder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66176" y="233172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8494776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94776" y="2697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Finance · unpaid Y1 · founder equity (vesting)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494776" y="3520440"/>
            <a:ext cx="3200400" cy="18288"/>
          </a:xfrm>
          <a:prstGeom prst="rect">
            <a:avLst/>
          </a:prstGeom>
          <a:solidFill>
            <a:srgbClr val="E8E1D0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8494776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94776" y="3840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· investor relations · strategic narrative · transition to full-time once Tier 2 unlocks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983480"/>
            <a:ext cx="11247120" cy="132588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85800" y="5074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additions (when revenue and/or seed permit)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" y="5394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Agent Partnerships (UK) ·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content + social (Philippines / Portugal) · Offshore customer service (AI-augmented) · Fractional General Counsel · Contract designer (UK or offshore) · 1 junior engineer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equity vests 3–4 years · 1-year cliff · deferred-salary IOU optional.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ADVISORY 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named people we approach in the first 90 days.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869680" y="384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v1d · Brighton Anchor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440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09728" cy="2057400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Andrew Pendery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FindaProperty (1997 → sold to Zoopla 2012)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Brighton portal-challenger founder. Symbolic blessing. Lessons from doing this once before in this city. Heritage anchor for press.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3337560"/>
            <a:ext cx="5074920" cy="18288"/>
          </a:xfrm>
          <a:prstGeom prst="rect">
            <a:avLst/>
          </a:prstGeom>
          <a:solidFill>
            <a:srgbClr val="E8E1D0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85800" y="34107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25880" y="34107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credibility · narrative · operational wisdom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5440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109728" cy="2057400"/>
          </a:xfrm>
          <a:prstGeom prst="rect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Shaun Adams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508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Co-founder, Cooper Adams · West Sussex · 15 miles from Brighton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251460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of the “daylight robbery” open letter on Rightmove's 2025 fee hike. Named voice of the agent revolt. First-customer status as a 3-branch independent.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55080" y="3337560"/>
            <a:ext cx="5074920" cy="18288"/>
          </a:xfrm>
          <a:prstGeom prst="rect">
            <a:avLst/>
          </a:prstGeom>
          <a:solidFill>
            <a:srgbClr val="E8E1D0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355080" y="34107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95160" y="34107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Named-advocate credibility · first paying customer · Sussex distribution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5440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109728" cy="2057400"/>
          </a:xfrm>
          <a:prstGeom prst="rect">
            <a:avLst/>
          </a:prstGeom>
          <a:solidFill>
            <a:srgbClr val="2D6B58"/>
          </a:solidFill>
          <a:ln w="12700">
            <a:solidFill>
              <a:srgbClr val="2D6B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8580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 Sargent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CEO, Acorn Group · Kent · founder of “Say No To Rightmove”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470916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 to get the Rightmove foot off the industry's throat.” 1,400+ agencies signed his campaign. The leading public voice of the revolt.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" y="5532120"/>
            <a:ext cx="5074920" cy="18288"/>
          </a:xfrm>
          <a:prstGeom prst="rect">
            <a:avLst/>
          </a:prstGeom>
          <a:solidFill>
            <a:srgbClr val="E8E1D0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85800" y="56052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25880" y="560527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of 1,400+ branches · national press platform · campaign distribution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931920"/>
            <a:ext cx="5440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126480" y="3931920"/>
            <a:ext cx="109728" cy="205740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35508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 McCallion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35508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Rightmove Resistance Tour (May 2025–) · ex-Zoopla COO era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470916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agents on how to delist from Rightmove. Already in the market doing live narrative work. Natural ally for our launch PR moment.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55080" y="5532120"/>
            <a:ext cx="5074920" cy="18288"/>
          </a:xfrm>
          <a:prstGeom prst="rect">
            <a:avLst/>
          </a:prstGeom>
          <a:solidFill>
            <a:srgbClr val="E8E1D0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6355080" y="56052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95160" y="560527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amplification · agent training rails · cross-tour platform access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approach all four in the first 30 days. One "yes" anywhere on this list materially de-risks the launch narrative. Two yeses make the v1 deck redundant.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THE £100K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Twelve months of runway — with founders unpaid alongside.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869680" y="384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v1d · Brighton Anchor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725225554"/>
              </p:ext>
            </p:extLst>
          </p:nvPr>
        </p:nvGraphicFramePr>
        <p:xfrm>
          <a:off x="457200" y="1783080"/>
          <a:ext cx="62179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949440" y="1802877"/>
            <a:ext cx="4754880" cy="457200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132320" y="4041869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implicit capital — founder sweat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0" y="4487639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£0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595360" y="4385057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salaries paid Y1 to founders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0" y="506228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~£120k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595360" y="495034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time deferred at market rates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132320" y="572758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~£230k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595360" y="5612709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Y1 capital deployment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640080" y="6492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 fork: revenue covers founder draws · OR small pre-seed extension £150–300k · OR angel follow-on. Pre-agreed at SAFE signing.</a:t>
            </a:r>
            <a:endParaRPr lang="en-US" sz="110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DD8AF28E-52EE-0F1C-DAA7-CB27704C135C}"/>
              </a:ext>
            </a:extLst>
          </p:cNvPr>
          <p:cNvSpPr/>
          <p:nvPr/>
        </p:nvSpPr>
        <p:spPr>
          <a:xfrm>
            <a:off x="7132320" y="1959031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</a:t>
            </a:r>
            <a:endParaRPr lang="en-US" sz="13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9F7E2152-C4FB-066C-2F32-52B3F1515C00}"/>
              </a:ext>
            </a:extLst>
          </p:cNvPr>
          <p:cNvSpPr/>
          <p:nvPr/>
        </p:nvSpPr>
        <p:spPr>
          <a:xfrm>
            <a:off x="7223760" y="2427373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£6k</a:t>
            </a:r>
            <a:endParaRPr lang="en-US" sz="18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4DBD1A62-0657-D60F-9724-3C0D2181C91A}"/>
              </a:ext>
            </a:extLst>
          </p:cNvPr>
          <p:cNvSpPr/>
          <p:nvPr/>
        </p:nvSpPr>
        <p:spPr>
          <a:xfrm>
            <a:off x="8686800" y="2324791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SEO</a:t>
            </a:r>
            <a:endParaRPr lang="en-US" sz="14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95592941-A7C5-8777-91A2-B128FF02455D}"/>
              </a:ext>
            </a:extLst>
          </p:cNvPr>
          <p:cNvSpPr/>
          <p:nvPr/>
        </p:nvSpPr>
        <p:spPr>
          <a:xfrm>
            <a:off x="7223760" y="2884145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£13k</a:t>
            </a:r>
            <a:endParaRPr lang="en-US" sz="180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5A9F997E-8E28-E350-539C-50BDA94121A7}"/>
              </a:ext>
            </a:extLst>
          </p:cNvPr>
          <p:cNvSpPr/>
          <p:nvPr/>
        </p:nvSpPr>
        <p:spPr>
          <a:xfrm>
            <a:off x="8686800" y="2781563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and local PR</a:t>
            </a:r>
            <a:endParaRPr lang="en-US" sz="14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A1138C1E-F8B1-20B7-A9CD-F21B4F6A4A39}"/>
              </a:ext>
            </a:extLst>
          </p:cNvPr>
          <p:cNvSpPr/>
          <p:nvPr/>
        </p:nvSpPr>
        <p:spPr>
          <a:xfrm>
            <a:off x="7223760" y="3351561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£5k</a:t>
            </a:r>
            <a:endParaRPr lang="en-US" sz="180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C1B16730-0CFF-502C-03DA-72920180910B}"/>
              </a:ext>
            </a:extLst>
          </p:cNvPr>
          <p:cNvSpPr/>
          <p:nvPr/>
        </p:nvSpPr>
        <p:spPr>
          <a:xfrm>
            <a:off x="8686800" y="3248979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for PR moments / launch events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&amp; RETURNS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£100k becomes at each tier — honest comparable-tested ranges.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869680" y="384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v1d · Brighton Anchor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4D3D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40080" y="18928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BACK TO THE FUTURE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£8–15m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exit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£100k angel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30–60×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sale or hold for dividends. Founder-controlled cash machine.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61688" y="1783080"/>
            <a:ext cx="36576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B58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544568" y="18928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D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THE SEQUEL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44568" y="22402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£40–100m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44568" y="3063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exit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44568" y="3383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£100k angel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44568" y="3657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6B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50–200×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44568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sale to CoStar / Houseful / News Corp / European entrant. Compare OnTheMarket £99m.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66176" y="1783080"/>
            <a:ext cx="36576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2D2D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8449056" y="18928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NATIONAL CHALLENGER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49056" y="22402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£200–500m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449056" y="3063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exit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49056" y="3383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£100k angel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49056" y="3657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1,000×*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449056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Scope-of-prize tier. Requires institutional rounds. Compare ZPG IPO £922m, Zoopla rumoured £500m.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617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Tier 3 multiples assume angel retains pro-rata through later rounds. Without pro-rata, expect 100–200×.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983480"/>
            <a:ext cx="11247120" cy="1691640"/>
          </a:xfrm>
          <a:prstGeom prst="rect">
            <a:avLst/>
          </a:prstGeom>
          <a:solidFill>
            <a:srgbClr val="1A4D3D"/>
          </a:solidFill>
          <a:ln w="12700">
            <a:solidFill>
              <a:srgbClr val="1A4D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85800" y="5074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buys us (Tier 2 onwards)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5800" y="5532120"/>
            <a:ext cx="164592" cy="164592"/>
          </a:xfrm>
          <a:prstGeom prst="ellipse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960120" y="5486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CoStar Group (US)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5742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F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OnTheMarket · UK consolidation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34840" y="5532120"/>
            <a:ext cx="164592" cy="164592"/>
          </a:xfrm>
          <a:prstGeom prst="ellipse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709160" y="5486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Houseful / Silver Lake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09160" y="5742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F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Zoopla acquires AI capability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183880" y="5532120"/>
            <a:ext cx="164592" cy="164592"/>
          </a:xfrm>
          <a:prstGeom prst="ellipse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8458200" y="5486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Corp / REA Group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58200" y="5742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F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Jitty · clear UK ambition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5800" y="6126480"/>
            <a:ext cx="164592" cy="164592"/>
          </a:xfrm>
          <a:prstGeom prst="ellipse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960120" y="6080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portal entrant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60120" y="6336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F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 · ImmoScout24 · Idealista UK entry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34840" y="6126480"/>
            <a:ext cx="164592" cy="164592"/>
          </a:xfrm>
          <a:prstGeom prst="ellipse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4709160" y="6080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equity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09160" y="6336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F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CVC, Hg, Vista — software multiples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183880" y="6126480"/>
            <a:ext cx="164592" cy="164592"/>
          </a:xfrm>
          <a:prstGeom prst="ellipse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8458200" y="6080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Rightmove (defensive)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458200" y="6336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F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price to take threat off table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3232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KILLS THIS COMPANY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4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risk register.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869680" y="384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v1d · Brighton Anchor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91440" cy="1051560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892040" y="1874520"/>
            <a:ext cx="914400" cy="274320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89204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traffic never scales beyond niche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AI-search differentiation; SEO discipline; lean ops mean we survive at small scale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91440" cy="1051560"/>
          </a:xfrm>
          <a:prstGeom prst="rect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0561320" y="1874520"/>
            <a:ext cx="914400" cy="274320"/>
          </a:xfrm>
          <a:prstGeom prst="rect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056132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5508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doesn't earn its Tier 2 trigger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219456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stay at Tier 1 — cash-flow positive lifestyle business. Real outcome, not a failure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91440" cy="1051560"/>
          </a:xfrm>
          <a:prstGeom prst="rect">
            <a:avLst/>
          </a:prstGeom>
          <a:solidFill>
            <a:srgbClr val="2D6B58"/>
          </a:solidFill>
          <a:ln w="12700">
            <a:solidFill>
              <a:srgbClr val="2D6B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892040" y="3063240"/>
            <a:ext cx="914400" cy="274320"/>
          </a:xfrm>
          <a:prstGeom prst="rect">
            <a:avLst/>
          </a:prstGeom>
          <a:solidFill>
            <a:srgbClr val="2D6B58"/>
          </a:solidFill>
          <a:ln w="12700">
            <a:solidFill>
              <a:srgbClr val="2D6B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892040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3017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Rightmove sues over scraping or IP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33832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Feed-first architecture; no scraping at scale; clean IP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126480" y="2926080"/>
            <a:ext cx="91440" cy="1051560"/>
          </a:xfrm>
          <a:prstGeom prst="rect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0561320" y="3063240"/>
            <a:ext cx="914400" cy="274320"/>
          </a:xfrm>
          <a:prstGeom prst="rect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0561320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5080" y="3017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certification fails Nov 2026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33832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plan doesn't depend on certification — it's acceleration not requirement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91440" cy="1051560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4892040" y="4251960"/>
            <a:ext cx="914400" cy="274320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89204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80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Franck or Marc cannot sustain unpaid 12 months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" y="45720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founders agree founder vesting + IOU mechanics at SAFE signing. Friends-and-family safety net Y2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411480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6126480" y="4114800"/>
            <a:ext cx="91440" cy="1051560"/>
          </a:xfrm>
          <a:prstGeom prst="rect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10561320" y="4251960"/>
            <a:ext cx="914400" cy="274320"/>
          </a:xfrm>
          <a:prstGeom prst="rect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1056132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5508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quality issues damage UK brand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55080" y="45720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QA on all offshore work; UK Head of Agent Partnerships filters customer-facing output Y2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530352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457200" y="5303520"/>
            <a:ext cx="91440" cy="1051560"/>
          </a:xfrm>
          <a:prstGeom prst="rect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4892040" y="5440680"/>
            <a:ext cx="914400" cy="274320"/>
          </a:xfrm>
          <a:prstGeom prst="rect">
            <a:avLst/>
          </a:prstGeom>
          <a:solidFill>
            <a:srgbClr val="C9A437"/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4892040" y="5440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5800" y="5394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Adams / Sargent / Pendery all decline advisory roles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5800" y="5760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plan stands on its own; advocacy is acceleration not requirement; offshore network outreach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26480" y="530352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6126480" y="5303520"/>
            <a:ext cx="91440" cy="1051560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10561320" y="5440680"/>
            <a:ext cx="914400" cy="274320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10561320" y="5440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55080" y="5394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dispute on equity split / commitment imbalance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355080" y="5760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Vesting cliff + reverse vesting + asymmetric schedules + signed founders' agreement before angel money lands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4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365760"/>
            <a:ext cx="640080" cy="640080"/>
          </a:xfrm>
          <a:prstGeom prst="ellipse">
            <a:avLst/>
          </a:prstGeom>
          <a:solidFill>
            <a:srgbClr val="C9A437">
              <a:alpha val="70000"/>
            </a:srgbClr>
          </a:solidFill>
          <a:ln w="12700">
            <a:solidFill>
              <a:srgbClr val="C9A4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521440" y="594360"/>
            <a:ext cx="320040" cy="320040"/>
          </a:xfrm>
          <a:prstGeom prst="ellipse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C9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143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£100k cornerstone — and your industry network.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SeedLegals SAFE at £0.6–0.8m post-money cap. Founder vesting in place. JV structure formalised.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371600" cy="54864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exchange you get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Chairman seat. Voice in product priorities. First customer status.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£80k/year Rightmove fees become £80k/year saved — recoverable to your P&amp;L from day one.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position as the standard-bearer of the agent revolt around the CAT November 2026 hearing.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30–60× on Tier 1 floor · up to 200× if we earn Tier 2 · scope-of-prize Tier 3 sits on the upside.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Pro-rata rights through any future round so the upside cases remain accessible.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6217920"/>
            <a:ext cx="548640" cy="54864"/>
          </a:xfrm>
          <a:prstGeom prst="rect">
            <a:avLst/>
          </a:prstGeom>
          <a:solidFill>
            <a:srgbClr val="7C2D2D"/>
          </a:solidFill>
          <a:ln w="12700">
            <a:solidFill>
              <a:srgbClr val="7C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7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FindAllProperty.co.uk · v1d · Confidential ·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7C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400">
                <a:solidFill>
                  <a:srgbClr val="7C2D2D"/>
                </a:solidFill>
                <a:latin typeface="Calibri"/>
              </a:rPr>
              <a:t>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 i="0">
                <a:solidFill>
                  <a:srgbClr val="1A4D3D"/>
                </a:solidFill>
                <a:latin typeface="Georgia"/>
              </a:rPr>
              <a:t>What we do — together — once the £100k is committed.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8404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1">
                <a:solidFill>
                  <a:srgbClr val="8B7E68"/>
                </a:solidFill>
                <a:latin typeface="Calibri"/>
              </a:rPr>
              <a:t>FindAllProperty · v1d · Brighton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C9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4D3D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6596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A4D3D"/>
                </a:solidFill>
                <a:latin typeface="Calibri"/>
              </a:rPr>
              <a:t>Companies House + brand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86000"/>
            <a:ext cx="44805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Incorporate FindAllProperty Ltd · transfer FindAllProperty.co.uk domain · secure .com + trademark · founders' agreement signed (equity split + vesting)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783080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09360" y="2011680"/>
            <a:ext cx="457200" cy="457200"/>
          </a:xfrm>
          <a:prstGeom prst="ellipse">
            <a:avLst/>
          </a:prstGeom>
          <a:solidFill>
            <a:srgbClr val="C9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4D3D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96596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A4D3D"/>
                </a:solidFill>
                <a:latin typeface="Calibri"/>
              </a:rPr>
              <a:t>SAFE signed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286000"/>
            <a:ext cx="448056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 dirty="0">
                <a:solidFill>
                  <a:srgbClr val="1F2937"/>
                </a:solidFill>
                <a:latin typeface="Calibri"/>
              </a:rPr>
              <a:t>£100k angel SAFE at £0.5–0.6m post-money cap → ~20% Luke (incl. 3% Chairman vesting) · founder vesting 3–4yr with cliff · Franck / Marc · deferred-salary IOU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39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0080" y="3520439"/>
            <a:ext cx="457200" cy="457200"/>
          </a:xfrm>
          <a:prstGeom prst="ellipse">
            <a:avLst/>
          </a:prstGeom>
          <a:solidFill>
            <a:srgbClr val="C9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52043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4D3D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47472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A4D3D"/>
                </a:solidFill>
                <a:latin typeface="Calibri"/>
              </a:rPr>
              <a:t>Approach the four named advisors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794759"/>
            <a:ext cx="44805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Andrew Pendery (FindaProperty / Brighton heritage) · Shaun Adams (Cooper Adams) · Rob Sargent (Acorn) · Mal McCallion (Resistance Tour) — all in first 30 days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291839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309360" y="3520439"/>
            <a:ext cx="457200" cy="457200"/>
          </a:xfrm>
          <a:prstGeom prst="ellipse">
            <a:avLst/>
          </a:prstGeom>
          <a:solidFill>
            <a:srgbClr val="C9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52043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4D3D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47472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A4D3D"/>
                </a:solidFill>
                <a:latin typeface="Calibri"/>
              </a:rPr>
              <a:t>Brighton + Sussex MVP 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794759"/>
            <a:ext cx="44805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 dirty="0">
                <a:solidFill>
                  <a:srgbClr val="1F2937"/>
                </a:solidFill>
                <a:latin typeface="Calibri"/>
              </a:rPr>
              <a:t>Franck + 1 contractor · 12-week sprint · AI search + 20k listings from anchor agency + 30 friend agencies in Sussex · launch month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800600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C9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029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4D3D"/>
                </a:solidFill>
                <a:latin typeface="Georg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98348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A4D3D"/>
                </a:solidFill>
                <a:latin typeface="Calibri"/>
              </a:rPr>
              <a:t>Fractional GC engaged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303520"/>
            <a:ext cx="44805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GDPR · FCA-AR pathway for mortgage referrals · IP and trademark · £3–5k/month retainer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800600"/>
            <a:ext cx="5440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309360" y="5029200"/>
            <a:ext cx="457200" cy="457200"/>
          </a:xfrm>
          <a:prstGeom prst="ellipse">
            <a:avLst/>
          </a:prstGeom>
          <a:solidFill>
            <a:srgbClr val="C9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5029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1A4D3D"/>
                </a:solidFill>
                <a:latin typeface="Georg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98348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A4D3D"/>
                </a:solidFill>
                <a:latin typeface="Calibri"/>
              </a:rPr>
              <a:t>Tier 1 → Tier 2 trigger agreed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5303520"/>
            <a:ext cx="44805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Document precise KPIs that justify raising the seed round in Year 2 (e.g. 30k MAU + 500 agents + £20k ARR) so the choice is objective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4589</Words>
  <Application>Microsoft Macintosh PowerPoint</Application>
  <PresentationFormat>Widescreen</PresentationFormat>
  <Paragraphs>612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FindAllProperty.co.uk - v1d - Brighton Anchor</dc:title>
  <dc:subject>PptxGenJS Presentation</dc:subject>
  <dc:creator>FindAllProperty.co.uk</dc:creator>
  <cp:lastModifiedBy>Admin (rfb2btenant)</cp:lastModifiedBy>
  <cp:revision>4</cp:revision>
  <dcterms:created xsi:type="dcterms:W3CDTF">2026-05-31T14:41:15Z</dcterms:created>
  <dcterms:modified xsi:type="dcterms:W3CDTF">2026-05-31T17:13:40Z</dcterms:modified>
</cp:coreProperties>
</file>